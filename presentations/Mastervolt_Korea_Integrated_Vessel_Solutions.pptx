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Lst>
  <p:sldSz cx="14630400" cy="82296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회사 PDF 1–2페이지 기반. 표지의 선박은 imagegen 생성 컨셉 이미지이며 실제 납품 실적 사진이 아님. 슬라이드 배경 시각물: imagegen 제작. 기술 텍스트와 숫자는 원문 기준 편집 가능 요소로 유지.</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회사 PDF 2페이지의 3개 핵심 역량. 수치는 회사 자료 기준이며 수행 범위·기준일 별도 확인 필요. 슬라이드 배경 시각물: imagegen 제작. 기술 텍스트와 숫자는 원문 기준 편집 가능 요소로 유지.</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회사 PDF 2페이지 전체 핵심 기능. 군용 버전의 50+ knot, AI, autonomous, silent mission 문구는 회사 자료에 제시된 역량이며 아래 표준선박의 보장 성능이 아님. AI 통합 전기 시스템: Mission Electronics, Mission Awareness, Autonomous Systems. 상태 구분 Critical / Important / Standard / Warning. Rapid Response Mode Control: Day Standby / Day Response / Night Standby / Night Response. 슬라이드 배경 시각물: imagegen 제작. 기술 텍스트와 숫자는 원문 기준 편집 가능 요소로 유지.</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회사 PDF 1페이지. 인물 경력 세부는 발표자 노트에 보존. 한글 성명은 확인되지 않아 원문 영문 표기 사용. CEO: 18+ years special mission vessels, SI, QC/QA; government vessel design and delivery; partnerships and business development. Youngchan Hong: 18+ years shipbuilding PM, class, QC/QA; government vessel lead engineer; global partner technical lead. James Han: 20+ years global naval PM; marine engineering and special mission vessels; naval design collaboration. Jongho Kim: 18+ years marine electrical systems and production; certified electrical/energy systems specialist; naval power integration. Juhwan Kim: 20+ years corporate management; professor finance and marine insurance; strategy, finance, program management. Sangeon Park: software development, PM and testing; operations/business support; SCM and enterprise systems. Michael Park: global operations/project delivery; supply chain/B2B; NZ licensed marine construction PM. John Kecsmar: 30+ years high speed craft/naval programs; UK MCA high speed craft advisory group; CEng, RINA and Lloyds tech committee. Gerhard Kutt: 30+ years maritime power/mission systems; government/defense technical advisory; high speed craft and advanced propulsion. Lee Soonhyung: national electrical/energy authority; chair of national committees; power systems and ESS certification advisory. 슬라이드 배경 시각물: imagegen 제작. 기술 텍스트와 숫자는 원문 기준 편집 가능 요소로 유지.</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KRE 선박 표준화 자료 12페이지. 회사의 수행 실적으로 제시하지 않고 참고 기술 검토안으로 소개. 슬라이드 배경 시각물: imagegen 제작. 기술 텍스트와 숫자는 원문 기준 편집 가능 요소로 유지.</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KRE 자료 12페이지 및 14페이지: 주요제원 전체. 14페이지에서도 같은 값의 유지 원칙을 제시. 슬라이드 배경 시각물: imagegen 제작. 기술 텍스트와 숫자는 원문 기준 편집 가능 요소로 유지.</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KRE 자료 12페이지 전체 추진·성능 표. 전환 후 성능이 아닌 기존 기준. 슬라이드 배경 시각물: imagegen 제작. 기술 텍스트와 숫자는 원문 기준 편집 가능 요소로 유지.</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KRE 자료 13페이지 운항여건 재검토 및 요구성능 재정립. 20–30 kts는 요구성능 도식 기준이며 기존 운항선속 15–25 kts와 구분. 슬라이드 배경 시각물: imagegen 제작. 기술 텍스트와 숫자는 원문 기준 편집 가능 요소로 유지.</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KRE 자료 13페이지 전기추진 시스템 사양 검토 전체 6개 항목. 장비 이미지가 있을 경우 AI 생성 컨셉이며 제품 사양의 증거가 아님. 슬라이드 배경 시각물: imagegen 제작. 기술 텍스트와 숫자는 원문 기준 편집 가능 요소로 유지.</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KRE 자료 13페이지 선종별 현 제원 내 적용성 평가 전체 4개 항목. 슬라이드 배경 시각물: imagegen 제작. 기술 텍스트와 숫자는 원문 기준 편집 가능 요소로 유지.</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KRE 자료 13페이지 전체 선정 흐름. 적용불가 시 주요제원·요구성능 최적화 후 요구성능 재정립에 회귀. 최적화 후에도 불가능하면 하이브리드 검토. 슬라이드 배경 시각물: imagegen 제작. 기술 텍스트와 숫자는 원문 기준 편집 가능 요소로 유지.</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KRE 자료 14페이지. 확정 설계가 아닌 원문 검토안. 주기관 출력·추진기 형식·최대선속·운항선속·항속거리 값은 원문 공란이며 임의 입력하지 않음. 주요제원은 6장 표와 동일하게 최대한 유지. 슬라이드 배경 시각물: imagegen 제작. 기술 텍스트와 숫자는 원문 기준 편집 가능 요소로 유지.</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KRE 자료 14페이지 하단 4개 항목 전체. 참고 기술 검토 범위이며 회사의 계약상 수행 범위 또는 실적을 확정하지 않음. 슬라이드 배경 시각물: imagegen 제작. 기술 텍스트와 숫자는 원문 기준 편집 가능 요소로 유지.</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하이브리드 PDF 13–15페이지. 병렬·직렬·순수 전기·연료전지·LNG 방식. 원문의 대표 구조를 개념적으로 재구성. 슬라이드 배경 시각물: imagegen 제작. 기술 텍스트와 숫자는 원문 기준 편집 가능 요소로 유지.</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하이브리드 PDF 8·16–17페이지. 모드전환 가능 RPM 조건은 해당 HM 시스템 설명이며 모든 시스템에 일반화하지 않음. Dead-ship 방지는 원문의 설계 목표이지 무고장 보장이 아님. 슬라이드 배경 시각물: imagegen 제작. 기술 텍스트와 숫자는 원문 기준 편집 가능 요소로 유지.</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하이브리드 PDF 8페이지 제품군 설명. 엔진 최대 1190kW, 하이브리드 유닛 최대 100kW, 4헤드 전기출력 400kW는 제품군 수준 설명이며 표준선박 적용 용량이 아님. SAE 결합은 모델별 적합성 확인 필요. 슬라이드 배경 시각물: imagegen 제작. 기술 텍스트와 숫자는 원문 기준 편집 가능 요소로 유지.</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하이브리드 PDF 6–10·18·28페이지. 구성품 표의 258kWh 배터리 및 75kW 모터는 참고 구성 예시이며 표준선박 확정 사양 아님. 배터리 차저 11kWh 표기는 전력/에너지 단위 확인 필요. 배터리 냉각·디젤발전기 용량·중량 공란은 미확정. 슬라이드 배경 시각물: imagegen 제작. 기술 텍스트와 숫자는 원문 기준 편집 가능 요소로 유지.</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하이브리드 PDF 24–25페이지 사례별 표기. 회사 자료 기준. 고객명 변경이나 선박 자체 건조 실적 주장 없이 시스템 사례로 제시. 자료상의 전기선속은 해당 사례에 한정. 슬라이드 배경 시각물: imagegen 제작. 기술 텍스트와 숫자는 원문 기준 편집 가능 요소로 유지.</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하이브리드 PDF 5·11·27–28페이지. ISO9001:2015 DNV, INNOBIZ, 특허 및 기자재 형식승인은 원문 제시 사항이며 현행 유효 범위 별도 확인. 정기검사비 약1000만원 대 약300만원, 1/3 수준은 비교범위·시점 불명확하여 보장 비용으로 본문에 사용하지 않음. 슬라이드 배경 시각물: imagegen 제작. 기술 텍스트와 숫자는 원문 기준 편집 가능 요소로 유지.</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 Id="rId3"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 Id="rId3" Type="http://schemas.openxmlformats.org/officeDocument/2006/relationships/image" Target="../media/image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 Id="rId3" Type="http://schemas.openxmlformats.org/officeDocument/2006/relationships/image" Target="../media/image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 Id="rId3" Type="http://schemas.openxmlformats.org/officeDocument/2006/relationships/image" Target="../media/image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 Id="rId3" Type="http://schemas.openxmlformats.org/officeDocument/2006/relationships/image" Target="../media/image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 Id="rId3" Type="http://schemas.openxmlformats.org/officeDocument/2006/relationships/image" Target="../media/image3.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 Id="rId3" Type="http://schemas.openxmlformats.org/officeDocument/2006/relationships/image" Target="../media/image2.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 Id="rId3" Type="http://schemas.openxmlformats.org/officeDocument/2006/relationships/image" Target="../media/image2.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 Id="rId3" Type="http://schemas.openxmlformats.org/officeDocument/2006/relationships/image" Target="../media/image2.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A1420"/>
        </a:solidFill>
        <a:effectLst/>
      </p:bgPr>
    </p:bg>
    <p:spTree>
      <p:nvGrpSpPr>
        <p:cNvPr id="1" name=""/>
        <p:cNvGrpSpPr/>
        <p:nvPr/>
      </p:nvGrpSpPr>
      <p:grpSpPr/>
      <p:pic>
        <p:nvPicPr>
          <p:cNvPr id="9" name="Picture 8" descr="exec-427941c9-3bd3-4207-a99b-c20ace016fa5.png"/>
          <p:cNvPicPr>
            <a:picLocks noChangeAspect="1"/>
          </p:cNvPicPr>
          <p:nvPr/>
        </p:nvPicPr>
        <p:blipFill>
          <a:blip r:embed="rId3"/>
          <a:stretch>
            <a:fillRect/>
          </a:stretch>
        </p:blipFill>
        <p:spPr>
          <a:xfrm>
            <a:off x="0" y="0"/>
            <a:ext cx="14630400" cy="8229600"/>
          </a:xfrm>
          <a:prstGeom prst="rect">
            <a:avLst/>
          </a:prstGeom>
        </p:spPr>
      </p:pic>
      <p:sp>
        <p:nvSpPr>
          <p:cNvPr id="2" name="TextBox 1"/>
          <p:cNvSpPr txBox="1"/>
          <p:nvPr/>
        </p:nvSpPr>
        <p:spPr>
          <a:xfrm>
            <a:off x="731520" y="411480"/>
            <a:ext cx="12801600" cy="274320"/>
          </a:xfrm>
          <a:prstGeom prst="rect">
            <a:avLst/>
          </a:prstGeom>
          <a:noFill/>
        </p:spPr>
        <p:txBody>
          <a:bodyPr wrap="square" lIns="0" rIns="0" tIns="0" bIns="0">
            <a:spAutoFit/>
          </a:bodyPr>
          <a:lstStyle/>
          <a:p>
            <a:pPr>
              <a:spcAft>
                <a:spcPts val="1000"/>
              </a:spcAft>
              <a:defRPr sz="1100" b="0">
                <a:solidFill>
                  <a:srgbClr val="48D4DE"/>
                </a:solidFill>
                <a:latin typeface="Noto Sans CJK KR"/>
              </a:defRPr>
            </a:pPr>
            <a:r>
              <a:t>INTEGRATED VESSEL SOLUTIONS</a:t>
            </a:r>
          </a:p>
        </p:txBody>
      </p:sp>
      <p:sp>
        <p:nvSpPr>
          <p:cNvPr id="3" name="TextBox 2"/>
          <p:cNvSpPr txBox="1"/>
          <p:nvPr/>
        </p:nvSpPr>
        <p:spPr>
          <a:xfrm>
            <a:off x="731520" y="960120"/>
            <a:ext cx="13167360" cy="1097280"/>
          </a:xfrm>
          <a:prstGeom prst="rect">
            <a:avLst/>
          </a:prstGeom>
          <a:noFill/>
        </p:spPr>
        <p:txBody>
          <a:bodyPr wrap="square" lIns="0" rIns="0" tIns="0" bIns="0">
            <a:spAutoFit/>
          </a:bodyPr>
          <a:lstStyle/>
          <a:p>
            <a:pPr>
              <a:spcAft>
                <a:spcPts val="1000"/>
              </a:spcAft>
              <a:defRPr sz="3400" b="1">
                <a:solidFill>
                  <a:srgbClr val="EFF4F8"/>
                </a:solidFill>
                <a:latin typeface="Noto Sans CJK KR"/>
              </a:defRPr>
            </a:pPr>
            <a:r>
              <a:t>MASTERVOLT</a:t>
            </a:r>
          </a:p>
          <a:p>
            <a:pPr>
              <a:spcAft>
                <a:spcPts val="1000"/>
              </a:spcAft>
              <a:defRPr sz="3400" b="1">
                <a:solidFill>
                  <a:srgbClr val="EFF4F8"/>
                </a:solidFill>
                <a:latin typeface="Noto Sans CJK KR"/>
              </a:defRPr>
            </a:pPr>
            <a:r>
              <a:t>KOREA</a:t>
            </a:r>
          </a:p>
        </p:txBody>
      </p:sp>
      <p:sp>
        <p:nvSpPr>
          <p:cNvPr id="4" name="Rectangle 3"/>
          <p:cNvSpPr/>
          <p:nvPr/>
        </p:nvSpPr>
        <p:spPr>
          <a:xfrm>
            <a:off x="731520" y="7635240"/>
            <a:ext cx="13167360" cy="10972"/>
          </a:xfrm>
          <a:prstGeom prst="rect">
            <a:avLst/>
          </a:prstGeom>
          <a:solidFill>
            <a:srgbClr val="2940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7790688"/>
            <a:ext cx="6400800" cy="182880"/>
          </a:xfrm>
          <a:prstGeom prst="rect">
            <a:avLst/>
          </a:prstGeom>
          <a:noFill/>
        </p:spPr>
        <p:txBody>
          <a:bodyPr wrap="square" lIns="0" rIns="0" tIns="0" bIns="0">
            <a:spAutoFit/>
          </a:bodyPr>
          <a:lstStyle/>
          <a:p>
            <a:pPr>
              <a:spcAft>
                <a:spcPts val="1000"/>
              </a:spcAft>
              <a:defRPr sz="900" b="0">
                <a:solidFill>
                  <a:srgbClr val="8FA5B8"/>
                </a:solidFill>
                <a:latin typeface="Noto Sans CJK KR"/>
              </a:defRPr>
            </a:pPr>
            <a:r>
              <a:t>MASTERVOLT KOREA  /  INTEGRATED VESSEL SOLUTIONS</a:t>
            </a:r>
          </a:p>
        </p:txBody>
      </p:sp>
      <p:sp>
        <p:nvSpPr>
          <p:cNvPr id="6" name="TextBox 5"/>
          <p:cNvSpPr txBox="1"/>
          <p:nvPr/>
        </p:nvSpPr>
        <p:spPr>
          <a:xfrm>
            <a:off x="13167360" y="7754112"/>
            <a:ext cx="731520" cy="274320"/>
          </a:xfrm>
          <a:prstGeom prst="rect">
            <a:avLst/>
          </a:prstGeom>
          <a:noFill/>
        </p:spPr>
        <p:txBody>
          <a:bodyPr wrap="square" lIns="0" rIns="0" tIns="0" bIns="0">
            <a:spAutoFit/>
          </a:bodyPr>
          <a:lstStyle/>
          <a:p>
            <a:pPr>
              <a:spcAft>
                <a:spcPts val="1000"/>
              </a:spcAft>
              <a:defRPr sz="1100" b="0">
                <a:solidFill>
                  <a:srgbClr val="8FA5B8"/>
                </a:solidFill>
                <a:latin typeface="Noto Sans CJK KR"/>
              </a:defRPr>
            </a:pPr>
            <a:r>
              <a:t>01</a:t>
            </a:r>
          </a:p>
        </p:txBody>
      </p:sp>
      <p:sp>
        <p:nvSpPr>
          <p:cNvPr id="7" name="TextBox 6"/>
          <p:cNvSpPr txBox="1"/>
          <p:nvPr/>
        </p:nvSpPr>
        <p:spPr>
          <a:xfrm>
            <a:off x="731520" y="4023360"/>
            <a:ext cx="9144000" cy="914400"/>
          </a:xfrm>
          <a:prstGeom prst="rect">
            <a:avLst/>
          </a:prstGeom>
          <a:noFill/>
        </p:spPr>
        <p:txBody>
          <a:bodyPr wrap="square" lIns="0" rIns="0" tIns="0" bIns="0">
            <a:spAutoFit/>
          </a:bodyPr>
          <a:lstStyle/>
          <a:p>
            <a:pPr>
              <a:spcAft>
                <a:spcPts val="1000"/>
              </a:spcAft>
              <a:defRPr sz="2700" b="1">
                <a:solidFill>
                  <a:srgbClr val="48D4DE"/>
                </a:solidFill>
                <a:latin typeface="Noto Sans CJK KR"/>
              </a:defRPr>
            </a:pPr>
            <a:r>
              <a:t>선박 추진·전력 시스템 통합 엔지니어링</a:t>
            </a:r>
          </a:p>
        </p:txBody>
      </p:sp>
      <p:sp>
        <p:nvSpPr>
          <p:cNvPr id="8" name="TextBox 7"/>
          <p:cNvSpPr txBox="1"/>
          <p:nvPr/>
        </p:nvSpPr>
        <p:spPr>
          <a:xfrm>
            <a:off x="731520" y="5303520"/>
            <a:ext cx="8229600" cy="548640"/>
          </a:xfrm>
          <a:prstGeom prst="rect">
            <a:avLst/>
          </a:prstGeom>
          <a:noFill/>
        </p:spPr>
        <p:txBody>
          <a:bodyPr wrap="square" lIns="0" rIns="0" tIns="0" bIns="0">
            <a:spAutoFit/>
          </a:bodyPr>
          <a:lstStyle/>
          <a:p>
            <a:pPr>
              <a:spcAft>
                <a:spcPts val="1000"/>
              </a:spcAft>
              <a:defRPr sz="1900" b="0">
                <a:solidFill>
                  <a:srgbClr val="8FA5B8"/>
                </a:solidFill>
                <a:latin typeface="Noto Sans CJK KR"/>
              </a:defRPr>
            </a:pPr>
            <a:r>
              <a:t>DESIGN  /  ANALYSIS  /  INTEGRATION</a:t>
            </a:r>
          </a:p>
        </p:txBody>
      </p:sp>
      <p:sp>
        <p:nvSpPr>
          <p:cNvPr id="10" name="TextBox 9"/>
          <p:cNvSpPr txBox="1"/>
          <p:nvPr/>
        </p:nvSpPr>
        <p:spPr>
          <a:xfrm>
            <a:off x="10149840" y="7342631"/>
            <a:ext cx="3657600" cy="228600"/>
          </a:xfrm>
          <a:prstGeom prst="rect">
            <a:avLst/>
          </a:prstGeom>
          <a:noFill/>
        </p:spPr>
        <p:txBody>
          <a:bodyPr wrap="square" lIns="0" rIns="0" tIns="0" bIns="0">
            <a:spAutoFit/>
          </a:bodyPr>
          <a:lstStyle/>
          <a:p>
            <a:pPr>
              <a:spcAft>
                <a:spcPts val="1000"/>
              </a:spcAft>
              <a:defRPr sz="900" b="0">
                <a:solidFill>
                  <a:srgbClr val="8FA5B8"/>
                </a:solidFill>
                <a:latin typeface="Noto Sans CJK KR"/>
              </a:defRPr>
            </a:pPr>
            <a:r>
              <a:t>AI-GENERATED CONCEPT VISUAL</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A1420"/>
        </a:solidFill>
        <a:effectLst/>
      </p:bgPr>
    </p:bg>
    <p:spTree>
      <p:nvGrpSpPr>
        <p:cNvPr id="1" name=""/>
        <p:cNvGrpSpPr/>
        <p:nvPr/>
      </p:nvGrpSpPr>
      <p:grpSpPr/>
      <p:pic>
        <p:nvPicPr>
          <p:cNvPr id="18" name="Picture 17" descr="exec-f3ed2d79-5757-4445-a055-ec161376c4e6.png"/>
          <p:cNvPicPr>
            <a:picLocks noChangeAspect="1"/>
          </p:cNvPicPr>
          <p:nvPr/>
        </p:nvPicPr>
        <p:blipFill>
          <a:blip r:embed="rId3"/>
          <a:stretch>
            <a:fillRect/>
          </a:stretch>
        </p:blipFill>
        <p:spPr>
          <a:xfrm>
            <a:off x="0" y="0"/>
            <a:ext cx="14630400" cy="8229600"/>
          </a:xfrm>
          <a:prstGeom prst="rect">
            <a:avLst/>
          </a:prstGeom>
        </p:spPr>
      </p:pic>
      <p:sp>
        <p:nvSpPr>
          <p:cNvPr id="2" name="TextBox 1"/>
          <p:cNvSpPr txBox="1"/>
          <p:nvPr/>
        </p:nvSpPr>
        <p:spPr>
          <a:xfrm>
            <a:off x="731520" y="411480"/>
            <a:ext cx="12801600" cy="274320"/>
          </a:xfrm>
          <a:prstGeom prst="rect">
            <a:avLst/>
          </a:prstGeom>
          <a:noFill/>
        </p:spPr>
        <p:txBody>
          <a:bodyPr wrap="square" lIns="0" rIns="0" tIns="0" bIns="0">
            <a:spAutoFit/>
          </a:bodyPr>
          <a:lstStyle/>
          <a:p>
            <a:pPr>
              <a:spcAft>
                <a:spcPts val="1000"/>
              </a:spcAft>
              <a:defRPr sz="1100" b="0">
                <a:solidFill>
                  <a:srgbClr val="48D4DE"/>
                </a:solidFill>
                <a:latin typeface="Noto Sans CJK KR"/>
              </a:defRPr>
            </a:pPr>
            <a:r>
              <a:t>COMPANY / CORE CAPABILITIES</a:t>
            </a:r>
          </a:p>
        </p:txBody>
      </p:sp>
      <p:sp>
        <p:nvSpPr>
          <p:cNvPr id="3" name="TextBox 2"/>
          <p:cNvSpPr txBox="1"/>
          <p:nvPr/>
        </p:nvSpPr>
        <p:spPr>
          <a:xfrm>
            <a:off x="731520" y="960120"/>
            <a:ext cx="13167360" cy="1097280"/>
          </a:xfrm>
          <a:prstGeom prst="rect">
            <a:avLst/>
          </a:prstGeom>
          <a:noFill/>
        </p:spPr>
        <p:txBody>
          <a:bodyPr wrap="square" lIns="0" rIns="0" tIns="0" bIns="0">
            <a:spAutoFit/>
          </a:bodyPr>
          <a:lstStyle/>
          <a:p>
            <a:pPr>
              <a:spcAft>
                <a:spcPts val="1000"/>
              </a:spcAft>
              <a:defRPr sz="3400" b="1">
                <a:solidFill>
                  <a:srgbClr val="EFF4F8"/>
                </a:solidFill>
                <a:latin typeface="Noto Sans CJK KR"/>
              </a:defRPr>
            </a:pPr>
            <a:r>
              <a:t>추진·전력·플랫폼을 하나의 시스템으로</a:t>
            </a:r>
          </a:p>
        </p:txBody>
      </p:sp>
      <p:sp>
        <p:nvSpPr>
          <p:cNvPr id="4" name="Rectangle 3"/>
          <p:cNvSpPr/>
          <p:nvPr/>
        </p:nvSpPr>
        <p:spPr>
          <a:xfrm>
            <a:off x="731520" y="7635240"/>
            <a:ext cx="13167360" cy="10972"/>
          </a:xfrm>
          <a:prstGeom prst="rect">
            <a:avLst/>
          </a:prstGeom>
          <a:solidFill>
            <a:srgbClr val="2940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7790688"/>
            <a:ext cx="6400800" cy="182880"/>
          </a:xfrm>
          <a:prstGeom prst="rect">
            <a:avLst/>
          </a:prstGeom>
          <a:noFill/>
        </p:spPr>
        <p:txBody>
          <a:bodyPr wrap="square" lIns="0" rIns="0" tIns="0" bIns="0">
            <a:spAutoFit/>
          </a:bodyPr>
          <a:lstStyle/>
          <a:p>
            <a:pPr>
              <a:spcAft>
                <a:spcPts val="1000"/>
              </a:spcAft>
              <a:defRPr sz="900" b="0">
                <a:solidFill>
                  <a:srgbClr val="8FA5B8"/>
                </a:solidFill>
                <a:latin typeface="Noto Sans CJK KR"/>
              </a:defRPr>
            </a:pPr>
            <a:r>
              <a:t>MASTERVOLT KOREA  /  INTEGRATED VESSEL SOLUTIONS</a:t>
            </a:r>
          </a:p>
        </p:txBody>
      </p:sp>
      <p:sp>
        <p:nvSpPr>
          <p:cNvPr id="6" name="TextBox 5"/>
          <p:cNvSpPr txBox="1"/>
          <p:nvPr/>
        </p:nvSpPr>
        <p:spPr>
          <a:xfrm>
            <a:off x="13167360" y="7754112"/>
            <a:ext cx="731520" cy="274320"/>
          </a:xfrm>
          <a:prstGeom prst="rect">
            <a:avLst/>
          </a:prstGeom>
          <a:noFill/>
        </p:spPr>
        <p:txBody>
          <a:bodyPr wrap="square" lIns="0" rIns="0" tIns="0" bIns="0">
            <a:spAutoFit/>
          </a:bodyPr>
          <a:lstStyle/>
          <a:p>
            <a:pPr>
              <a:spcAft>
                <a:spcPts val="1000"/>
              </a:spcAft>
              <a:defRPr sz="1100" b="0">
                <a:solidFill>
                  <a:srgbClr val="8FA5B8"/>
                </a:solidFill>
                <a:latin typeface="Noto Sans CJK KR"/>
              </a:defRPr>
            </a:pPr>
            <a:r>
              <a:t>02</a:t>
            </a:r>
          </a:p>
        </p:txBody>
      </p:sp>
      <p:sp>
        <p:nvSpPr>
          <p:cNvPr id="7" name="TextBox 6"/>
          <p:cNvSpPr txBox="1"/>
          <p:nvPr/>
        </p:nvSpPr>
        <p:spPr>
          <a:xfrm>
            <a:off x="731520" y="2560320"/>
            <a:ext cx="4160520" cy="640080"/>
          </a:xfrm>
          <a:prstGeom prst="rect">
            <a:avLst/>
          </a:prstGeom>
          <a:noFill/>
        </p:spPr>
        <p:txBody>
          <a:bodyPr wrap="square" lIns="0" rIns="0" tIns="0" bIns="0">
            <a:spAutoFit/>
          </a:bodyPr>
          <a:lstStyle/>
          <a:p>
            <a:pPr>
              <a:spcAft>
                <a:spcPts val="1000"/>
              </a:spcAft>
              <a:defRPr sz="1900" b="1">
                <a:solidFill>
                  <a:srgbClr val="48D4DE"/>
                </a:solidFill>
                <a:latin typeface="Noto Sans CJK KR"/>
              </a:defRPr>
            </a:pPr>
            <a:r>
              <a:t>HYBRID / ELECTRIC</a:t>
            </a:r>
          </a:p>
        </p:txBody>
      </p:sp>
      <p:sp>
        <p:nvSpPr>
          <p:cNvPr id="8" name="TextBox 7"/>
          <p:cNvSpPr txBox="1"/>
          <p:nvPr/>
        </p:nvSpPr>
        <p:spPr>
          <a:xfrm>
            <a:off x="731520" y="3337560"/>
            <a:ext cx="4160520" cy="1371600"/>
          </a:xfrm>
          <a:prstGeom prst="rect">
            <a:avLst/>
          </a:prstGeom>
          <a:noFill/>
        </p:spPr>
        <p:txBody>
          <a:bodyPr wrap="square" lIns="0" rIns="0" tIns="0" bIns="0">
            <a:spAutoFit/>
          </a:bodyPr>
          <a:lstStyle/>
          <a:p>
            <a:pPr>
              <a:spcAft>
                <a:spcPts val="1000"/>
              </a:spcAft>
              <a:defRPr sz="2300" b="0">
                <a:solidFill>
                  <a:srgbClr val="EFF4F8"/>
                </a:solidFill>
                <a:latin typeface="Noto Sans CJK KR"/>
              </a:defRPr>
            </a:pPr>
            <a:r>
              <a:t>전기·하이브리드 추진</a:t>
            </a:r>
          </a:p>
          <a:p>
            <a:pPr>
              <a:spcAft>
                <a:spcPts val="1000"/>
              </a:spcAft>
              <a:defRPr sz="2300" b="0">
                <a:solidFill>
                  <a:srgbClr val="EFF4F8"/>
                </a:solidFill>
                <a:latin typeface="Noto Sans CJK KR"/>
              </a:defRPr>
            </a:pPr>
            <a:r>
              <a:t>설계 · 해석 · 통합</a:t>
            </a:r>
          </a:p>
        </p:txBody>
      </p:sp>
      <p:sp>
        <p:nvSpPr>
          <p:cNvPr id="9" name="TextBox 8"/>
          <p:cNvSpPr txBox="1"/>
          <p:nvPr/>
        </p:nvSpPr>
        <p:spPr>
          <a:xfrm>
            <a:off x="5212080" y="2560320"/>
            <a:ext cx="4160520" cy="640080"/>
          </a:xfrm>
          <a:prstGeom prst="rect">
            <a:avLst/>
          </a:prstGeom>
          <a:noFill/>
        </p:spPr>
        <p:txBody>
          <a:bodyPr wrap="square" lIns="0" rIns="0" tIns="0" bIns="0">
            <a:spAutoFit/>
          </a:bodyPr>
          <a:lstStyle/>
          <a:p>
            <a:pPr>
              <a:spcAft>
                <a:spcPts val="1000"/>
              </a:spcAft>
              <a:defRPr sz="1900" b="1">
                <a:solidFill>
                  <a:srgbClr val="48D4DE"/>
                </a:solidFill>
                <a:latin typeface="Noto Sans CJK KR"/>
              </a:defRPr>
            </a:pPr>
            <a:r>
              <a:t>ELECTRICAL / IPMS</a:t>
            </a:r>
          </a:p>
        </p:txBody>
      </p:sp>
      <p:sp>
        <p:nvSpPr>
          <p:cNvPr id="10" name="TextBox 9"/>
          <p:cNvSpPr txBox="1"/>
          <p:nvPr/>
        </p:nvSpPr>
        <p:spPr>
          <a:xfrm>
            <a:off x="5212080" y="3337560"/>
            <a:ext cx="4160520" cy="1371600"/>
          </a:xfrm>
          <a:prstGeom prst="rect">
            <a:avLst/>
          </a:prstGeom>
          <a:noFill/>
        </p:spPr>
        <p:txBody>
          <a:bodyPr wrap="square" lIns="0" rIns="0" tIns="0" bIns="0">
            <a:spAutoFit/>
          </a:bodyPr>
          <a:lstStyle/>
          <a:p>
            <a:pPr>
              <a:spcAft>
                <a:spcPts val="1000"/>
              </a:spcAft>
              <a:defRPr sz="2300" b="0">
                <a:solidFill>
                  <a:srgbClr val="EFF4F8"/>
                </a:solidFill>
                <a:latin typeface="Noto Sans CJK KR"/>
              </a:defRPr>
            </a:pPr>
            <a:r>
              <a:t>전력관리 · 디지털 전기 시스템</a:t>
            </a:r>
          </a:p>
          <a:p>
            <a:pPr>
              <a:spcAft>
                <a:spcPts val="1000"/>
              </a:spcAft>
              <a:defRPr sz="2300" b="0">
                <a:solidFill>
                  <a:srgbClr val="EFF4F8"/>
                </a:solidFill>
                <a:latin typeface="Noto Sans CJK KR"/>
              </a:defRPr>
            </a:pPr>
            <a:r>
              <a:t>통합 플랫폼 관리</a:t>
            </a:r>
          </a:p>
        </p:txBody>
      </p:sp>
      <p:sp>
        <p:nvSpPr>
          <p:cNvPr id="11" name="TextBox 10"/>
          <p:cNvSpPr txBox="1"/>
          <p:nvPr/>
        </p:nvSpPr>
        <p:spPr>
          <a:xfrm>
            <a:off x="9692640" y="2560320"/>
            <a:ext cx="4160520" cy="640080"/>
          </a:xfrm>
          <a:prstGeom prst="rect">
            <a:avLst/>
          </a:prstGeom>
          <a:noFill/>
        </p:spPr>
        <p:txBody>
          <a:bodyPr wrap="square" lIns="0" rIns="0" tIns="0" bIns="0">
            <a:spAutoFit/>
          </a:bodyPr>
          <a:lstStyle/>
          <a:p>
            <a:pPr>
              <a:spcAft>
                <a:spcPts val="1000"/>
              </a:spcAft>
              <a:defRPr sz="1900" b="1">
                <a:solidFill>
                  <a:srgbClr val="48D4DE"/>
                </a:solidFill>
                <a:latin typeface="Noto Sans CJK KR"/>
              </a:defRPr>
            </a:pPr>
            <a:r>
              <a:t>MISSION SYSTEMS</a:t>
            </a:r>
          </a:p>
        </p:txBody>
      </p:sp>
      <p:sp>
        <p:nvSpPr>
          <p:cNvPr id="12" name="TextBox 11"/>
          <p:cNvSpPr txBox="1"/>
          <p:nvPr/>
        </p:nvSpPr>
        <p:spPr>
          <a:xfrm>
            <a:off x="9692640" y="3337560"/>
            <a:ext cx="4160520" cy="1371600"/>
          </a:xfrm>
          <a:prstGeom prst="rect">
            <a:avLst/>
          </a:prstGeom>
          <a:noFill/>
        </p:spPr>
        <p:txBody>
          <a:bodyPr wrap="square" lIns="0" rIns="0" tIns="0" bIns="0">
            <a:spAutoFit/>
          </a:bodyPr>
          <a:lstStyle/>
          <a:p>
            <a:pPr>
              <a:spcAft>
                <a:spcPts val="1000"/>
              </a:spcAft>
              <a:defRPr sz="2300" b="0">
                <a:solidFill>
                  <a:srgbClr val="EFF4F8"/>
                </a:solidFill>
                <a:latin typeface="Noto Sans CJK KR"/>
              </a:defRPr>
            </a:pPr>
            <a:r>
              <a:t>고속 선박 · 임무 시스템</a:t>
            </a:r>
          </a:p>
          <a:p>
            <a:pPr>
              <a:spcAft>
                <a:spcPts val="1000"/>
              </a:spcAft>
              <a:defRPr sz="2300" b="0">
                <a:solidFill>
                  <a:srgbClr val="EFF4F8"/>
                </a:solidFill>
                <a:latin typeface="Noto Sans CJK KR"/>
              </a:defRPr>
            </a:pPr>
            <a:r>
              <a:t>모듈형 페이로드 통합</a:t>
            </a:r>
          </a:p>
        </p:txBody>
      </p:sp>
      <p:sp>
        <p:nvSpPr>
          <p:cNvPr id="13" name="TextBox 12"/>
          <p:cNvSpPr txBox="1"/>
          <p:nvPr/>
        </p:nvSpPr>
        <p:spPr>
          <a:xfrm>
            <a:off x="731520" y="5394960"/>
            <a:ext cx="5486400" cy="914400"/>
          </a:xfrm>
          <a:prstGeom prst="rect">
            <a:avLst/>
          </a:prstGeom>
          <a:noFill/>
        </p:spPr>
        <p:txBody>
          <a:bodyPr wrap="square" lIns="0" rIns="0" tIns="0" bIns="0">
            <a:spAutoFit/>
          </a:bodyPr>
          <a:lstStyle/>
          <a:p>
            <a:pPr>
              <a:spcAft>
                <a:spcPts val="1000"/>
              </a:spcAft>
              <a:defRPr sz="4300" b="1">
                <a:solidFill>
                  <a:srgbClr val="48D4DE"/>
                </a:solidFill>
                <a:latin typeface="Noto Sans CJK KR"/>
              </a:defRPr>
            </a:pPr>
            <a:r>
              <a:t>2016.10.01</a:t>
            </a:r>
          </a:p>
        </p:txBody>
      </p:sp>
      <p:sp>
        <p:nvSpPr>
          <p:cNvPr id="14" name="TextBox 13"/>
          <p:cNvSpPr txBox="1"/>
          <p:nvPr/>
        </p:nvSpPr>
        <p:spPr>
          <a:xfrm>
            <a:off x="777240" y="6400800"/>
            <a:ext cx="6400800" cy="457200"/>
          </a:xfrm>
          <a:prstGeom prst="rect">
            <a:avLst/>
          </a:prstGeom>
          <a:noFill/>
        </p:spPr>
        <p:txBody>
          <a:bodyPr wrap="square" lIns="0" rIns="0" tIns="0" bIns="0">
            <a:spAutoFit/>
          </a:bodyPr>
          <a:lstStyle/>
          <a:p>
            <a:pPr>
              <a:spcAft>
                <a:spcPts val="1000"/>
              </a:spcAft>
              <a:defRPr sz="1700" b="0">
                <a:solidFill>
                  <a:srgbClr val="8FA5B8"/>
                </a:solidFill>
                <a:latin typeface="Noto Sans CJK KR"/>
              </a:defRPr>
            </a:pPr>
            <a:r>
              <a:t>법인 설립 / 대표이사 김승옥 (Pierce Kim)</a:t>
            </a:r>
          </a:p>
        </p:txBody>
      </p:sp>
      <p:sp>
        <p:nvSpPr>
          <p:cNvPr id="15" name="TextBox 14"/>
          <p:cNvSpPr txBox="1"/>
          <p:nvPr/>
        </p:nvSpPr>
        <p:spPr>
          <a:xfrm>
            <a:off x="7315200" y="5394960"/>
            <a:ext cx="5486400" cy="914400"/>
          </a:xfrm>
          <a:prstGeom prst="rect">
            <a:avLst/>
          </a:prstGeom>
          <a:noFill/>
        </p:spPr>
        <p:txBody>
          <a:bodyPr wrap="square" lIns="0" rIns="0" tIns="0" bIns="0">
            <a:spAutoFit/>
          </a:bodyPr>
          <a:lstStyle/>
          <a:p>
            <a:pPr>
              <a:spcAft>
                <a:spcPts val="1000"/>
              </a:spcAft>
              <a:defRPr sz="4300" b="1">
                <a:solidFill>
                  <a:srgbClr val="48D4DE"/>
                </a:solidFill>
                <a:latin typeface="Noto Sans CJK KR"/>
              </a:defRPr>
            </a:pPr>
            <a:r>
              <a:t>영암 · 부산</a:t>
            </a:r>
          </a:p>
        </p:txBody>
      </p:sp>
      <p:sp>
        <p:nvSpPr>
          <p:cNvPr id="16" name="TextBox 15"/>
          <p:cNvSpPr txBox="1"/>
          <p:nvPr/>
        </p:nvSpPr>
        <p:spPr>
          <a:xfrm>
            <a:off x="7315200" y="6400800"/>
            <a:ext cx="5486400" cy="457200"/>
          </a:xfrm>
          <a:prstGeom prst="rect">
            <a:avLst/>
          </a:prstGeom>
          <a:noFill/>
        </p:spPr>
        <p:txBody>
          <a:bodyPr wrap="square" lIns="0" rIns="0" tIns="0" bIns="0">
            <a:spAutoFit/>
          </a:bodyPr>
          <a:lstStyle/>
          <a:p>
            <a:pPr>
              <a:spcAft>
                <a:spcPts val="1000"/>
              </a:spcAft>
              <a:defRPr sz="1800" b="0">
                <a:solidFill>
                  <a:srgbClr val="8FA5B8"/>
                </a:solidFill>
                <a:latin typeface="Noto Sans CJK KR"/>
              </a:defRPr>
            </a:pPr>
            <a:r>
              <a:t>본사·공장 / 부산 지점</a:t>
            </a:r>
          </a:p>
        </p:txBody>
      </p:sp>
      <p:sp>
        <p:nvSpPr>
          <p:cNvPr id="17" name="TextBox 16"/>
          <p:cNvSpPr txBox="1"/>
          <p:nvPr/>
        </p:nvSpPr>
        <p:spPr>
          <a:xfrm>
            <a:off x="777240" y="7040880"/>
            <a:ext cx="12801600" cy="320040"/>
          </a:xfrm>
          <a:prstGeom prst="rect">
            <a:avLst/>
          </a:prstGeom>
          <a:noFill/>
        </p:spPr>
        <p:txBody>
          <a:bodyPr wrap="square" lIns="0" rIns="0" tIns="0" bIns="0">
            <a:spAutoFit/>
          </a:bodyPr>
          <a:lstStyle/>
          <a:p>
            <a:pPr>
              <a:spcAft>
                <a:spcPts val="1000"/>
              </a:spcAft>
              <a:defRPr sz="1200" b="0">
                <a:solidFill>
                  <a:srgbClr val="8FA5B8"/>
                </a:solidFill>
                <a:latin typeface="Noto Sans CJK KR"/>
              </a:defRPr>
            </a:pPr>
            <a:r>
              <a:t>주식회사 마스터볼트코리아 / 친환경 전장시스템 설계 및 추진 솔루션 공급</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A1420"/>
        </a:solidFill>
        <a:effectLst/>
      </p:bgPr>
    </p:bg>
    <p:spTree>
      <p:nvGrpSpPr>
        <p:cNvPr id="1" name=""/>
        <p:cNvGrpSpPr/>
        <p:nvPr/>
      </p:nvGrpSpPr>
      <p:grpSpPr/>
      <p:pic>
        <p:nvPicPr>
          <p:cNvPr id="13" name="Picture 12" descr="exec-f3ed2d79-5757-4445-a055-ec161376c4e6.png"/>
          <p:cNvPicPr>
            <a:picLocks noChangeAspect="1"/>
          </p:cNvPicPr>
          <p:nvPr/>
        </p:nvPicPr>
        <p:blipFill>
          <a:blip r:embed="rId3"/>
          <a:stretch>
            <a:fillRect/>
          </a:stretch>
        </p:blipFill>
        <p:spPr>
          <a:xfrm>
            <a:off x="0" y="0"/>
            <a:ext cx="14630400" cy="8229600"/>
          </a:xfrm>
          <a:prstGeom prst="rect">
            <a:avLst/>
          </a:prstGeom>
        </p:spPr>
      </p:pic>
      <p:sp>
        <p:nvSpPr>
          <p:cNvPr id="2" name="TextBox 1"/>
          <p:cNvSpPr txBox="1"/>
          <p:nvPr/>
        </p:nvSpPr>
        <p:spPr>
          <a:xfrm>
            <a:off x="731520" y="411480"/>
            <a:ext cx="12801600" cy="274320"/>
          </a:xfrm>
          <a:prstGeom prst="rect">
            <a:avLst/>
          </a:prstGeom>
          <a:noFill/>
        </p:spPr>
        <p:txBody>
          <a:bodyPr wrap="square" lIns="0" rIns="0" tIns="0" bIns="0">
            <a:spAutoFit/>
          </a:bodyPr>
          <a:lstStyle/>
          <a:p>
            <a:pPr>
              <a:spcAft>
                <a:spcPts val="1000"/>
              </a:spcAft>
              <a:defRPr sz="1100" b="0">
                <a:solidFill>
                  <a:srgbClr val="48D4DE"/>
                </a:solidFill>
                <a:latin typeface="Noto Sans CJK KR"/>
              </a:defRPr>
            </a:pPr>
            <a:r>
              <a:t>COMPANY / ENGINEERING SOLUTIONS</a:t>
            </a:r>
          </a:p>
        </p:txBody>
      </p:sp>
      <p:sp>
        <p:nvSpPr>
          <p:cNvPr id="3" name="TextBox 2"/>
          <p:cNvSpPr txBox="1"/>
          <p:nvPr/>
        </p:nvSpPr>
        <p:spPr>
          <a:xfrm>
            <a:off x="731520" y="960120"/>
            <a:ext cx="13167360" cy="1097280"/>
          </a:xfrm>
          <a:prstGeom prst="rect">
            <a:avLst/>
          </a:prstGeom>
          <a:noFill/>
        </p:spPr>
        <p:txBody>
          <a:bodyPr wrap="square" lIns="0" rIns="0" tIns="0" bIns="0">
            <a:spAutoFit/>
          </a:bodyPr>
          <a:lstStyle/>
          <a:p>
            <a:pPr>
              <a:spcAft>
                <a:spcPts val="1000"/>
              </a:spcAft>
              <a:defRPr sz="3400" b="1">
                <a:solidFill>
                  <a:srgbClr val="EFF4F8"/>
                </a:solidFill>
                <a:latin typeface="Noto Sans CJK KR"/>
              </a:defRPr>
            </a:pPr>
            <a:r>
              <a:t>설계 해석부터 시스템 통합까지</a:t>
            </a:r>
          </a:p>
        </p:txBody>
      </p:sp>
      <p:sp>
        <p:nvSpPr>
          <p:cNvPr id="4" name="Rectangle 3"/>
          <p:cNvSpPr/>
          <p:nvPr/>
        </p:nvSpPr>
        <p:spPr>
          <a:xfrm>
            <a:off x="731520" y="7635240"/>
            <a:ext cx="13167360" cy="10972"/>
          </a:xfrm>
          <a:prstGeom prst="rect">
            <a:avLst/>
          </a:prstGeom>
          <a:solidFill>
            <a:srgbClr val="2940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7790688"/>
            <a:ext cx="6400800" cy="182880"/>
          </a:xfrm>
          <a:prstGeom prst="rect">
            <a:avLst/>
          </a:prstGeom>
          <a:noFill/>
        </p:spPr>
        <p:txBody>
          <a:bodyPr wrap="square" lIns="0" rIns="0" tIns="0" bIns="0">
            <a:spAutoFit/>
          </a:bodyPr>
          <a:lstStyle/>
          <a:p>
            <a:pPr>
              <a:spcAft>
                <a:spcPts val="1000"/>
              </a:spcAft>
              <a:defRPr sz="900" b="0">
                <a:solidFill>
                  <a:srgbClr val="8FA5B8"/>
                </a:solidFill>
                <a:latin typeface="Noto Sans CJK KR"/>
              </a:defRPr>
            </a:pPr>
            <a:r>
              <a:t>MASTERVOLT KOREA  /  INTEGRATED VESSEL SOLUTIONS</a:t>
            </a:r>
          </a:p>
        </p:txBody>
      </p:sp>
      <p:sp>
        <p:nvSpPr>
          <p:cNvPr id="6" name="TextBox 5"/>
          <p:cNvSpPr txBox="1"/>
          <p:nvPr/>
        </p:nvSpPr>
        <p:spPr>
          <a:xfrm>
            <a:off x="13167360" y="7754112"/>
            <a:ext cx="731520" cy="274320"/>
          </a:xfrm>
          <a:prstGeom prst="rect">
            <a:avLst/>
          </a:prstGeom>
          <a:noFill/>
        </p:spPr>
        <p:txBody>
          <a:bodyPr wrap="square" lIns="0" rIns="0" tIns="0" bIns="0">
            <a:spAutoFit/>
          </a:bodyPr>
          <a:lstStyle/>
          <a:p>
            <a:pPr>
              <a:spcAft>
                <a:spcPts val="1000"/>
              </a:spcAft>
              <a:defRPr sz="1100" b="0">
                <a:solidFill>
                  <a:srgbClr val="8FA5B8"/>
                </a:solidFill>
                <a:latin typeface="Noto Sans CJK KR"/>
              </a:defRPr>
            </a:pPr>
            <a:r>
              <a:t>03</a:t>
            </a:r>
          </a:p>
        </p:txBody>
      </p:sp>
      <p:sp>
        <p:nvSpPr>
          <p:cNvPr id="7" name="TextBox 6"/>
          <p:cNvSpPr txBox="1"/>
          <p:nvPr/>
        </p:nvSpPr>
        <p:spPr>
          <a:xfrm>
            <a:off x="731520" y="2331720"/>
            <a:ext cx="6400800" cy="548640"/>
          </a:xfrm>
          <a:prstGeom prst="rect">
            <a:avLst/>
          </a:prstGeom>
          <a:noFill/>
        </p:spPr>
        <p:txBody>
          <a:bodyPr wrap="square" lIns="0" rIns="0" tIns="0" bIns="0">
            <a:spAutoFit/>
          </a:bodyPr>
          <a:lstStyle/>
          <a:p>
            <a:pPr>
              <a:spcAft>
                <a:spcPts val="1000"/>
              </a:spcAft>
              <a:defRPr sz="2100" b="1">
                <a:solidFill>
                  <a:srgbClr val="48D4DE"/>
                </a:solidFill>
                <a:latin typeface="Noto Sans CJK KR"/>
              </a:defRPr>
            </a:pPr>
            <a:r>
              <a:t>PROPULSION ENGINEERING</a:t>
            </a:r>
          </a:p>
        </p:txBody>
      </p:sp>
      <p:sp>
        <p:nvSpPr>
          <p:cNvPr id="8" name="TextBox 7"/>
          <p:cNvSpPr txBox="1"/>
          <p:nvPr/>
        </p:nvSpPr>
        <p:spPr>
          <a:xfrm>
            <a:off x="731520" y="3063240"/>
            <a:ext cx="6400800" cy="2743200"/>
          </a:xfrm>
          <a:prstGeom prst="rect">
            <a:avLst/>
          </a:prstGeom>
          <a:noFill/>
        </p:spPr>
        <p:txBody>
          <a:bodyPr wrap="square" lIns="0" rIns="0" tIns="0" bIns="0">
            <a:spAutoFit/>
          </a:bodyPr>
          <a:lstStyle/>
          <a:p>
            <a:pPr>
              <a:spcAft>
                <a:spcPts val="1000"/>
              </a:spcAft>
              <a:defRPr sz="2100" b="0">
                <a:solidFill>
                  <a:srgbClr val="EFF4F8"/>
                </a:solidFill>
                <a:latin typeface="Noto Sans CJK KR"/>
              </a:defRPr>
            </a:pPr>
            <a:r>
              <a:t>추진계통 통합 · 추진 매칭 분석</a:t>
            </a:r>
          </a:p>
          <a:p>
            <a:pPr>
              <a:spcAft>
                <a:spcPts val="1000"/>
              </a:spcAft>
              <a:defRPr sz="2100" b="0">
                <a:solidFill>
                  <a:srgbClr val="EFF4F8"/>
                </a:solidFill>
                <a:latin typeface="Noto Sans CJK KR"/>
              </a:defRPr>
            </a:pPr>
            <a:r>
              <a:t>중량 및 균형 분석</a:t>
            </a:r>
          </a:p>
          <a:p>
            <a:pPr>
              <a:spcAft>
                <a:spcPts val="1000"/>
              </a:spcAft>
              <a:defRPr sz="2100" b="0">
                <a:solidFill>
                  <a:srgbClr val="EFF4F8"/>
                </a:solidFill>
                <a:latin typeface="Noto Sans CJK KR"/>
              </a:defRPr>
            </a:pPr>
            <a:r>
              <a:t>선속·성능 예측 · 에너지 효율 분석</a:t>
            </a:r>
          </a:p>
          <a:p>
            <a:pPr>
              <a:spcAft>
                <a:spcPts val="1000"/>
              </a:spcAft>
              <a:defRPr sz="2100" b="0">
                <a:solidFill>
                  <a:srgbClr val="EFF4F8"/>
                </a:solidFill>
                <a:latin typeface="Noto Sans CJK KR"/>
              </a:defRPr>
            </a:pPr>
            <a:r>
              <a:t>서피스 드라이브·워터제트 최적화</a:t>
            </a:r>
          </a:p>
        </p:txBody>
      </p:sp>
      <p:sp>
        <p:nvSpPr>
          <p:cNvPr id="9" name="TextBox 8"/>
          <p:cNvSpPr txBox="1"/>
          <p:nvPr/>
        </p:nvSpPr>
        <p:spPr>
          <a:xfrm>
            <a:off x="7315200" y="2331720"/>
            <a:ext cx="6400800" cy="548640"/>
          </a:xfrm>
          <a:prstGeom prst="rect">
            <a:avLst/>
          </a:prstGeom>
          <a:noFill/>
        </p:spPr>
        <p:txBody>
          <a:bodyPr wrap="square" lIns="0" rIns="0" tIns="0" bIns="0">
            <a:spAutoFit/>
          </a:bodyPr>
          <a:lstStyle/>
          <a:p>
            <a:pPr>
              <a:spcAft>
                <a:spcPts val="1000"/>
              </a:spcAft>
              <a:defRPr sz="2100" b="1">
                <a:solidFill>
                  <a:srgbClr val="48D4DE"/>
                </a:solidFill>
                <a:latin typeface="Noto Sans CJK KR"/>
              </a:defRPr>
            </a:pPr>
            <a:r>
              <a:t>PLATFORM / POWER</a:t>
            </a:r>
          </a:p>
        </p:txBody>
      </p:sp>
      <p:sp>
        <p:nvSpPr>
          <p:cNvPr id="10" name="TextBox 9"/>
          <p:cNvSpPr txBox="1"/>
          <p:nvPr/>
        </p:nvSpPr>
        <p:spPr>
          <a:xfrm>
            <a:off x="7315200" y="3063240"/>
            <a:ext cx="6400800" cy="2743200"/>
          </a:xfrm>
          <a:prstGeom prst="rect">
            <a:avLst/>
          </a:prstGeom>
          <a:noFill/>
        </p:spPr>
        <p:txBody>
          <a:bodyPr wrap="square" lIns="0" rIns="0" tIns="0" bIns="0">
            <a:spAutoFit/>
          </a:bodyPr>
          <a:lstStyle/>
          <a:p>
            <a:pPr>
              <a:spcAft>
                <a:spcPts val="1000"/>
              </a:spcAft>
              <a:defRPr sz="2100" b="0">
                <a:solidFill>
                  <a:srgbClr val="EFF4F8"/>
                </a:solidFill>
                <a:latin typeface="Noto Sans CJK KR"/>
              </a:defRPr>
            </a:pPr>
            <a:r>
              <a:t>전력관리 · 디지털 전기 시스템</a:t>
            </a:r>
          </a:p>
          <a:p>
            <a:pPr>
              <a:spcAft>
                <a:spcPts val="1000"/>
              </a:spcAft>
              <a:defRPr sz="2100" b="0">
                <a:solidFill>
                  <a:srgbClr val="EFF4F8"/>
                </a:solidFill>
                <a:latin typeface="Noto Sans CJK KR"/>
              </a:defRPr>
            </a:pPr>
            <a:r>
              <a:t>플랫폼 · 항해·조종 시스템</a:t>
            </a:r>
          </a:p>
          <a:p>
            <a:pPr>
              <a:spcAft>
                <a:spcPts val="1000"/>
              </a:spcAft>
              <a:defRPr sz="2100" b="0">
                <a:solidFill>
                  <a:srgbClr val="EFF4F8"/>
                </a:solidFill>
                <a:latin typeface="Noto Sans CJK KR"/>
              </a:defRPr>
            </a:pPr>
            <a:r>
              <a:t>갑판·보조 시스템 · 조명 시스템</a:t>
            </a:r>
          </a:p>
          <a:p>
            <a:pPr>
              <a:spcAft>
                <a:spcPts val="1000"/>
              </a:spcAft>
              <a:defRPr sz="2100" b="0">
                <a:solidFill>
                  <a:srgbClr val="EFF4F8"/>
                </a:solidFill>
                <a:latin typeface="Noto Sans CJK KR"/>
              </a:defRPr>
            </a:pPr>
            <a:r>
              <a:t>원격 무장체계 통합</a:t>
            </a:r>
          </a:p>
        </p:txBody>
      </p:sp>
      <p:sp>
        <p:nvSpPr>
          <p:cNvPr id="11" name="TextBox 10"/>
          <p:cNvSpPr txBox="1"/>
          <p:nvPr/>
        </p:nvSpPr>
        <p:spPr>
          <a:xfrm>
            <a:off x="731520" y="5943600"/>
            <a:ext cx="13167360" cy="594360"/>
          </a:xfrm>
          <a:prstGeom prst="rect">
            <a:avLst/>
          </a:prstGeom>
          <a:noFill/>
        </p:spPr>
        <p:txBody>
          <a:bodyPr wrap="square" lIns="0" rIns="0" tIns="0" bIns="0">
            <a:spAutoFit/>
          </a:bodyPr>
          <a:lstStyle/>
          <a:p>
            <a:pPr>
              <a:spcAft>
                <a:spcPts val="1000"/>
              </a:spcAft>
              <a:defRPr sz="1800" b="0">
                <a:solidFill>
                  <a:srgbClr val="8FA5B8"/>
                </a:solidFill>
                <a:latin typeface="Noto Sans CJK KR"/>
              </a:defRPr>
            </a:pPr>
            <a:r>
              <a:t>군용 버전 / 50+ knot 역량 · 모듈형 페이로드 · 자율운항 준비 · 저소음 임무 준비</a:t>
            </a:r>
          </a:p>
        </p:txBody>
      </p:sp>
      <p:sp>
        <p:nvSpPr>
          <p:cNvPr id="12" name="TextBox 11"/>
          <p:cNvSpPr txBox="1"/>
          <p:nvPr/>
        </p:nvSpPr>
        <p:spPr>
          <a:xfrm>
            <a:off x="731520" y="6492240"/>
            <a:ext cx="13167360" cy="548640"/>
          </a:xfrm>
          <a:prstGeom prst="rect">
            <a:avLst/>
          </a:prstGeom>
          <a:noFill/>
        </p:spPr>
        <p:txBody>
          <a:bodyPr wrap="square" lIns="0" rIns="0" tIns="0" bIns="0">
            <a:spAutoFit/>
          </a:bodyPr>
          <a:lstStyle/>
          <a:p>
            <a:pPr>
              <a:spcAft>
                <a:spcPts val="1000"/>
              </a:spcAft>
              <a:defRPr sz="1700" b="0">
                <a:solidFill>
                  <a:srgbClr val="8FA5B8"/>
                </a:solidFill>
                <a:latin typeface="Noto Sans CJK KR"/>
              </a:defRPr>
            </a:pPr>
            <a:r>
              <a:t>AI-enabled 플랫폼 · 하이브리드 전기 아키텍처 · ROK Navy High-Speed USV Program</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A1420"/>
        </a:solidFill>
        <a:effectLst/>
      </p:bgPr>
    </p:bg>
    <p:spTree>
      <p:nvGrpSpPr>
        <p:cNvPr id="1" name=""/>
        <p:cNvGrpSpPr/>
        <p:nvPr/>
      </p:nvGrpSpPr>
      <p:grpSpPr/>
      <p:pic>
        <p:nvPicPr>
          <p:cNvPr id="29" name="Picture 28" descr="exec-f3ed2d79-5757-4445-a055-ec161376c4e6.png"/>
          <p:cNvPicPr>
            <a:picLocks noChangeAspect="1"/>
          </p:cNvPicPr>
          <p:nvPr/>
        </p:nvPicPr>
        <p:blipFill>
          <a:blip r:embed="rId3"/>
          <a:stretch>
            <a:fillRect/>
          </a:stretch>
        </p:blipFill>
        <p:spPr>
          <a:xfrm>
            <a:off x="0" y="0"/>
            <a:ext cx="14630400" cy="8229600"/>
          </a:xfrm>
          <a:prstGeom prst="rect">
            <a:avLst/>
          </a:prstGeom>
        </p:spPr>
      </p:pic>
      <p:sp>
        <p:nvSpPr>
          <p:cNvPr id="2" name="TextBox 1"/>
          <p:cNvSpPr txBox="1"/>
          <p:nvPr/>
        </p:nvSpPr>
        <p:spPr>
          <a:xfrm>
            <a:off x="731520" y="411480"/>
            <a:ext cx="12801600" cy="274320"/>
          </a:xfrm>
          <a:prstGeom prst="rect">
            <a:avLst/>
          </a:prstGeom>
          <a:noFill/>
        </p:spPr>
        <p:txBody>
          <a:bodyPr wrap="square" lIns="0" rIns="0" tIns="0" bIns="0">
            <a:spAutoFit/>
          </a:bodyPr>
          <a:lstStyle/>
          <a:p>
            <a:pPr>
              <a:spcAft>
                <a:spcPts val="1000"/>
              </a:spcAft>
              <a:defRPr sz="1100" b="0">
                <a:solidFill>
                  <a:srgbClr val="48D4DE"/>
                </a:solidFill>
                <a:latin typeface="Noto Sans CJK KR"/>
              </a:defRPr>
            </a:pPr>
            <a:r>
              <a:t>COMPANY / LEADERSHIP</a:t>
            </a:r>
          </a:p>
        </p:txBody>
      </p:sp>
      <p:sp>
        <p:nvSpPr>
          <p:cNvPr id="3" name="TextBox 2"/>
          <p:cNvSpPr txBox="1"/>
          <p:nvPr/>
        </p:nvSpPr>
        <p:spPr>
          <a:xfrm>
            <a:off x="731520" y="960120"/>
            <a:ext cx="13167360" cy="1097280"/>
          </a:xfrm>
          <a:prstGeom prst="rect">
            <a:avLst/>
          </a:prstGeom>
          <a:noFill/>
        </p:spPr>
        <p:txBody>
          <a:bodyPr wrap="square" lIns="0" rIns="0" tIns="0" bIns="0">
            <a:spAutoFit/>
          </a:bodyPr>
          <a:lstStyle/>
          <a:p>
            <a:pPr>
              <a:spcAft>
                <a:spcPts val="1000"/>
              </a:spcAft>
              <a:defRPr sz="3400" b="1">
                <a:solidFill>
                  <a:srgbClr val="EFF4F8"/>
                </a:solidFill>
                <a:latin typeface="Noto Sans CJK KR"/>
              </a:defRPr>
            </a:pPr>
            <a:r>
              <a:t>엔지니어링과 운영을 연결하는 수행 조직</a:t>
            </a:r>
          </a:p>
        </p:txBody>
      </p:sp>
      <p:sp>
        <p:nvSpPr>
          <p:cNvPr id="4" name="Rectangle 3"/>
          <p:cNvSpPr/>
          <p:nvPr/>
        </p:nvSpPr>
        <p:spPr>
          <a:xfrm>
            <a:off x="731520" y="7635240"/>
            <a:ext cx="13167360" cy="10972"/>
          </a:xfrm>
          <a:prstGeom prst="rect">
            <a:avLst/>
          </a:prstGeom>
          <a:solidFill>
            <a:srgbClr val="2940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7790688"/>
            <a:ext cx="6400800" cy="182880"/>
          </a:xfrm>
          <a:prstGeom prst="rect">
            <a:avLst/>
          </a:prstGeom>
          <a:noFill/>
        </p:spPr>
        <p:txBody>
          <a:bodyPr wrap="square" lIns="0" rIns="0" tIns="0" bIns="0">
            <a:spAutoFit/>
          </a:bodyPr>
          <a:lstStyle/>
          <a:p>
            <a:pPr>
              <a:spcAft>
                <a:spcPts val="1000"/>
              </a:spcAft>
              <a:defRPr sz="900" b="0">
                <a:solidFill>
                  <a:srgbClr val="8FA5B8"/>
                </a:solidFill>
                <a:latin typeface="Noto Sans CJK KR"/>
              </a:defRPr>
            </a:pPr>
            <a:r>
              <a:t>MASTERVOLT KOREA  /  INTEGRATED VESSEL SOLUTIONS</a:t>
            </a:r>
          </a:p>
        </p:txBody>
      </p:sp>
      <p:sp>
        <p:nvSpPr>
          <p:cNvPr id="6" name="TextBox 5"/>
          <p:cNvSpPr txBox="1"/>
          <p:nvPr/>
        </p:nvSpPr>
        <p:spPr>
          <a:xfrm>
            <a:off x="13167360" y="7754112"/>
            <a:ext cx="731520" cy="274320"/>
          </a:xfrm>
          <a:prstGeom prst="rect">
            <a:avLst/>
          </a:prstGeom>
          <a:noFill/>
        </p:spPr>
        <p:txBody>
          <a:bodyPr wrap="square" lIns="0" rIns="0" tIns="0" bIns="0">
            <a:spAutoFit/>
          </a:bodyPr>
          <a:lstStyle/>
          <a:p>
            <a:pPr>
              <a:spcAft>
                <a:spcPts val="1000"/>
              </a:spcAft>
              <a:defRPr sz="1100" b="0">
                <a:solidFill>
                  <a:srgbClr val="8FA5B8"/>
                </a:solidFill>
                <a:latin typeface="Noto Sans CJK KR"/>
              </a:defRPr>
            </a:pPr>
            <a:r>
              <a:t>04</a:t>
            </a:r>
          </a:p>
        </p:txBody>
      </p:sp>
      <p:sp>
        <p:nvSpPr>
          <p:cNvPr id="7" name="TextBox 6"/>
          <p:cNvSpPr txBox="1"/>
          <p:nvPr/>
        </p:nvSpPr>
        <p:spPr>
          <a:xfrm>
            <a:off x="731520" y="2194560"/>
            <a:ext cx="12801600" cy="594360"/>
          </a:xfrm>
          <a:prstGeom prst="rect">
            <a:avLst/>
          </a:prstGeom>
          <a:noFill/>
        </p:spPr>
        <p:txBody>
          <a:bodyPr wrap="square" lIns="0" rIns="0" tIns="0" bIns="0">
            <a:spAutoFit/>
          </a:bodyPr>
          <a:lstStyle/>
          <a:p>
            <a:pPr>
              <a:spcAft>
                <a:spcPts val="1000"/>
              </a:spcAft>
              <a:defRPr sz="2700" b="1">
                <a:solidFill>
                  <a:srgbClr val="48D4DE"/>
                </a:solidFill>
                <a:latin typeface="Noto Sans CJK KR"/>
              </a:defRPr>
            </a:pPr>
            <a:r>
              <a:t>Pierce Kim  /  Founder &amp; CEO</a:t>
            </a:r>
          </a:p>
        </p:txBody>
      </p:sp>
      <p:sp>
        <p:nvSpPr>
          <p:cNvPr id="8" name="TextBox 7"/>
          <p:cNvSpPr txBox="1"/>
          <p:nvPr/>
        </p:nvSpPr>
        <p:spPr>
          <a:xfrm>
            <a:off x="731520" y="3291840"/>
            <a:ext cx="4114800" cy="457200"/>
          </a:xfrm>
          <a:prstGeom prst="rect">
            <a:avLst/>
          </a:prstGeom>
          <a:noFill/>
        </p:spPr>
        <p:txBody>
          <a:bodyPr wrap="square" lIns="0" rIns="0" tIns="0" bIns="0">
            <a:spAutoFit/>
          </a:bodyPr>
          <a:lstStyle/>
          <a:p>
            <a:pPr>
              <a:spcAft>
                <a:spcPts val="1000"/>
              </a:spcAft>
              <a:defRPr sz="1800" b="1">
                <a:solidFill>
                  <a:srgbClr val="48D4DE"/>
                </a:solidFill>
                <a:latin typeface="Noto Sans CJK KR"/>
              </a:defRPr>
            </a:pPr>
            <a:r>
              <a:t>ENGINEERING</a:t>
            </a:r>
          </a:p>
        </p:txBody>
      </p:sp>
      <p:sp>
        <p:nvSpPr>
          <p:cNvPr id="9" name="TextBox 8"/>
          <p:cNvSpPr txBox="1"/>
          <p:nvPr/>
        </p:nvSpPr>
        <p:spPr>
          <a:xfrm>
            <a:off x="731520" y="4023360"/>
            <a:ext cx="4114800" cy="411480"/>
          </a:xfrm>
          <a:prstGeom prst="rect">
            <a:avLst/>
          </a:prstGeom>
          <a:noFill/>
        </p:spPr>
        <p:txBody>
          <a:bodyPr wrap="square" lIns="0" rIns="0" tIns="0" bIns="0">
            <a:spAutoFit/>
          </a:bodyPr>
          <a:lstStyle/>
          <a:p>
            <a:pPr>
              <a:spcAft>
                <a:spcPts val="1000"/>
              </a:spcAft>
              <a:defRPr sz="2200" b="1">
                <a:solidFill>
                  <a:srgbClr val="EFF4F8"/>
                </a:solidFill>
                <a:latin typeface="Noto Sans CJK KR"/>
              </a:defRPr>
            </a:pPr>
            <a:r>
              <a:t>Youngchan Hong</a:t>
            </a:r>
          </a:p>
        </p:txBody>
      </p:sp>
      <p:sp>
        <p:nvSpPr>
          <p:cNvPr id="10" name="TextBox 9"/>
          <p:cNvSpPr txBox="1"/>
          <p:nvPr/>
        </p:nvSpPr>
        <p:spPr>
          <a:xfrm>
            <a:off x="731520" y="4462272"/>
            <a:ext cx="4114800" cy="365760"/>
          </a:xfrm>
          <a:prstGeom prst="rect">
            <a:avLst/>
          </a:prstGeom>
          <a:noFill/>
        </p:spPr>
        <p:txBody>
          <a:bodyPr wrap="square" lIns="0" rIns="0" tIns="0" bIns="0">
            <a:spAutoFit/>
          </a:bodyPr>
          <a:lstStyle/>
          <a:p>
            <a:pPr>
              <a:spcAft>
                <a:spcPts val="1000"/>
              </a:spcAft>
              <a:defRPr sz="1400" b="0">
                <a:solidFill>
                  <a:srgbClr val="8FA5B8"/>
                </a:solidFill>
                <a:latin typeface="Noto Sans CJK KR"/>
              </a:defRPr>
            </a:pPr>
            <a:r>
              <a:t>Technical Director</a:t>
            </a:r>
          </a:p>
        </p:txBody>
      </p:sp>
      <p:sp>
        <p:nvSpPr>
          <p:cNvPr id="11" name="TextBox 10"/>
          <p:cNvSpPr txBox="1"/>
          <p:nvPr/>
        </p:nvSpPr>
        <p:spPr>
          <a:xfrm>
            <a:off x="731520" y="4983480"/>
            <a:ext cx="4114800" cy="411480"/>
          </a:xfrm>
          <a:prstGeom prst="rect">
            <a:avLst/>
          </a:prstGeom>
          <a:noFill/>
        </p:spPr>
        <p:txBody>
          <a:bodyPr wrap="square" lIns="0" rIns="0" tIns="0" bIns="0">
            <a:spAutoFit/>
          </a:bodyPr>
          <a:lstStyle/>
          <a:p>
            <a:pPr>
              <a:spcAft>
                <a:spcPts val="1000"/>
              </a:spcAft>
              <a:defRPr sz="2200" b="1">
                <a:solidFill>
                  <a:srgbClr val="EFF4F8"/>
                </a:solidFill>
                <a:latin typeface="Noto Sans CJK KR"/>
              </a:defRPr>
            </a:pPr>
            <a:r>
              <a:t>James Han</a:t>
            </a:r>
          </a:p>
        </p:txBody>
      </p:sp>
      <p:sp>
        <p:nvSpPr>
          <p:cNvPr id="12" name="TextBox 11"/>
          <p:cNvSpPr txBox="1"/>
          <p:nvPr/>
        </p:nvSpPr>
        <p:spPr>
          <a:xfrm>
            <a:off x="731520" y="5422392"/>
            <a:ext cx="4114800" cy="365760"/>
          </a:xfrm>
          <a:prstGeom prst="rect">
            <a:avLst/>
          </a:prstGeom>
          <a:noFill/>
        </p:spPr>
        <p:txBody>
          <a:bodyPr wrap="square" lIns="0" rIns="0" tIns="0" bIns="0">
            <a:spAutoFit/>
          </a:bodyPr>
          <a:lstStyle/>
          <a:p>
            <a:pPr>
              <a:spcAft>
                <a:spcPts val="1000"/>
              </a:spcAft>
              <a:defRPr sz="1400" b="0">
                <a:solidFill>
                  <a:srgbClr val="8FA5B8"/>
                </a:solidFill>
                <a:latin typeface="Noto Sans CJK KR"/>
              </a:defRPr>
            </a:pPr>
            <a:r>
              <a:t>Head of Manufacturing</a:t>
            </a:r>
          </a:p>
        </p:txBody>
      </p:sp>
      <p:sp>
        <p:nvSpPr>
          <p:cNvPr id="13" name="TextBox 12"/>
          <p:cNvSpPr txBox="1"/>
          <p:nvPr/>
        </p:nvSpPr>
        <p:spPr>
          <a:xfrm>
            <a:off x="731520" y="5943600"/>
            <a:ext cx="4114800" cy="411480"/>
          </a:xfrm>
          <a:prstGeom prst="rect">
            <a:avLst/>
          </a:prstGeom>
          <a:noFill/>
        </p:spPr>
        <p:txBody>
          <a:bodyPr wrap="square" lIns="0" rIns="0" tIns="0" bIns="0">
            <a:spAutoFit/>
          </a:bodyPr>
          <a:lstStyle/>
          <a:p>
            <a:pPr>
              <a:spcAft>
                <a:spcPts val="1000"/>
              </a:spcAft>
              <a:defRPr sz="2200" b="1">
                <a:solidFill>
                  <a:srgbClr val="EFF4F8"/>
                </a:solidFill>
                <a:latin typeface="Noto Sans CJK KR"/>
              </a:defRPr>
            </a:pPr>
            <a:r>
              <a:t>Jongho Kim</a:t>
            </a:r>
          </a:p>
        </p:txBody>
      </p:sp>
      <p:sp>
        <p:nvSpPr>
          <p:cNvPr id="14" name="TextBox 13"/>
          <p:cNvSpPr txBox="1"/>
          <p:nvPr/>
        </p:nvSpPr>
        <p:spPr>
          <a:xfrm>
            <a:off x="731520" y="6382512"/>
            <a:ext cx="4114800" cy="365760"/>
          </a:xfrm>
          <a:prstGeom prst="rect">
            <a:avLst/>
          </a:prstGeom>
          <a:noFill/>
        </p:spPr>
        <p:txBody>
          <a:bodyPr wrap="square" lIns="0" rIns="0" tIns="0" bIns="0">
            <a:spAutoFit/>
          </a:bodyPr>
          <a:lstStyle/>
          <a:p>
            <a:pPr>
              <a:spcAft>
                <a:spcPts val="1000"/>
              </a:spcAft>
              <a:defRPr sz="1400" b="0">
                <a:solidFill>
                  <a:srgbClr val="8FA5B8"/>
                </a:solidFill>
                <a:latin typeface="Noto Sans CJK KR"/>
              </a:defRPr>
            </a:pPr>
            <a:r>
              <a:t>Head of Electrical Systems</a:t>
            </a:r>
          </a:p>
        </p:txBody>
      </p:sp>
      <p:sp>
        <p:nvSpPr>
          <p:cNvPr id="15" name="TextBox 14"/>
          <p:cNvSpPr txBox="1"/>
          <p:nvPr/>
        </p:nvSpPr>
        <p:spPr>
          <a:xfrm>
            <a:off x="5212080" y="3291840"/>
            <a:ext cx="4114800" cy="457200"/>
          </a:xfrm>
          <a:prstGeom prst="rect">
            <a:avLst/>
          </a:prstGeom>
          <a:noFill/>
        </p:spPr>
        <p:txBody>
          <a:bodyPr wrap="square" lIns="0" rIns="0" tIns="0" bIns="0">
            <a:spAutoFit/>
          </a:bodyPr>
          <a:lstStyle/>
          <a:p>
            <a:pPr>
              <a:spcAft>
                <a:spcPts val="1000"/>
              </a:spcAft>
              <a:defRPr sz="1800" b="1">
                <a:solidFill>
                  <a:srgbClr val="48D4DE"/>
                </a:solidFill>
                <a:latin typeface="Noto Sans CJK KR"/>
              </a:defRPr>
            </a:pPr>
            <a:r>
              <a:t>OPERATIONS</a:t>
            </a:r>
          </a:p>
        </p:txBody>
      </p:sp>
      <p:sp>
        <p:nvSpPr>
          <p:cNvPr id="16" name="TextBox 15"/>
          <p:cNvSpPr txBox="1"/>
          <p:nvPr/>
        </p:nvSpPr>
        <p:spPr>
          <a:xfrm>
            <a:off x="5212080" y="4023360"/>
            <a:ext cx="4114800" cy="411480"/>
          </a:xfrm>
          <a:prstGeom prst="rect">
            <a:avLst/>
          </a:prstGeom>
          <a:noFill/>
        </p:spPr>
        <p:txBody>
          <a:bodyPr wrap="square" lIns="0" rIns="0" tIns="0" bIns="0">
            <a:spAutoFit/>
          </a:bodyPr>
          <a:lstStyle/>
          <a:p>
            <a:pPr>
              <a:spcAft>
                <a:spcPts val="1000"/>
              </a:spcAft>
              <a:defRPr sz="2200" b="1">
                <a:solidFill>
                  <a:srgbClr val="EFF4F8"/>
                </a:solidFill>
                <a:latin typeface="Noto Sans CJK KR"/>
              </a:defRPr>
            </a:pPr>
            <a:r>
              <a:t>Juhwan Kim</a:t>
            </a:r>
          </a:p>
        </p:txBody>
      </p:sp>
      <p:sp>
        <p:nvSpPr>
          <p:cNvPr id="17" name="TextBox 16"/>
          <p:cNvSpPr txBox="1"/>
          <p:nvPr/>
        </p:nvSpPr>
        <p:spPr>
          <a:xfrm>
            <a:off x="5212080" y="4462272"/>
            <a:ext cx="4114800" cy="365760"/>
          </a:xfrm>
          <a:prstGeom prst="rect">
            <a:avLst/>
          </a:prstGeom>
          <a:noFill/>
        </p:spPr>
        <p:txBody>
          <a:bodyPr wrap="square" lIns="0" rIns="0" tIns="0" bIns="0">
            <a:spAutoFit/>
          </a:bodyPr>
          <a:lstStyle/>
          <a:p>
            <a:pPr>
              <a:spcAft>
                <a:spcPts val="1000"/>
              </a:spcAft>
              <a:defRPr sz="1400" b="0">
                <a:solidFill>
                  <a:srgbClr val="8FA5B8"/>
                </a:solidFill>
                <a:latin typeface="Noto Sans CJK KR"/>
              </a:defRPr>
            </a:pPr>
            <a:r>
              <a:t>Director of Operations</a:t>
            </a:r>
          </a:p>
        </p:txBody>
      </p:sp>
      <p:sp>
        <p:nvSpPr>
          <p:cNvPr id="18" name="TextBox 17"/>
          <p:cNvSpPr txBox="1"/>
          <p:nvPr/>
        </p:nvSpPr>
        <p:spPr>
          <a:xfrm>
            <a:off x="5212080" y="4983480"/>
            <a:ext cx="4114800" cy="411480"/>
          </a:xfrm>
          <a:prstGeom prst="rect">
            <a:avLst/>
          </a:prstGeom>
          <a:noFill/>
        </p:spPr>
        <p:txBody>
          <a:bodyPr wrap="square" lIns="0" rIns="0" tIns="0" bIns="0">
            <a:spAutoFit/>
          </a:bodyPr>
          <a:lstStyle/>
          <a:p>
            <a:pPr>
              <a:spcAft>
                <a:spcPts val="1000"/>
              </a:spcAft>
              <a:defRPr sz="2200" b="1">
                <a:solidFill>
                  <a:srgbClr val="EFF4F8"/>
                </a:solidFill>
                <a:latin typeface="Noto Sans CJK KR"/>
              </a:defRPr>
            </a:pPr>
            <a:r>
              <a:t>Sangeon Park</a:t>
            </a:r>
          </a:p>
        </p:txBody>
      </p:sp>
      <p:sp>
        <p:nvSpPr>
          <p:cNvPr id="19" name="TextBox 18"/>
          <p:cNvSpPr txBox="1"/>
          <p:nvPr/>
        </p:nvSpPr>
        <p:spPr>
          <a:xfrm>
            <a:off x="5212080" y="5422392"/>
            <a:ext cx="4114800" cy="365760"/>
          </a:xfrm>
          <a:prstGeom prst="rect">
            <a:avLst/>
          </a:prstGeom>
          <a:noFill/>
        </p:spPr>
        <p:txBody>
          <a:bodyPr wrap="square" lIns="0" rIns="0" tIns="0" bIns="0">
            <a:spAutoFit/>
          </a:bodyPr>
          <a:lstStyle/>
          <a:p>
            <a:pPr>
              <a:spcAft>
                <a:spcPts val="1000"/>
              </a:spcAft>
              <a:defRPr sz="1400" b="0">
                <a:solidFill>
                  <a:srgbClr val="8FA5B8"/>
                </a:solidFill>
                <a:latin typeface="Noto Sans CJK KR"/>
              </a:defRPr>
            </a:pPr>
            <a:r>
              <a:t>Software Engineering</a:t>
            </a:r>
          </a:p>
        </p:txBody>
      </p:sp>
      <p:sp>
        <p:nvSpPr>
          <p:cNvPr id="20" name="TextBox 19"/>
          <p:cNvSpPr txBox="1"/>
          <p:nvPr/>
        </p:nvSpPr>
        <p:spPr>
          <a:xfrm>
            <a:off x="5212080" y="5943600"/>
            <a:ext cx="4114800" cy="411480"/>
          </a:xfrm>
          <a:prstGeom prst="rect">
            <a:avLst/>
          </a:prstGeom>
          <a:noFill/>
        </p:spPr>
        <p:txBody>
          <a:bodyPr wrap="square" lIns="0" rIns="0" tIns="0" bIns="0">
            <a:spAutoFit/>
          </a:bodyPr>
          <a:lstStyle/>
          <a:p>
            <a:pPr>
              <a:spcAft>
                <a:spcPts val="1000"/>
              </a:spcAft>
              <a:defRPr sz="2200" b="1">
                <a:solidFill>
                  <a:srgbClr val="EFF4F8"/>
                </a:solidFill>
                <a:latin typeface="Noto Sans CJK KR"/>
              </a:defRPr>
            </a:pPr>
            <a:r>
              <a:t>Michael Park</a:t>
            </a:r>
          </a:p>
        </p:txBody>
      </p:sp>
      <p:sp>
        <p:nvSpPr>
          <p:cNvPr id="21" name="TextBox 20"/>
          <p:cNvSpPr txBox="1"/>
          <p:nvPr/>
        </p:nvSpPr>
        <p:spPr>
          <a:xfrm>
            <a:off x="5212080" y="6382512"/>
            <a:ext cx="4114800" cy="365760"/>
          </a:xfrm>
          <a:prstGeom prst="rect">
            <a:avLst/>
          </a:prstGeom>
          <a:noFill/>
        </p:spPr>
        <p:txBody>
          <a:bodyPr wrap="square" lIns="0" rIns="0" tIns="0" bIns="0">
            <a:spAutoFit/>
          </a:bodyPr>
          <a:lstStyle/>
          <a:p>
            <a:pPr>
              <a:spcAft>
                <a:spcPts val="1000"/>
              </a:spcAft>
              <a:defRPr sz="1400" b="0">
                <a:solidFill>
                  <a:srgbClr val="8FA5B8"/>
                </a:solidFill>
                <a:latin typeface="Noto Sans CJK KR"/>
              </a:defRPr>
            </a:pPr>
            <a:r>
              <a:t>Global Operations</a:t>
            </a:r>
          </a:p>
        </p:txBody>
      </p:sp>
      <p:sp>
        <p:nvSpPr>
          <p:cNvPr id="22" name="TextBox 21"/>
          <p:cNvSpPr txBox="1"/>
          <p:nvPr/>
        </p:nvSpPr>
        <p:spPr>
          <a:xfrm>
            <a:off x="9692640" y="3291840"/>
            <a:ext cx="4114800" cy="457200"/>
          </a:xfrm>
          <a:prstGeom prst="rect">
            <a:avLst/>
          </a:prstGeom>
          <a:noFill/>
        </p:spPr>
        <p:txBody>
          <a:bodyPr wrap="square" lIns="0" rIns="0" tIns="0" bIns="0">
            <a:spAutoFit/>
          </a:bodyPr>
          <a:lstStyle/>
          <a:p>
            <a:pPr>
              <a:spcAft>
                <a:spcPts val="1000"/>
              </a:spcAft>
              <a:defRPr sz="1800" b="1">
                <a:solidFill>
                  <a:srgbClr val="48D4DE"/>
                </a:solidFill>
                <a:latin typeface="Noto Sans CJK KR"/>
              </a:defRPr>
            </a:pPr>
            <a:r>
              <a:t>GLOBAL ADVISORY</a:t>
            </a:r>
          </a:p>
        </p:txBody>
      </p:sp>
      <p:sp>
        <p:nvSpPr>
          <p:cNvPr id="23" name="TextBox 22"/>
          <p:cNvSpPr txBox="1"/>
          <p:nvPr/>
        </p:nvSpPr>
        <p:spPr>
          <a:xfrm>
            <a:off x="9692640" y="4023360"/>
            <a:ext cx="4114800" cy="411480"/>
          </a:xfrm>
          <a:prstGeom prst="rect">
            <a:avLst/>
          </a:prstGeom>
          <a:noFill/>
        </p:spPr>
        <p:txBody>
          <a:bodyPr wrap="square" lIns="0" rIns="0" tIns="0" bIns="0">
            <a:spAutoFit/>
          </a:bodyPr>
          <a:lstStyle/>
          <a:p>
            <a:pPr>
              <a:spcAft>
                <a:spcPts val="1000"/>
              </a:spcAft>
              <a:defRPr sz="2200" b="1">
                <a:solidFill>
                  <a:srgbClr val="EFF4F8"/>
                </a:solidFill>
                <a:latin typeface="Noto Sans CJK KR"/>
              </a:defRPr>
            </a:pPr>
            <a:r>
              <a:t>John Kecsmar</a:t>
            </a:r>
          </a:p>
        </p:txBody>
      </p:sp>
      <p:sp>
        <p:nvSpPr>
          <p:cNvPr id="24" name="TextBox 23"/>
          <p:cNvSpPr txBox="1"/>
          <p:nvPr/>
        </p:nvSpPr>
        <p:spPr>
          <a:xfrm>
            <a:off x="9692640" y="4462272"/>
            <a:ext cx="4114800" cy="365760"/>
          </a:xfrm>
          <a:prstGeom prst="rect">
            <a:avLst/>
          </a:prstGeom>
          <a:noFill/>
        </p:spPr>
        <p:txBody>
          <a:bodyPr wrap="square" lIns="0" rIns="0" tIns="0" bIns="0">
            <a:spAutoFit/>
          </a:bodyPr>
          <a:lstStyle/>
          <a:p>
            <a:pPr>
              <a:spcAft>
                <a:spcPts val="1000"/>
              </a:spcAft>
              <a:defRPr sz="1400" b="0">
                <a:solidFill>
                  <a:srgbClr val="8FA5B8"/>
                </a:solidFill>
                <a:latin typeface="Noto Sans CJK KR"/>
              </a:defRPr>
            </a:pPr>
            <a:r>
              <a:t>Technical Advisor</a:t>
            </a:r>
          </a:p>
        </p:txBody>
      </p:sp>
      <p:sp>
        <p:nvSpPr>
          <p:cNvPr id="25" name="TextBox 24"/>
          <p:cNvSpPr txBox="1"/>
          <p:nvPr/>
        </p:nvSpPr>
        <p:spPr>
          <a:xfrm>
            <a:off x="9692640" y="4983480"/>
            <a:ext cx="4114800" cy="411480"/>
          </a:xfrm>
          <a:prstGeom prst="rect">
            <a:avLst/>
          </a:prstGeom>
          <a:noFill/>
        </p:spPr>
        <p:txBody>
          <a:bodyPr wrap="square" lIns="0" rIns="0" tIns="0" bIns="0">
            <a:spAutoFit/>
          </a:bodyPr>
          <a:lstStyle/>
          <a:p>
            <a:pPr>
              <a:spcAft>
                <a:spcPts val="1000"/>
              </a:spcAft>
              <a:defRPr sz="2200" b="1">
                <a:solidFill>
                  <a:srgbClr val="EFF4F8"/>
                </a:solidFill>
                <a:latin typeface="Noto Sans CJK KR"/>
              </a:defRPr>
            </a:pPr>
            <a:r>
              <a:t>Gerhard Kutt</a:t>
            </a:r>
          </a:p>
        </p:txBody>
      </p:sp>
      <p:sp>
        <p:nvSpPr>
          <p:cNvPr id="26" name="TextBox 25"/>
          <p:cNvSpPr txBox="1"/>
          <p:nvPr/>
        </p:nvSpPr>
        <p:spPr>
          <a:xfrm>
            <a:off x="9692640" y="5422392"/>
            <a:ext cx="4114800" cy="365760"/>
          </a:xfrm>
          <a:prstGeom prst="rect">
            <a:avLst/>
          </a:prstGeom>
          <a:noFill/>
        </p:spPr>
        <p:txBody>
          <a:bodyPr wrap="square" lIns="0" rIns="0" tIns="0" bIns="0">
            <a:spAutoFit/>
          </a:bodyPr>
          <a:lstStyle/>
          <a:p>
            <a:pPr>
              <a:spcAft>
                <a:spcPts val="1000"/>
              </a:spcAft>
              <a:defRPr sz="1400" b="0">
                <a:solidFill>
                  <a:srgbClr val="8FA5B8"/>
                </a:solidFill>
                <a:latin typeface="Noto Sans CJK KR"/>
              </a:defRPr>
            </a:pPr>
            <a:r>
              <a:t>Technical Advisor</a:t>
            </a:r>
          </a:p>
        </p:txBody>
      </p:sp>
      <p:sp>
        <p:nvSpPr>
          <p:cNvPr id="27" name="TextBox 26"/>
          <p:cNvSpPr txBox="1"/>
          <p:nvPr/>
        </p:nvSpPr>
        <p:spPr>
          <a:xfrm>
            <a:off x="9692640" y="5943600"/>
            <a:ext cx="4114800" cy="411480"/>
          </a:xfrm>
          <a:prstGeom prst="rect">
            <a:avLst/>
          </a:prstGeom>
          <a:noFill/>
        </p:spPr>
        <p:txBody>
          <a:bodyPr wrap="square" lIns="0" rIns="0" tIns="0" bIns="0">
            <a:spAutoFit/>
          </a:bodyPr>
          <a:lstStyle/>
          <a:p>
            <a:pPr>
              <a:spcAft>
                <a:spcPts val="1000"/>
              </a:spcAft>
              <a:defRPr sz="2200" b="1">
                <a:solidFill>
                  <a:srgbClr val="EFF4F8"/>
                </a:solidFill>
                <a:latin typeface="Noto Sans CJK KR"/>
              </a:defRPr>
            </a:pPr>
            <a:r>
              <a:t>Lee Soonhyung</a:t>
            </a:r>
          </a:p>
        </p:txBody>
      </p:sp>
      <p:sp>
        <p:nvSpPr>
          <p:cNvPr id="28" name="TextBox 27"/>
          <p:cNvSpPr txBox="1"/>
          <p:nvPr/>
        </p:nvSpPr>
        <p:spPr>
          <a:xfrm>
            <a:off x="9692640" y="6382512"/>
            <a:ext cx="4114800" cy="365760"/>
          </a:xfrm>
          <a:prstGeom prst="rect">
            <a:avLst/>
          </a:prstGeom>
          <a:noFill/>
        </p:spPr>
        <p:txBody>
          <a:bodyPr wrap="square" lIns="0" rIns="0" tIns="0" bIns="0">
            <a:spAutoFit/>
          </a:bodyPr>
          <a:lstStyle/>
          <a:p>
            <a:pPr>
              <a:spcAft>
                <a:spcPts val="1000"/>
              </a:spcAft>
              <a:defRPr sz="1400" b="0">
                <a:solidFill>
                  <a:srgbClr val="8FA5B8"/>
                </a:solidFill>
                <a:latin typeface="Noto Sans CJK KR"/>
              </a:defRPr>
            </a:pPr>
            <a:r>
              <a:t>Technical Advisor</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A1420"/>
        </a:solidFill>
        <a:effectLst/>
      </p:bgPr>
    </p:bg>
    <p:spTree>
      <p:nvGrpSpPr>
        <p:cNvPr id="1" name=""/>
        <p:cNvGrpSpPr/>
        <p:nvPr/>
      </p:nvGrpSpPr>
      <p:grpSpPr/>
      <p:pic>
        <p:nvPicPr>
          <p:cNvPr id="12" name="Picture 11" descr="exec-f3ed2d79-5757-4445-a055-ec161376c4e6.png"/>
          <p:cNvPicPr>
            <a:picLocks noChangeAspect="1"/>
          </p:cNvPicPr>
          <p:nvPr/>
        </p:nvPicPr>
        <p:blipFill>
          <a:blip r:embed="rId3"/>
          <a:stretch>
            <a:fillRect/>
          </a:stretch>
        </p:blipFill>
        <p:spPr>
          <a:xfrm>
            <a:off x="0" y="0"/>
            <a:ext cx="14630400" cy="8229600"/>
          </a:xfrm>
          <a:prstGeom prst="rect">
            <a:avLst/>
          </a:prstGeom>
        </p:spPr>
      </p:pic>
      <p:sp>
        <p:nvSpPr>
          <p:cNvPr id="2" name="TextBox 1"/>
          <p:cNvSpPr txBox="1"/>
          <p:nvPr/>
        </p:nvSpPr>
        <p:spPr>
          <a:xfrm>
            <a:off x="731520" y="411480"/>
            <a:ext cx="12801600" cy="274320"/>
          </a:xfrm>
          <a:prstGeom prst="rect">
            <a:avLst/>
          </a:prstGeom>
          <a:noFill/>
        </p:spPr>
        <p:txBody>
          <a:bodyPr wrap="square" lIns="0" rIns="0" tIns="0" bIns="0">
            <a:spAutoFit/>
          </a:bodyPr>
          <a:lstStyle/>
          <a:p>
            <a:pPr>
              <a:spcAft>
                <a:spcPts val="1000"/>
              </a:spcAft>
              <a:defRPr sz="1100" b="0">
                <a:solidFill>
                  <a:srgbClr val="48D4DE"/>
                </a:solidFill>
                <a:latin typeface="Noto Sans CJK KR"/>
              </a:defRPr>
            </a:pPr>
            <a:r>
              <a:t>VESSEL STANDARDIZATION / OBJECTIVE</a:t>
            </a:r>
          </a:p>
        </p:txBody>
      </p:sp>
      <p:sp>
        <p:nvSpPr>
          <p:cNvPr id="3" name="TextBox 2"/>
          <p:cNvSpPr txBox="1"/>
          <p:nvPr/>
        </p:nvSpPr>
        <p:spPr>
          <a:xfrm>
            <a:off x="731520" y="960120"/>
            <a:ext cx="13167360" cy="1097280"/>
          </a:xfrm>
          <a:prstGeom prst="rect">
            <a:avLst/>
          </a:prstGeom>
          <a:noFill/>
        </p:spPr>
        <p:txBody>
          <a:bodyPr wrap="square" lIns="0" rIns="0" tIns="0" bIns="0">
            <a:spAutoFit/>
          </a:bodyPr>
          <a:lstStyle/>
          <a:p>
            <a:pPr>
              <a:spcAft>
                <a:spcPts val="1000"/>
              </a:spcAft>
              <a:defRPr sz="3400" b="1">
                <a:solidFill>
                  <a:srgbClr val="EFF4F8"/>
                </a:solidFill>
                <a:latin typeface="Noto Sans CJK KR"/>
              </a:defRPr>
            </a:pPr>
            <a:r>
              <a:t>5종 선박의 친환경 표준화</a:t>
            </a:r>
          </a:p>
        </p:txBody>
      </p:sp>
      <p:sp>
        <p:nvSpPr>
          <p:cNvPr id="4" name="Rectangle 3"/>
          <p:cNvSpPr/>
          <p:nvPr/>
        </p:nvSpPr>
        <p:spPr>
          <a:xfrm>
            <a:off x="731520" y="7635240"/>
            <a:ext cx="13167360" cy="10972"/>
          </a:xfrm>
          <a:prstGeom prst="rect">
            <a:avLst/>
          </a:prstGeom>
          <a:solidFill>
            <a:srgbClr val="2940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7790688"/>
            <a:ext cx="6400800" cy="182880"/>
          </a:xfrm>
          <a:prstGeom prst="rect">
            <a:avLst/>
          </a:prstGeom>
          <a:noFill/>
        </p:spPr>
        <p:txBody>
          <a:bodyPr wrap="square" lIns="0" rIns="0" tIns="0" bIns="0">
            <a:spAutoFit/>
          </a:bodyPr>
          <a:lstStyle/>
          <a:p>
            <a:pPr>
              <a:spcAft>
                <a:spcPts val="1000"/>
              </a:spcAft>
              <a:defRPr sz="900" b="0">
                <a:solidFill>
                  <a:srgbClr val="8FA5B8"/>
                </a:solidFill>
                <a:latin typeface="Noto Sans CJK KR"/>
              </a:defRPr>
            </a:pPr>
            <a:r>
              <a:t>MASTERVOLT KOREA  /  INTEGRATED VESSEL SOLUTIONS</a:t>
            </a:r>
          </a:p>
        </p:txBody>
      </p:sp>
      <p:sp>
        <p:nvSpPr>
          <p:cNvPr id="6" name="TextBox 5"/>
          <p:cNvSpPr txBox="1"/>
          <p:nvPr/>
        </p:nvSpPr>
        <p:spPr>
          <a:xfrm>
            <a:off x="13167360" y="7754112"/>
            <a:ext cx="731520" cy="274320"/>
          </a:xfrm>
          <a:prstGeom prst="rect">
            <a:avLst/>
          </a:prstGeom>
          <a:noFill/>
        </p:spPr>
        <p:txBody>
          <a:bodyPr wrap="square" lIns="0" rIns="0" tIns="0" bIns="0">
            <a:spAutoFit/>
          </a:bodyPr>
          <a:lstStyle/>
          <a:p>
            <a:pPr>
              <a:spcAft>
                <a:spcPts val="1000"/>
              </a:spcAft>
              <a:defRPr sz="1100" b="0">
                <a:solidFill>
                  <a:srgbClr val="8FA5B8"/>
                </a:solidFill>
                <a:latin typeface="Noto Sans CJK KR"/>
              </a:defRPr>
            </a:pPr>
            <a:r>
              <a:t>05</a:t>
            </a:r>
          </a:p>
        </p:txBody>
      </p:sp>
      <p:sp>
        <p:nvSpPr>
          <p:cNvPr id="7" name="TextBox 6"/>
          <p:cNvSpPr txBox="1"/>
          <p:nvPr/>
        </p:nvSpPr>
        <p:spPr>
          <a:xfrm>
            <a:off x="731520" y="2560320"/>
            <a:ext cx="5486400" cy="1828800"/>
          </a:xfrm>
          <a:prstGeom prst="rect">
            <a:avLst/>
          </a:prstGeom>
          <a:noFill/>
        </p:spPr>
        <p:txBody>
          <a:bodyPr wrap="square" lIns="0" rIns="0" tIns="0" bIns="0">
            <a:spAutoFit/>
          </a:bodyPr>
          <a:lstStyle/>
          <a:p>
            <a:pPr>
              <a:spcAft>
                <a:spcPts val="1000"/>
              </a:spcAft>
              <a:defRPr sz="11200" b="1">
                <a:solidFill>
                  <a:srgbClr val="48D4DE"/>
                </a:solidFill>
                <a:latin typeface="Noto Sans CJK KR"/>
              </a:defRPr>
            </a:pPr>
            <a:r>
              <a:t>5</a:t>
            </a:r>
          </a:p>
        </p:txBody>
      </p:sp>
      <p:sp>
        <p:nvSpPr>
          <p:cNvPr id="8" name="TextBox 7"/>
          <p:cNvSpPr txBox="1"/>
          <p:nvPr/>
        </p:nvSpPr>
        <p:spPr>
          <a:xfrm>
            <a:off x="822960" y="4572000"/>
            <a:ext cx="5669280" cy="914400"/>
          </a:xfrm>
          <a:prstGeom prst="rect">
            <a:avLst/>
          </a:prstGeom>
          <a:noFill/>
        </p:spPr>
        <p:txBody>
          <a:bodyPr wrap="square" lIns="0" rIns="0" tIns="0" bIns="0">
            <a:spAutoFit/>
          </a:bodyPr>
          <a:lstStyle/>
          <a:p>
            <a:pPr>
              <a:spcAft>
                <a:spcPts val="1000"/>
              </a:spcAft>
              <a:defRPr sz="2200" b="0">
                <a:solidFill>
                  <a:srgbClr val="EFF4F8"/>
                </a:solidFill>
                <a:latin typeface="Noto Sans CJK KR"/>
              </a:defRPr>
            </a:pPr>
            <a:r>
              <a:t>관리선 A · B / 순시선 A · B / 작업선</a:t>
            </a:r>
          </a:p>
        </p:txBody>
      </p:sp>
      <p:sp>
        <p:nvSpPr>
          <p:cNvPr id="9" name="TextBox 8"/>
          <p:cNvSpPr txBox="1"/>
          <p:nvPr/>
        </p:nvSpPr>
        <p:spPr>
          <a:xfrm>
            <a:off x="7315200" y="2651760"/>
            <a:ext cx="6400800" cy="914400"/>
          </a:xfrm>
          <a:prstGeom prst="rect">
            <a:avLst/>
          </a:prstGeom>
          <a:noFill/>
        </p:spPr>
        <p:txBody>
          <a:bodyPr wrap="square" lIns="0" rIns="0" tIns="0" bIns="0">
            <a:spAutoFit/>
          </a:bodyPr>
          <a:lstStyle/>
          <a:p>
            <a:pPr>
              <a:spcAft>
                <a:spcPts val="1000"/>
              </a:spcAft>
              <a:defRPr sz="2800" b="1">
                <a:solidFill>
                  <a:srgbClr val="EFF4F8"/>
                </a:solidFill>
                <a:latin typeface="Noto Sans CJK KR"/>
              </a:defRPr>
            </a:pPr>
            <a:r>
              <a:t>기존 주요제원을 최대한 유지</a:t>
            </a:r>
          </a:p>
        </p:txBody>
      </p:sp>
      <p:sp>
        <p:nvSpPr>
          <p:cNvPr id="10" name="TextBox 9"/>
          <p:cNvSpPr txBox="1"/>
          <p:nvPr/>
        </p:nvSpPr>
        <p:spPr>
          <a:xfrm>
            <a:off x="7315200" y="4206240"/>
            <a:ext cx="6400800" cy="1828800"/>
          </a:xfrm>
          <a:prstGeom prst="rect">
            <a:avLst/>
          </a:prstGeom>
          <a:noFill/>
        </p:spPr>
        <p:txBody>
          <a:bodyPr wrap="square" lIns="0" rIns="0" tIns="0" bIns="0">
            <a:spAutoFit/>
          </a:bodyPr>
          <a:lstStyle/>
          <a:p>
            <a:pPr>
              <a:spcAft>
                <a:spcPts val="1000"/>
              </a:spcAft>
              <a:defRPr sz="2400" b="0">
                <a:solidFill>
                  <a:srgbClr val="8FA5B8"/>
                </a:solidFill>
                <a:latin typeface="Noto Sans CJK KR"/>
              </a:defRPr>
            </a:pPr>
            <a:r>
              <a:t>사업장별 실제 운항여건 반영</a:t>
            </a:r>
          </a:p>
          <a:p>
            <a:pPr>
              <a:spcAft>
                <a:spcPts val="1000"/>
              </a:spcAft>
              <a:defRPr sz="2400" b="0">
                <a:solidFill>
                  <a:srgbClr val="8FA5B8"/>
                </a:solidFill>
                <a:latin typeface="Noto Sans CJK KR"/>
              </a:defRPr>
            </a:pPr>
            <a:r>
              <a:t>친환경 추진 적용을 위한 요구성능 재정립</a:t>
            </a:r>
          </a:p>
        </p:txBody>
      </p:sp>
      <p:sp>
        <p:nvSpPr>
          <p:cNvPr id="11" name="TextBox 10"/>
          <p:cNvSpPr txBox="1"/>
          <p:nvPr/>
        </p:nvSpPr>
        <p:spPr>
          <a:xfrm>
            <a:off x="731520" y="6949440"/>
            <a:ext cx="12801600" cy="365760"/>
          </a:xfrm>
          <a:prstGeom prst="rect">
            <a:avLst/>
          </a:prstGeom>
          <a:noFill/>
        </p:spPr>
        <p:txBody>
          <a:bodyPr wrap="square" lIns="0" rIns="0" tIns="0" bIns="0">
            <a:spAutoFit/>
          </a:bodyPr>
          <a:lstStyle/>
          <a:p>
            <a:pPr>
              <a:spcAft>
                <a:spcPts val="1000"/>
              </a:spcAft>
              <a:defRPr sz="1300" b="0">
                <a:solidFill>
                  <a:srgbClr val="8FA5B8"/>
                </a:solidFill>
                <a:latin typeface="Noto Sans CJK KR"/>
              </a:defRPr>
            </a:pPr>
            <a:r>
              <a:t>REFERENCE / KRE 선박 표준화 검토자료</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A1420"/>
        </a:solidFill>
        <a:effectLst/>
      </p:bgPr>
    </p:bg>
    <p:spTree>
      <p:nvGrpSpPr>
        <p:cNvPr id="1" name=""/>
        <p:cNvGrpSpPr/>
        <p:nvPr/>
      </p:nvGrpSpPr>
      <p:grpSpPr/>
      <p:pic>
        <p:nvPicPr>
          <p:cNvPr id="56" name="Picture 55" descr="exec-f3ed2d79-5757-4445-a055-ec161376c4e6.png"/>
          <p:cNvPicPr>
            <a:picLocks noChangeAspect="1"/>
          </p:cNvPicPr>
          <p:nvPr/>
        </p:nvPicPr>
        <p:blipFill>
          <a:blip r:embed="rId3"/>
          <a:stretch>
            <a:fillRect/>
          </a:stretch>
        </p:blipFill>
        <p:spPr>
          <a:xfrm>
            <a:off x="0" y="0"/>
            <a:ext cx="14630400" cy="8229600"/>
          </a:xfrm>
          <a:prstGeom prst="rect">
            <a:avLst/>
          </a:prstGeom>
        </p:spPr>
      </p:pic>
      <p:sp>
        <p:nvSpPr>
          <p:cNvPr id="2" name="TextBox 1"/>
          <p:cNvSpPr txBox="1"/>
          <p:nvPr/>
        </p:nvSpPr>
        <p:spPr>
          <a:xfrm>
            <a:off x="731520" y="411480"/>
            <a:ext cx="12801600" cy="274320"/>
          </a:xfrm>
          <a:prstGeom prst="rect">
            <a:avLst/>
          </a:prstGeom>
          <a:noFill/>
        </p:spPr>
        <p:txBody>
          <a:bodyPr wrap="square" lIns="0" rIns="0" tIns="0" bIns="0">
            <a:spAutoFit/>
          </a:bodyPr>
          <a:lstStyle/>
          <a:p>
            <a:pPr>
              <a:spcAft>
                <a:spcPts val="1000"/>
              </a:spcAft>
              <a:defRPr sz="1100" b="0">
                <a:solidFill>
                  <a:srgbClr val="48D4DE"/>
                </a:solidFill>
                <a:latin typeface="Noto Sans CJK KR"/>
              </a:defRPr>
            </a:pPr>
            <a:r>
              <a:t>VESSEL STANDARDIZATION / BASELINE</a:t>
            </a:r>
          </a:p>
        </p:txBody>
      </p:sp>
      <p:sp>
        <p:nvSpPr>
          <p:cNvPr id="3" name="TextBox 2"/>
          <p:cNvSpPr txBox="1"/>
          <p:nvPr/>
        </p:nvSpPr>
        <p:spPr>
          <a:xfrm>
            <a:off x="731520" y="960120"/>
            <a:ext cx="13167360" cy="1097280"/>
          </a:xfrm>
          <a:prstGeom prst="rect">
            <a:avLst/>
          </a:prstGeom>
          <a:noFill/>
        </p:spPr>
        <p:txBody>
          <a:bodyPr wrap="square" lIns="0" rIns="0" tIns="0" bIns="0">
            <a:spAutoFit/>
          </a:bodyPr>
          <a:lstStyle/>
          <a:p>
            <a:pPr>
              <a:spcAft>
                <a:spcPts val="1000"/>
              </a:spcAft>
              <a:defRPr sz="3400" b="1">
                <a:solidFill>
                  <a:srgbClr val="EFF4F8"/>
                </a:solidFill>
                <a:latin typeface="Noto Sans CJK KR"/>
              </a:defRPr>
            </a:pPr>
            <a:r>
              <a:t>기존 선박의 주요제원</a:t>
            </a:r>
          </a:p>
        </p:txBody>
      </p:sp>
      <p:sp>
        <p:nvSpPr>
          <p:cNvPr id="4" name="Rectangle 3"/>
          <p:cNvSpPr/>
          <p:nvPr/>
        </p:nvSpPr>
        <p:spPr>
          <a:xfrm>
            <a:off x="731520" y="7635240"/>
            <a:ext cx="13167360" cy="10972"/>
          </a:xfrm>
          <a:prstGeom prst="rect">
            <a:avLst/>
          </a:prstGeom>
          <a:solidFill>
            <a:srgbClr val="2940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7790688"/>
            <a:ext cx="6400800" cy="182880"/>
          </a:xfrm>
          <a:prstGeom prst="rect">
            <a:avLst/>
          </a:prstGeom>
          <a:noFill/>
        </p:spPr>
        <p:txBody>
          <a:bodyPr wrap="square" lIns="0" rIns="0" tIns="0" bIns="0">
            <a:spAutoFit/>
          </a:bodyPr>
          <a:lstStyle/>
          <a:p>
            <a:pPr>
              <a:spcAft>
                <a:spcPts val="1000"/>
              </a:spcAft>
              <a:defRPr sz="900" b="0">
                <a:solidFill>
                  <a:srgbClr val="8FA5B8"/>
                </a:solidFill>
                <a:latin typeface="Noto Sans CJK KR"/>
              </a:defRPr>
            </a:pPr>
            <a:r>
              <a:t>MASTERVOLT KOREA  /  INTEGRATED VESSEL SOLUTIONS</a:t>
            </a:r>
          </a:p>
        </p:txBody>
      </p:sp>
      <p:sp>
        <p:nvSpPr>
          <p:cNvPr id="6" name="TextBox 5"/>
          <p:cNvSpPr txBox="1"/>
          <p:nvPr/>
        </p:nvSpPr>
        <p:spPr>
          <a:xfrm>
            <a:off x="13167360" y="7754112"/>
            <a:ext cx="731520" cy="274320"/>
          </a:xfrm>
          <a:prstGeom prst="rect">
            <a:avLst/>
          </a:prstGeom>
          <a:noFill/>
        </p:spPr>
        <p:txBody>
          <a:bodyPr wrap="square" lIns="0" rIns="0" tIns="0" bIns="0">
            <a:spAutoFit/>
          </a:bodyPr>
          <a:lstStyle/>
          <a:p>
            <a:pPr>
              <a:spcAft>
                <a:spcPts val="1000"/>
              </a:spcAft>
              <a:defRPr sz="1100" b="0">
                <a:solidFill>
                  <a:srgbClr val="8FA5B8"/>
                </a:solidFill>
                <a:latin typeface="Noto Sans CJK KR"/>
              </a:defRPr>
            </a:pPr>
            <a:r>
              <a:t>06</a:t>
            </a:r>
          </a:p>
        </p:txBody>
      </p:sp>
      <p:sp>
        <p:nvSpPr>
          <p:cNvPr id="7" name="TextBox 6"/>
          <p:cNvSpPr txBox="1"/>
          <p:nvPr/>
        </p:nvSpPr>
        <p:spPr>
          <a:xfrm>
            <a:off x="804672" y="2468880"/>
            <a:ext cx="2560320" cy="365760"/>
          </a:xfrm>
          <a:prstGeom prst="rect">
            <a:avLst/>
          </a:prstGeom>
          <a:noFill/>
        </p:spPr>
        <p:txBody>
          <a:bodyPr wrap="square" lIns="0" rIns="0" tIns="0" bIns="0">
            <a:spAutoFit/>
          </a:bodyPr>
          <a:lstStyle/>
          <a:p>
            <a:pPr>
              <a:spcAft>
                <a:spcPts val="1000"/>
              </a:spcAft>
              <a:defRPr sz="1600" b="1">
                <a:solidFill>
                  <a:srgbClr val="48D4DE"/>
                </a:solidFill>
                <a:latin typeface="Noto Sans CJK KR"/>
              </a:defRPr>
            </a:pPr>
            <a:r>
              <a:t>구분</a:t>
            </a:r>
          </a:p>
        </p:txBody>
      </p:sp>
      <p:sp>
        <p:nvSpPr>
          <p:cNvPr id="8" name="TextBox 7"/>
          <p:cNvSpPr txBox="1"/>
          <p:nvPr/>
        </p:nvSpPr>
        <p:spPr>
          <a:xfrm>
            <a:off x="3456432" y="2468880"/>
            <a:ext cx="2011679" cy="365760"/>
          </a:xfrm>
          <a:prstGeom prst="rect">
            <a:avLst/>
          </a:prstGeom>
          <a:noFill/>
        </p:spPr>
        <p:txBody>
          <a:bodyPr wrap="square" lIns="0" rIns="0" tIns="0" bIns="0">
            <a:spAutoFit/>
          </a:bodyPr>
          <a:lstStyle/>
          <a:p>
            <a:pPr>
              <a:spcAft>
                <a:spcPts val="1000"/>
              </a:spcAft>
              <a:defRPr sz="1600" b="1">
                <a:solidFill>
                  <a:srgbClr val="48D4DE"/>
                </a:solidFill>
                <a:latin typeface="Noto Sans CJK KR"/>
              </a:defRPr>
            </a:pPr>
            <a:r>
              <a:t>관리선 A</a:t>
            </a:r>
          </a:p>
        </p:txBody>
      </p:sp>
      <p:sp>
        <p:nvSpPr>
          <p:cNvPr id="9" name="TextBox 8"/>
          <p:cNvSpPr txBox="1"/>
          <p:nvPr/>
        </p:nvSpPr>
        <p:spPr>
          <a:xfrm>
            <a:off x="5559552" y="2468880"/>
            <a:ext cx="2011679" cy="365760"/>
          </a:xfrm>
          <a:prstGeom prst="rect">
            <a:avLst/>
          </a:prstGeom>
          <a:noFill/>
        </p:spPr>
        <p:txBody>
          <a:bodyPr wrap="square" lIns="0" rIns="0" tIns="0" bIns="0">
            <a:spAutoFit/>
          </a:bodyPr>
          <a:lstStyle/>
          <a:p>
            <a:pPr>
              <a:spcAft>
                <a:spcPts val="1000"/>
              </a:spcAft>
              <a:defRPr sz="1600" b="1">
                <a:solidFill>
                  <a:srgbClr val="48D4DE"/>
                </a:solidFill>
                <a:latin typeface="Noto Sans CJK KR"/>
              </a:defRPr>
            </a:pPr>
            <a:r>
              <a:t>관리선 B</a:t>
            </a:r>
          </a:p>
        </p:txBody>
      </p:sp>
      <p:sp>
        <p:nvSpPr>
          <p:cNvPr id="10" name="TextBox 9"/>
          <p:cNvSpPr txBox="1"/>
          <p:nvPr/>
        </p:nvSpPr>
        <p:spPr>
          <a:xfrm>
            <a:off x="7662672" y="2468880"/>
            <a:ext cx="2011679" cy="365760"/>
          </a:xfrm>
          <a:prstGeom prst="rect">
            <a:avLst/>
          </a:prstGeom>
          <a:noFill/>
        </p:spPr>
        <p:txBody>
          <a:bodyPr wrap="square" lIns="0" rIns="0" tIns="0" bIns="0">
            <a:spAutoFit/>
          </a:bodyPr>
          <a:lstStyle/>
          <a:p>
            <a:pPr>
              <a:spcAft>
                <a:spcPts val="1000"/>
              </a:spcAft>
              <a:defRPr sz="1600" b="1">
                <a:solidFill>
                  <a:srgbClr val="48D4DE"/>
                </a:solidFill>
                <a:latin typeface="Noto Sans CJK KR"/>
              </a:defRPr>
            </a:pPr>
            <a:r>
              <a:t>순시선 A</a:t>
            </a:r>
          </a:p>
        </p:txBody>
      </p:sp>
      <p:sp>
        <p:nvSpPr>
          <p:cNvPr id="11" name="TextBox 10"/>
          <p:cNvSpPr txBox="1"/>
          <p:nvPr/>
        </p:nvSpPr>
        <p:spPr>
          <a:xfrm>
            <a:off x="9765792" y="2468880"/>
            <a:ext cx="2011679" cy="365760"/>
          </a:xfrm>
          <a:prstGeom prst="rect">
            <a:avLst/>
          </a:prstGeom>
          <a:noFill/>
        </p:spPr>
        <p:txBody>
          <a:bodyPr wrap="square" lIns="0" rIns="0" tIns="0" bIns="0">
            <a:spAutoFit/>
          </a:bodyPr>
          <a:lstStyle/>
          <a:p>
            <a:pPr>
              <a:spcAft>
                <a:spcPts val="1000"/>
              </a:spcAft>
              <a:defRPr sz="1600" b="1">
                <a:solidFill>
                  <a:srgbClr val="48D4DE"/>
                </a:solidFill>
                <a:latin typeface="Noto Sans CJK KR"/>
              </a:defRPr>
            </a:pPr>
            <a:r>
              <a:t>순시선 B</a:t>
            </a:r>
          </a:p>
        </p:txBody>
      </p:sp>
      <p:sp>
        <p:nvSpPr>
          <p:cNvPr id="12" name="TextBox 11"/>
          <p:cNvSpPr txBox="1"/>
          <p:nvPr/>
        </p:nvSpPr>
        <p:spPr>
          <a:xfrm>
            <a:off x="11868912" y="2468880"/>
            <a:ext cx="2011679" cy="365760"/>
          </a:xfrm>
          <a:prstGeom prst="rect">
            <a:avLst/>
          </a:prstGeom>
          <a:noFill/>
        </p:spPr>
        <p:txBody>
          <a:bodyPr wrap="square" lIns="0" rIns="0" tIns="0" bIns="0">
            <a:spAutoFit/>
          </a:bodyPr>
          <a:lstStyle/>
          <a:p>
            <a:pPr>
              <a:spcAft>
                <a:spcPts val="1000"/>
              </a:spcAft>
              <a:defRPr sz="1600" b="1">
                <a:solidFill>
                  <a:srgbClr val="48D4DE"/>
                </a:solidFill>
                <a:latin typeface="Noto Sans CJK KR"/>
              </a:defRPr>
            </a:pPr>
            <a:r>
              <a:t>작업선</a:t>
            </a:r>
          </a:p>
        </p:txBody>
      </p:sp>
      <p:sp>
        <p:nvSpPr>
          <p:cNvPr id="13" name="Rectangle 12"/>
          <p:cNvSpPr/>
          <p:nvPr/>
        </p:nvSpPr>
        <p:spPr>
          <a:xfrm>
            <a:off x="731520" y="2953512"/>
            <a:ext cx="13167360" cy="9144"/>
          </a:xfrm>
          <a:prstGeom prst="rect">
            <a:avLst/>
          </a:prstGeom>
          <a:solidFill>
            <a:srgbClr val="2940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04672" y="3035808"/>
            <a:ext cx="2560320" cy="365760"/>
          </a:xfrm>
          <a:prstGeom prst="rect">
            <a:avLst/>
          </a:prstGeom>
          <a:noFill/>
        </p:spPr>
        <p:txBody>
          <a:bodyPr wrap="square" lIns="0" rIns="0" tIns="0" bIns="0">
            <a:spAutoFit/>
          </a:bodyPr>
          <a:lstStyle/>
          <a:p>
            <a:pPr>
              <a:spcAft>
                <a:spcPts val="1000"/>
              </a:spcAft>
              <a:defRPr sz="1500" b="0">
                <a:solidFill>
                  <a:srgbClr val="8FA5B8"/>
                </a:solidFill>
                <a:latin typeface="Noto Sans CJK KR"/>
              </a:defRPr>
            </a:pPr>
            <a:r>
              <a:t>총톤수 [톤]</a:t>
            </a:r>
          </a:p>
        </p:txBody>
      </p:sp>
      <p:sp>
        <p:nvSpPr>
          <p:cNvPr id="15" name="TextBox 14"/>
          <p:cNvSpPr txBox="1"/>
          <p:nvPr/>
        </p:nvSpPr>
        <p:spPr>
          <a:xfrm>
            <a:off x="3456432" y="3035808"/>
            <a:ext cx="1920240" cy="402336"/>
          </a:xfrm>
          <a:prstGeom prst="rect">
            <a:avLst/>
          </a:prstGeom>
          <a:noFill/>
        </p:spPr>
        <p:txBody>
          <a:bodyPr wrap="square" lIns="0" rIns="0" tIns="0" bIns="0">
            <a:spAutoFit/>
          </a:bodyPr>
          <a:lstStyle/>
          <a:p>
            <a:pPr>
              <a:spcAft>
                <a:spcPts val="1000"/>
              </a:spcAft>
              <a:defRPr sz="1700" b="0">
                <a:solidFill>
                  <a:srgbClr val="EFF4F8"/>
                </a:solidFill>
                <a:latin typeface="Noto Sans CJK KR"/>
              </a:defRPr>
            </a:pPr>
            <a:r>
              <a:t>19</a:t>
            </a:r>
          </a:p>
        </p:txBody>
      </p:sp>
      <p:sp>
        <p:nvSpPr>
          <p:cNvPr id="16" name="TextBox 15"/>
          <p:cNvSpPr txBox="1"/>
          <p:nvPr/>
        </p:nvSpPr>
        <p:spPr>
          <a:xfrm>
            <a:off x="5559552" y="3035808"/>
            <a:ext cx="1920240" cy="402336"/>
          </a:xfrm>
          <a:prstGeom prst="rect">
            <a:avLst/>
          </a:prstGeom>
          <a:noFill/>
        </p:spPr>
        <p:txBody>
          <a:bodyPr wrap="square" lIns="0" rIns="0" tIns="0" bIns="0">
            <a:spAutoFit/>
          </a:bodyPr>
          <a:lstStyle/>
          <a:p>
            <a:pPr>
              <a:spcAft>
                <a:spcPts val="1000"/>
              </a:spcAft>
              <a:defRPr sz="1700" b="0">
                <a:solidFill>
                  <a:srgbClr val="EFF4F8"/>
                </a:solidFill>
                <a:latin typeface="Noto Sans CJK KR"/>
              </a:defRPr>
            </a:pPr>
            <a:r>
              <a:t>9.77</a:t>
            </a:r>
          </a:p>
        </p:txBody>
      </p:sp>
      <p:sp>
        <p:nvSpPr>
          <p:cNvPr id="17" name="TextBox 16"/>
          <p:cNvSpPr txBox="1"/>
          <p:nvPr/>
        </p:nvSpPr>
        <p:spPr>
          <a:xfrm>
            <a:off x="7662672" y="3035808"/>
            <a:ext cx="1920240" cy="402336"/>
          </a:xfrm>
          <a:prstGeom prst="rect">
            <a:avLst/>
          </a:prstGeom>
          <a:noFill/>
        </p:spPr>
        <p:txBody>
          <a:bodyPr wrap="square" lIns="0" rIns="0" tIns="0" bIns="0">
            <a:spAutoFit/>
          </a:bodyPr>
          <a:lstStyle/>
          <a:p>
            <a:pPr>
              <a:spcAft>
                <a:spcPts val="1000"/>
              </a:spcAft>
              <a:defRPr sz="1700" b="0">
                <a:solidFill>
                  <a:srgbClr val="EFF4F8"/>
                </a:solidFill>
                <a:latin typeface="Noto Sans CJK KR"/>
              </a:defRPr>
            </a:pPr>
            <a:r>
              <a:t>5.13</a:t>
            </a:r>
          </a:p>
        </p:txBody>
      </p:sp>
      <p:sp>
        <p:nvSpPr>
          <p:cNvPr id="18" name="TextBox 17"/>
          <p:cNvSpPr txBox="1"/>
          <p:nvPr/>
        </p:nvSpPr>
        <p:spPr>
          <a:xfrm>
            <a:off x="9765792" y="3035808"/>
            <a:ext cx="1920240" cy="402336"/>
          </a:xfrm>
          <a:prstGeom prst="rect">
            <a:avLst/>
          </a:prstGeom>
          <a:noFill/>
        </p:spPr>
        <p:txBody>
          <a:bodyPr wrap="square" lIns="0" rIns="0" tIns="0" bIns="0">
            <a:spAutoFit/>
          </a:bodyPr>
          <a:lstStyle/>
          <a:p>
            <a:pPr>
              <a:spcAft>
                <a:spcPts val="1000"/>
              </a:spcAft>
              <a:defRPr sz="1700" b="0">
                <a:solidFill>
                  <a:srgbClr val="EFF4F8"/>
                </a:solidFill>
                <a:latin typeface="Noto Sans CJK KR"/>
              </a:defRPr>
            </a:pPr>
            <a:r>
              <a:t>2.98</a:t>
            </a:r>
          </a:p>
        </p:txBody>
      </p:sp>
      <p:sp>
        <p:nvSpPr>
          <p:cNvPr id="19" name="TextBox 18"/>
          <p:cNvSpPr txBox="1"/>
          <p:nvPr/>
        </p:nvSpPr>
        <p:spPr>
          <a:xfrm>
            <a:off x="11868912" y="3035808"/>
            <a:ext cx="1920240" cy="402336"/>
          </a:xfrm>
          <a:prstGeom prst="rect">
            <a:avLst/>
          </a:prstGeom>
          <a:noFill/>
        </p:spPr>
        <p:txBody>
          <a:bodyPr wrap="square" lIns="0" rIns="0" tIns="0" bIns="0">
            <a:spAutoFit/>
          </a:bodyPr>
          <a:lstStyle/>
          <a:p>
            <a:pPr>
              <a:spcAft>
                <a:spcPts val="1000"/>
              </a:spcAft>
              <a:defRPr sz="1700" b="0">
                <a:solidFill>
                  <a:srgbClr val="EFF4F8"/>
                </a:solidFill>
                <a:latin typeface="Noto Sans CJK KR"/>
              </a:defRPr>
            </a:pPr>
            <a:r>
              <a:t>3.71</a:t>
            </a:r>
          </a:p>
        </p:txBody>
      </p:sp>
      <p:sp>
        <p:nvSpPr>
          <p:cNvPr id="20" name="Rectangle 19"/>
          <p:cNvSpPr/>
          <p:nvPr/>
        </p:nvSpPr>
        <p:spPr>
          <a:xfrm>
            <a:off x="731520" y="3493008"/>
            <a:ext cx="13167360" cy="9144"/>
          </a:xfrm>
          <a:prstGeom prst="rect">
            <a:avLst/>
          </a:prstGeom>
          <a:solidFill>
            <a:srgbClr val="2940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04672" y="3575304"/>
            <a:ext cx="2560320" cy="365760"/>
          </a:xfrm>
          <a:prstGeom prst="rect">
            <a:avLst/>
          </a:prstGeom>
          <a:noFill/>
        </p:spPr>
        <p:txBody>
          <a:bodyPr wrap="square" lIns="0" rIns="0" tIns="0" bIns="0">
            <a:spAutoFit/>
          </a:bodyPr>
          <a:lstStyle/>
          <a:p>
            <a:pPr>
              <a:spcAft>
                <a:spcPts val="1000"/>
              </a:spcAft>
              <a:defRPr sz="1500" b="0">
                <a:solidFill>
                  <a:srgbClr val="8FA5B8"/>
                </a:solidFill>
                <a:latin typeface="Noto Sans CJK KR"/>
              </a:defRPr>
            </a:pPr>
            <a:r>
              <a:t>전장 [m]</a:t>
            </a:r>
          </a:p>
        </p:txBody>
      </p:sp>
      <p:sp>
        <p:nvSpPr>
          <p:cNvPr id="22" name="TextBox 21"/>
          <p:cNvSpPr txBox="1"/>
          <p:nvPr/>
        </p:nvSpPr>
        <p:spPr>
          <a:xfrm>
            <a:off x="3456432" y="3575304"/>
            <a:ext cx="1920240" cy="402336"/>
          </a:xfrm>
          <a:prstGeom prst="rect">
            <a:avLst/>
          </a:prstGeom>
          <a:noFill/>
        </p:spPr>
        <p:txBody>
          <a:bodyPr wrap="square" lIns="0" rIns="0" tIns="0" bIns="0">
            <a:spAutoFit/>
          </a:bodyPr>
          <a:lstStyle/>
          <a:p>
            <a:pPr>
              <a:spcAft>
                <a:spcPts val="1000"/>
              </a:spcAft>
              <a:defRPr sz="1700" b="0">
                <a:solidFill>
                  <a:srgbClr val="EFF4F8"/>
                </a:solidFill>
                <a:latin typeface="Noto Sans CJK KR"/>
              </a:defRPr>
            </a:pPr>
            <a:r>
              <a:t>17.00</a:t>
            </a:r>
          </a:p>
        </p:txBody>
      </p:sp>
      <p:sp>
        <p:nvSpPr>
          <p:cNvPr id="23" name="TextBox 22"/>
          <p:cNvSpPr txBox="1"/>
          <p:nvPr/>
        </p:nvSpPr>
        <p:spPr>
          <a:xfrm>
            <a:off x="5559552" y="3575304"/>
            <a:ext cx="1920240" cy="402336"/>
          </a:xfrm>
          <a:prstGeom prst="rect">
            <a:avLst/>
          </a:prstGeom>
          <a:noFill/>
        </p:spPr>
        <p:txBody>
          <a:bodyPr wrap="square" lIns="0" rIns="0" tIns="0" bIns="0">
            <a:spAutoFit/>
          </a:bodyPr>
          <a:lstStyle/>
          <a:p>
            <a:pPr>
              <a:spcAft>
                <a:spcPts val="1000"/>
              </a:spcAft>
              <a:defRPr sz="1700" b="0">
                <a:solidFill>
                  <a:srgbClr val="EFF4F8"/>
                </a:solidFill>
                <a:latin typeface="Noto Sans CJK KR"/>
              </a:defRPr>
            </a:pPr>
            <a:r>
              <a:t>14.15</a:t>
            </a:r>
          </a:p>
        </p:txBody>
      </p:sp>
      <p:sp>
        <p:nvSpPr>
          <p:cNvPr id="24" name="TextBox 23"/>
          <p:cNvSpPr txBox="1"/>
          <p:nvPr/>
        </p:nvSpPr>
        <p:spPr>
          <a:xfrm>
            <a:off x="7662672" y="3575304"/>
            <a:ext cx="1920240" cy="402336"/>
          </a:xfrm>
          <a:prstGeom prst="rect">
            <a:avLst/>
          </a:prstGeom>
          <a:noFill/>
        </p:spPr>
        <p:txBody>
          <a:bodyPr wrap="square" lIns="0" rIns="0" tIns="0" bIns="0">
            <a:spAutoFit/>
          </a:bodyPr>
          <a:lstStyle/>
          <a:p>
            <a:pPr>
              <a:spcAft>
                <a:spcPts val="1000"/>
              </a:spcAft>
              <a:defRPr sz="1700" b="0">
                <a:solidFill>
                  <a:srgbClr val="EFF4F8"/>
                </a:solidFill>
                <a:latin typeface="Noto Sans CJK KR"/>
              </a:defRPr>
            </a:pPr>
            <a:r>
              <a:t>10.04</a:t>
            </a:r>
          </a:p>
        </p:txBody>
      </p:sp>
      <p:sp>
        <p:nvSpPr>
          <p:cNvPr id="25" name="TextBox 24"/>
          <p:cNvSpPr txBox="1"/>
          <p:nvPr/>
        </p:nvSpPr>
        <p:spPr>
          <a:xfrm>
            <a:off x="9765792" y="3575304"/>
            <a:ext cx="1920240" cy="402336"/>
          </a:xfrm>
          <a:prstGeom prst="rect">
            <a:avLst/>
          </a:prstGeom>
          <a:noFill/>
        </p:spPr>
        <p:txBody>
          <a:bodyPr wrap="square" lIns="0" rIns="0" tIns="0" bIns="0">
            <a:spAutoFit/>
          </a:bodyPr>
          <a:lstStyle/>
          <a:p>
            <a:pPr>
              <a:spcAft>
                <a:spcPts val="1000"/>
              </a:spcAft>
              <a:defRPr sz="1700" b="0">
                <a:solidFill>
                  <a:srgbClr val="EFF4F8"/>
                </a:solidFill>
                <a:latin typeface="Noto Sans CJK KR"/>
              </a:defRPr>
            </a:pPr>
            <a:r>
              <a:t>7.99</a:t>
            </a:r>
          </a:p>
        </p:txBody>
      </p:sp>
      <p:sp>
        <p:nvSpPr>
          <p:cNvPr id="26" name="TextBox 25"/>
          <p:cNvSpPr txBox="1"/>
          <p:nvPr/>
        </p:nvSpPr>
        <p:spPr>
          <a:xfrm>
            <a:off x="11868912" y="3575304"/>
            <a:ext cx="1920240" cy="402336"/>
          </a:xfrm>
          <a:prstGeom prst="rect">
            <a:avLst/>
          </a:prstGeom>
          <a:noFill/>
        </p:spPr>
        <p:txBody>
          <a:bodyPr wrap="square" lIns="0" rIns="0" tIns="0" bIns="0">
            <a:spAutoFit/>
          </a:bodyPr>
          <a:lstStyle/>
          <a:p>
            <a:pPr>
              <a:spcAft>
                <a:spcPts val="1000"/>
              </a:spcAft>
              <a:defRPr sz="1700" b="0">
                <a:solidFill>
                  <a:srgbClr val="EFF4F8"/>
                </a:solidFill>
                <a:latin typeface="Noto Sans CJK KR"/>
              </a:defRPr>
            </a:pPr>
            <a:r>
              <a:t>9.1</a:t>
            </a:r>
          </a:p>
        </p:txBody>
      </p:sp>
      <p:sp>
        <p:nvSpPr>
          <p:cNvPr id="27" name="Rectangle 26"/>
          <p:cNvSpPr/>
          <p:nvPr/>
        </p:nvSpPr>
        <p:spPr>
          <a:xfrm>
            <a:off x="731520" y="4032504"/>
            <a:ext cx="13167360" cy="9144"/>
          </a:xfrm>
          <a:prstGeom prst="rect">
            <a:avLst/>
          </a:prstGeom>
          <a:solidFill>
            <a:srgbClr val="2940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04672" y="4114800"/>
            <a:ext cx="2560320" cy="365760"/>
          </a:xfrm>
          <a:prstGeom prst="rect">
            <a:avLst/>
          </a:prstGeom>
          <a:noFill/>
        </p:spPr>
        <p:txBody>
          <a:bodyPr wrap="square" lIns="0" rIns="0" tIns="0" bIns="0">
            <a:spAutoFit/>
          </a:bodyPr>
          <a:lstStyle/>
          <a:p>
            <a:pPr>
              <a:spcAft>
                <a:spcPts val="1000"/>
              </a:spcAft>
              <a:defRPr sz="1500" b="0">
                <a:solidFill>
                  <a:srgbClr val="8FA5B8"/>
                </a:solidFill>
                <a:latin typeface="Noto Sans CJK KR"/>
              </a:defRPr>
            </a:pPr>
            <a:r>
              <a:t>형폭 [m]</a:t>
            </a:r>
          </a:p>
        </p:txBody>
      </p:sp>
      <p:sp>
        <p:nvSpPr>
          <p:cNvPr id="29" name="TextBox 28"/>
          <p:cNvSpPr txBox="1"/>
          <p:nvPr/>
        </p:nvSpPr>
        <p:spPr>
          <a:xfrm>
            <a:off x="3456432" y="4114800"/>
            <a:ext cx="1920240" cy="402336"/>
          </a:xfrm>
          <a:prstGeom prst="rect">
            <a:avLst/>
          </a:prstGeom>
          <a:noFill/>
        </p:spPr>
        <p:txBody>
          <a:bodyPr wrap="square" lIns="0" rIns="0" tIns="0" bIns="0">
            <a:spAutoFit/>
          </a:bodyPr>
          <a:lstStyle/>
          <a:p>
            <a:pPr>
              <a:spcAft>
                <a:spcPts val="1000"/>
              </a:spcAft>
              <a:defRPr sz="1700" b="0">
                <a:solidFill>
                  <a:srgbClr val="EFF4F8"/>
                </a:solidFill>
                <a:latin typeface="Noto Sans CJK KR"/>
              </a:defRPr>
            </a:pPr>
            <a:r>
              <a:t>6.30</a:t>
            </a:r>
          </a:p>
        </p:txBody>
      </p:sp>
      <p:sp>
        <p:nvSpPr>
          <p:cNvPr id="30" name="TextBox 29"/>
          <p:cNvSpPr txBox="1"/>
          <p:nvPr/>
        </p:nvSpPr>
        <p:spPr>
          <a:xfrm>
            <a:off x="5559552" y="4114800"/>
            <a:ext cx="1920240" cy="402336"/>
          </a:xfrm>
          <a:prstGeom prst="rect">
            <a:avLst/>
          </a:prstGeom>
          <a:noFill/>
        </p:spPr>
        <p:txBody>
          <a:bodyPr wrap="square" lIns="0" rIns="0" tIns="0" bIns="0">
            <a:spAutoFit/>
          </a:bodyPr>
          <a:lstStyle/>
          <a:p>
            <a:pPr>
              <a:spcAft>
                <a:spcPts val="1000"/>
              </a:spcAft>
              <a:defRPr sz="1700" b="0">
                <a:solidFill>
                  <a:srgbClr val="EFF4F8"/>
                </a:solidFill>
                <a:latin typeface="Noto Sans CJK KR"/>
              </a:defRPr>
            </a:pPr>
            <a:r>
              <a:t>3.30</a:t>
            </a:r>
          </a:p>
        </p:txBody>
      </p:sp>
      <p:sp>
        <p:nvSpPr>
          <p:cNvPr id="31" name="TextBox 30"/>
          <p:cNvSpPr txBox="1"/>
          <p:nvPr/>
        </p:nvSpPr>
        <p:spPr>
          <a:xfrm>
            <a:off x="7662672" y="4114800"/>
            <a:ext cx="1920240" cy="402336"/>
          </a:xfrm>
          <a:prstGeom prst="rect">
            <a:avLst/>
          </a:prstGeom>
          <a:noFill/>
        </p:spPr>
        <p:txBody>
          <a:bodyPr wrap="square" lIns="0" rIns="0" tIns="0" bIns="0">
            <a:spAutoFit/>
          </a:bodyPr>
          <a:lstStyle/>
          <a:p>
            <a:pPr>
              <a:spcAft>
                <a:spcPts val="1000"/>
              </a:spcAft>
              <a:defRPr sz="1700" b="0">
                <a:solidFill>
                  <a:srgbClr val="EFF4F8"/>
                </a:solidFill>
                <a:latin typeface="Noto Sans CJK KR"/>
              </a:defRPr>
            </a:pPr>
            <a:r>
              <a:t>2.80</a:t>
            </a:r>
          </a:p>
        </p:txBody>
      </p:sp>
      <p:sp>
        <p:nvSpPr>
          <p:cNvPr id="32" name="TextBox 31"/>
          <p:cNvSpPr txBox="1"/>
          <p:nvPr/>
        </p:nvSpPr>
        <p:spPr>
          <a:xfrm>
            <a:off x="9765792" y="4114800"/>
            <a:ext cx="1920240" cy="402336"/>
          </a:xfrm>
          <a:prstGeom prst="rect">
            <a:avLst/>
          </a:prstGeom>
          <a:noFill/>
        </p:spPr>
        <p:txBody>
          <a:bodyPr wrap="square" lIns="0" rIns="0" tIns="0" bIns="0">
            <a:spAutoFit/>
          </a:bodyPr>
          <a:lstStyle/>
          <a:p>
            <a:pPr>
              <a:spcAft>
                <a:spcPts val="1000"/>
              </a:spcAft>
              <a:defRPr sz="1700" b="0">
                <a:solidFill>
                  <a:srgbClr val="EFF4F8"/>
                </a:solidFill>
                <a:latin typeface="Noto Sans CJK KR"/>
              </a:defRPr>
            </a:pPr>
            <a:r>
              <a:t>2.30</a:t>
            </a:r>
          </a:p>
        </p:txBody>
      </p:sp>
      <p:sp>
        <p:nvSpPr>
          <p:cNvPr id="33" name="TextBox 32"/>
          <p:cNvSpPr txBox="1"/>
          <p:nvPr/>
        </p:nvSpPr>
        <p:spPr>
          <a:xfrm>
            <a:off x="11868912" y="4114800"/>
            <a:ext cx="1920240" cy="402336"/>
          </a:xfrm>
          <a:prstGeom prst="rect">
            <a:avLst/>
          </a:prstGeom>
          <a:noFill/>
        </p:spPr>
        <p:txBody>
          <a:bodyPr wrap="square" lIns="0" rIns="0" tIns="0" bIns="0">
            <a:spAutoFit/>
          </a:bodyPr>
          <a:lstStyle/>
          <a:p>
            <a:pPr>
              <a:spcAft>
                <a:spcPts val="1000"/>
              </a:spcAft>
              <a:defRPr sz="1700" b="0">
                <a:solidFill>
                  <a:srgbClr val="EFF4F8"/>
                </a:solidFill>
                <a:latin typeface="Noto Sans CJK KR"/>
              </a:defRPr>
            </a:pPr>
            <a:r>
              <a:t>3.00</a:t>
            </a:r>
          </a:p>
        </p:txBody>
      </p:sp>
      <p:sp>
        <p:nvSpPr>
          <p:cNvPr id="34" name="Rectangle 33"/>
          <p:cNvSpPr/>
          <p:nvPr/>
        </p:nvSpPr>
        <p:spPr>
          <a:xfrm>
            <a:off x="731520" y="4572000"/>
            <a:ext cx="13167360" cy="9144"/>
          </a:xfrm>
          <a:prstGeom prst="rect">
            <a:avLst/>
          </a:prstGeom>
          <a:solidFill>
            <a:srgbClr val="2940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04672" y="4654296"/>
            <a:ext cx="2560320" cy="365760"/>
          </a:xfrm>
          <a:prstGeom prst="rect">
            <a:avLst/>
          </a:prstGeom>
          <a:noFill/>
        </p:spPr>
        <p:txBody>
          <a:bodyPr wrap="square" lIns="0" rIns="0" tIns="0" bIns="0">
            <a:spAutoFit/>
          </a:bodyPr>
          <a:lstStyle/>
          <a:p>
            <a:pPr>
              <a:spcAft>
                <a:spcPts val="1000"/>
              </a:spcAft>
              <a:defRPr sz="1500" b="0">
                <a:solidFill>
                  <a:srgbClr val="8FA5B8"/>
                </a:solidFill>
                <a:latin typeface="Noto Sans CJK KR"/>
              </a:defRPr>
            </a:pPr>
            <a:r>
              <a:t>형심 [m]</a:t>
            </a:r>
          </a:p>
        </p:txBody>
      </p:sp>
      <p:sp>
        <p:nvSpPr>
          <p:cNvPr id="36" name="TextBox 35"/>
          <p:cNvSpPr txBox="1"/>
          <p:nvPr/>
        </p:nvSpPr>
        <p:spPr>
          <a:xfrm>
            <a:off x="3456432" y="4654296"/>
            <a:ext cx="1920240" cy="402336"/>
          </a:xfrm>
          <a:prstGeom prst="rect">
            <a:avLst/>
          </a:prstGeom>
          <a:noFill/>
        </p:spPr>
        <p:txBody>
          <a:bodyPr wrap="square" lIns="0" rIns="0" tIns="0" bIns="0">
            <a:spAutoFit/>
          </a:bodyPr>
          <a:lstStyle/>
          <a:p>
            <a:pPr>
              <a:spcAft>
                <a:spcPts val="1000"/>
              </a:spcAft>
              <a:defRPr sz="1700" b="0">
                <a:solidFill>
                  <a:srgbClr val="EFF4F8"/>
                </a:solidFill>
                <a:latin typeface="Noto Sans CJK KR"/>
              </a:defRPr>
            </a:pPr>
            <a:r>
              <a:t>1.50</a:t>
            </a:r>
          </a:p>
        </p:txBody>
      </p:sp>
      <p:sp>
        <p:nvSpPr>
          <p:cNvPr id="37" name="TextBox 36"/>
          <p:cNvSpPr txBox="1"/>
          <p:nvPr/>
        </p:nvSpPr>
        <p:spPr>
          <a:xfrm>
            <a:off x="5559552" y="4654296"/>
            <a:ext cx="1920240" cy="402336"/>
          </a:xfrm>
          <a:prstGeom prst="rect">
            <a:avLst/>
          </a:prstGeom>
          <a:noFill/>
        </p:spPr>
        <p:txBody>
          <a:bodyPr wrap="square" lIns="0" rIns="0" tIns="0" bIns="0">
            <a:spAutoFit/>
          </a:bodyPr>
          <a:lstStyle/>
          <a:p>
            <a:pPr>
              <a:spcAft>
                <a:spcPts val="1000"/>
              </a:spcAft>
              <a:defRPr sz="1700" b="0">
                <a:solidFill>
                  <a:srgbClr val="EFF4F8"/>
                </a:solidFill>
                <a:latin typeface="Noto Sans CJK KR"/>
              </a:defRPr>
            </a:pPr>
            <a:r>
              <a:t>1.00</a:t>
            </a:r>
          </a:p>
        </p:txBody>
      </p:sp>
      <p:sp>
        <p:nvSpPr>
          <p:cNvPr id="38" name="TextBox 37"/>
          <p:cNvSpPr txBox="1"/>
          <p:nvPr/>
        </p:nvSpPr>
        <p:spPr>
          <a:xfrm>
            <a:off x="7662672" y="4654296"/>
            <a:ext cx="1920240" cy="402336"/>
          </a:xfrm>
          <a:prstGeom prst="rect">
            <a:avLst/>
          </a:prstGeom>
          <a:noFill/>
        </p:spPr>
        <p:txBody>
          <a:bodyPr wrap="square" lIns="0" rIns="0" tIns="0" bIns="0">
            <a:spAutoFit/>
          </a:bodyPr>
          <a:lstStyle/>
          <a:p>
            <a:pPr>
              <a:spcAft>
                <a:spcPts val="1000"/>
              </a:spcAft>
              <a:defRPr sz="1700" b="0">
                <a:solidFill>
                  <a:srgbClr val="EFF4F8"/>
                </a:solidFill>
                <a:latin typeface="Noto Sans CJK KR"/>
              </a:defRPr>
            </a:pPr>
            <a:r>
              <a:t>0.80</a:t>
            </a:r>
          </a:p>
        </p:txBody>
      </p:sp>
      <p:sp>
        <p:nvSpPr>
          <p:cNvPr id="39" name="TextBox 38"/>
          <p:cNvSpPr txBox="1"/>
          <p:nvPr/>
        </p:nvSpPr>
        <p:spPr>
          <a:xfrm>
            <a:off x="9765792" y="4654296"/>
            <a:ext cx="1920240" cy="402336"/>
          </a:xfrm>
          <a:prstGeom prst="rect">
            <a:avLst/>
          </a:prstGeom>
          <a:noFill/>
        </p:spPr>
        <p:txBody>
          <a:bodyPr wrap="square" lIns="0" rIns="0" tIns="0" bIns="0">
            <a:spAutoFit/>
          </a:bodyPr>
          <a:lstStyle/>
          <a:p>
            <a:pPr>
              <a:spcAft>
                <a:spcPts val="1000"/>
              </a:spcAft>
              <a:defRPr sz="1700" b="0">
                <a:solidFill>
                  <a:srgbClr val="EFF4F8"/>
                </a:solidFill>
                <a:latin typeface="Noto Sans CJK KR"/>
              </a:defRPr>
            </a:pPr>
            <a:r>
              <a:t>0.70</a:t>
            </a:r>
          </a:p>
        </p:txBody>
      </p:sp>
      <p:sp>
        <p:nvSpPr>
          <p:cNvPr id="40" name="TextBox 39"/>
          <p:cNvSpPr txBox="1"/>
          <p:nvPr/>
        </p:nvSpPr>
        <p:spPr>
          <a:xfrm>
            <a:off x="11868912" y="4654296"/>
            <a:ext cx="1920240" cy="402336"/>
          </a:xfrm>
          <a:prstGeom prst="rect">
            <a:avLst/>
          </a:prstGeom>
          <a:noFill/>
        </p:spPr>
        <p:txBody>
          <a:bodyPr wrap="square" lIns="0" rIns="0" tIns="0" bIns="0">
            <a:spAutoFit/>
          </a:bodyPr>
          <a:lstStyle/>
          <a:p>
            <a:pPr>
              <a:spcAft>
                <a:spcPts val="1000"/>
              </a:spcAft>
              <a:defRPr sz="1700" b="0">
                <a:solidFill>
                  <a:srgbClr val="EFF4F8"/>
                </a:solidFill>
                <a:latin typeface="Noto Sans CJK KR"/>
              </a:defRPr>
            </a:pPr>
            <a:r>
              <a:t>0.70</a:t>
            </a:r>
          </a:p>
        </p:txBody>
      </p:sp>
      <p:sp>
        <p:nvSpPr>
          <p:cNvPr id="41" name="Rectangle 40"/>
          <p:cNvSpPr/>
          <p:nvPr/>
        </p:nvSpPr>
        <p:spPr>
          <a:xfrm>
            <a:off x="731520" y="5111496"/>
            <a:ext cx="13167360" cy="9144"/>
          </a:xfrm>
          <a:prstGeom prst="rect">
            <a:avLst/>
          </a:prstGeom>
          <a:solidFill>
            <a:srgbClr val="2940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804672" y="5193792"/>
            <a:ext cx="2560320" cy="365760"/>
          </a:xfrm>
          <a:prstGeom prst="rect">
            <a:avLst/>
          </a:prstGeom>
          <a:noFill/>
        </p:spPr>
        <p:txBody>
          <a:bodyPr wrap="square" lIns="0" rIns="0" tIns="0" bIns="0">
            <a:spAutoFit/>
          </a:bodyPr>
          <a:lstStyle/>
          <a:p>
            <a:pPr>
              <a:spcAft>
                <a:spcPts val="1000"/>
              </a:spcAft>
              <a:defRPr sz="1500" b="0">
                <a:solidFill>
                  <a:srgbClr val="8FA5B8"/>
                </a:solidFill>
                <a:latin typeface="Noto Sans CJK KR"/>
              </a:defRPr>
            </a:pPr>
            <a:r>
              <a:t>흘수 [m]</a:t>
            </a:r>
          </a:p>
        </p:txBody>
      </p:sp>
      <p:sp>
        <p:nvSpPr>
          <p:cNvPr id="43" name="TextBox 42"/>
          <p:cNvSpPr txBox="1"/>
          <p:nvPr/>
        </p:nvSpPr>
        <p:spPr>
          <a:xfrm>
            <a:off x="3456432" y="5193792"/>
            <a:ext cx="1920240" cy="402336"/>
          </a:xfrm>
          <a:prstGeom prst="rect">
            <a:avLst/>
          </a:prstGeom>
          <a:noFill/>
        </p:spPr>
        <p:txBody>
          <a:bodyPr wrap="square" lIns="0" rIns="0" tIns="0" bIns="0">
            <a:spAutoFit/>
          </a:bodyPr>
          <a:lstStyle/>
          <a:p>
            <a:pPr>
              <a:spcAft>
                <a:spcPts val="1000"/>
              </a:spcAft>
              <a:defRPr sz="1700" b="0">
                <a:solidFill>
                  <a:srgbClr val="EFF4F8"/>
                </a:solidFill>
                <a:latin typeface="Noto Sans CJK KR"/>
              </a:defRPr>
            </a:pPr>
            <a:r>
              <a:t>0.80</a:t>
            </a:r>
          </a:p>
        </p:txBody>
      </p:sp>
      <p:sp>
        <p:nvSpPr>
          <p:cNvPr id="44" name="TextBox 43"/>
          <p:cNvSpPr txBox="1"/>
          <p:nvPr/>
        </p:nvSpPr>
        <p:spPr>
          <a:xfrm>
            <a:off x="5559552" y="5193792"/>
            <a:ext cx="1920240" cy="402336"/>
          </a:xfrm>
          <a:prstGeom prst="rect">
            <a:avLst/>
          </a:prstGeom>
          <a:noFill/>
        </p:spPr>
        <p:txBody>
          <a:bodyPr wrap="square" lIns="0" rIns="0" tIns="0" bIns="0">
            <a:spAutoFit/>
          </a:bodyPr>
          <a:lstStyle/>
          <a:p>
            <a:pPr>
              <a:spcAft>
                <a:spcPts val="1000"/>
              </a:spcAft>
              <a:defRPr sz="1700" b="0">
                <a:solidFill>
                  <a:srgbClr val="EFF4F8"/>
                </a:solidFill>
                <a:latin typeface="Noto Sans CJK KR"/>
              </a:defRPr>
            </a:pPr>
            <a:r>
              <a:t>0.70</a:t>
            </a:r>
          </a:p>
        </p:txBody>
      </p:sp>
      <p:sp>
        <p:nvSpPr>
          <p:cNvPr id="45" name="TextBox 44"/>
          <p:cNvSpPr txBox="1"/>
          <p:nvPr/>
        </p:nvSpPr>
        <p:spPr>
          <a:xfrm>
            <a:off x="7662672" y="5193792"/>
            <a:ext cx="1920240" cy="402336"/>
          </a:xfrm>
          <a:prstGeom prst="rect">
            <a:avLst/>
          </a:prstGeom>
          <a:noFill/>
        </p:spPr>
        <p:txBody>
          <a:bodyPr wrap="square" lIns="0" rIns="0" tIns="0" bIns="0">
            <a:spAutoFit/>
          </a:bodyPr>
          <a:lstStyle/>
          <a:p>
            <a:pPr>
              <a:spcAft>
                <a:spcPts val="1000"/>
              </a:spcAft>
              <a:defRPr sz="1700" b="0">
                <a:solidFill>
                  <a:srgbClr val="EFF4F8"/>
                </a:solidFill>
                <a:latin typeface="Noto Sans CJK KR"/>
              </a:defRPr>
            </a:pPr>
            <a:r>
              <a:t>0.55</a:t>
            </a:r>
          </a:p>
        </p:txBody>
      </p:sp>
      <p:sp>
        <p:nvSpPr>
          <p:cNvPr id="46" name="TextBox 45"/>
          <p:cNvSpPr txBox="1"/>
          <p:nvPr/>
        </p:nvSpPr>
        <p:spPr>
          <a:xfrm>
            <a:off x="9765792" y="5193792"/>
            <a:ext cx="1920240" cy="402336"/>
          </a:xfrm>
          <a:prstGeom prst="rect">
            <a:avLst/>
          </a:prstGeom>
          <a:noFill/>
        </p:spPr>
        <p:txBody>
          <a:bodyPr wrap="square" lIns="0" rIns="0" tIns="0" bIns="0">
            <a:spAutoFit/>
          </a:bodyPr>
          <a:lstStyle/>
          <a:p>
            <a:pPr>
              <a:spcAft>
                <a:spcPts val="1000"/>
              </a:spcAft>
              <a:defRPr sz="1700" b="0">
                <a:solidFill>
                  <a:srgbClr val="EFF4F8"/>
                </a:solidFill>
                <a:latin typeface="Noto Sans CJK KR"/>
              </a:defRPr>
            </a:pPr>
            <a:r>
              <a:t>0.50</a:t>
            </a:r>
          </a:p>
        </p:txBody>
      </p:sp>
      <p:sp>
        <p:nvSpPr>
          <p:cNvPr id="47" name="TextBox 46"/>
          <p:cNvSpPr txBox="1"/>
          <p:nvPr/>
        </p:nvSpPr>
        <p:spPr>
          <a:xfrm>
            <a:off x="11868912" y="5193792"/>
            <a:ext cx="1920240" cy="402336"/>
          </a:xfrm>
          <a:prstGeom prst="rect">
            <a:avLst/>
          </a:prstGeom>
          <a:noFill/>
        </p:spPr>
        <p:txBody>
          <a:bodyPr wrap="square" lIns="0" rIns="0" tIns="0" bIns="0">
            <a:spAutoFit/>
          </a:bodyPr>
          <a:lstStyle/>
          <a:p>
            <a:pPr>
              <a:spcAft>
                <a:spcPts val="1000"/>
              </a:spcAft>
              <a:defRPr sz="1700" b="0">
                <a:solidFill>
                  <a:srgbClr val="EFF4F8"/>
                </a:solidFill>
                <a:latin typeface="Noto Sans CJK KR"/>
              </a:defRPr>
            </a:pPr>
            <a:r>
              <a:t>0.45</a:t>
            </a:r>
          </a:p>
        </p:txBody>
      </p:sp>
      <p:sp>
        <p:nvSpPr>
          <p:cNvPr id="48" name="Rectangle 47"/>
          <p:cNvSpPr/>
          <p:nvPr/>
        </p:nvSpPr>
        <p:spPr>
          <a:xfrm>
            <a:off x="731520" y="5650992"/>
            <a:ext cx="13167360" cy="9144"/>
          </a:xfrm>
          <a:prstGeom prst="rect">
            <a:avLst/>
          </a:prstGeom>
          <a:solidFill>
            <a:srgbClr val="2940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804672" y="5733288"/>
            <a:ext cx="2560320" cy="365760"/>
          </a:xfrm>
          <a:prstGeom prst="rect">
            <a:avLst/>
          </a:prstGeom>
          <a:noFill/>
        </p:spPr>
        <p:txBody>
          <a:bodyPr wrap="square" lIns="0" rIns="0" tIns="0" bIns="0">
            <a:spAutoFit/>
          </a:bodyPr>
          <a:lstStyle/>
          <a:p>
            <a:pPr>
              <a:spcAft>
                <a:spcPts val="1000"/>
              </a:spcAft>
              <a:defRPr sz="1500" b="0">
                <a:solidFill>
                  <a:srgbClr val="8FA5B8"/>
                </a:solidFill>
                <a:latin typeface="Noto Sans CJK KR"/>
              </a:defRPr>
            </a:pPr>
            <a:r>
              <a:t>승선인원 [인]</a:t>
            </a:r>
          </a:p>
        </p:txBody>
      </p:sp>
      <p:sp>
        <p:nvSpPr>
          <p:cNvPr id="50" name="TextBox 49"/>
          <p:cNvSpPr txBox="1"/>
          <p:nvPr/>
        </p:nvSpPr>
        <p:spPr>
          <a:xfrm>
            <a:off x="3456432" y="5733288"/>
            <a:ext cx="1920240" cy="402336"/>
          </a:xfrm>
          <a:prstGeom prst="rect">
            <a:avLst/>
          </a:prstGeom>
          <a:noFill/>
        </p:spPr>
        <p:txBody>
          <a:bodyPr wrap="square" lIns="0" rIns="0" tIns="0" bIns="0">
            <a:spAutoFit/>
          </a:bodyPr>
          <a:lstStyle/>
          <a:p>
            <a:pPr>
              <a:spcAft>
                <a:spcPts val="1000"/>
              </a:spcAft>
              <a:defRPr sz="1700" b="0">
                <a:solidFill>
                  <a:srgbClr val="EFF4F8"/>
                </a:solidFill>
                <a:latin typeface="Noto Sans CJK KR"/>
              </a:defRPr>
            </a:pPr>
            <a:r>
              <a:t>13</a:t>
            </a:r>
          </a:p>
        </p:txBody>
      </p:sp>
      <p:sp>
        <p:nvSpPr>
          <p:cNvPr id="51" name="TextBox 50"/>
          <p:cNvSpPr txBox="1"/>
          <p:nvPr/>
        </p:nvSpPr>
        <p:spPr>
          <a:xfrm>
            <a:off x="5559552" y="5733288"/>
            <a:ext cx="1920240" cy="402336"/>
          </a:xfrm>
          <a:prstGeom prst="rect">
            <a:avLst/>
          </a:prstGeom>
          <a:noFill/>
        </p:spPr>
        <p:txBody>
          <a:bodyPr wrap="square" lIns="0" rIns="0" tIns="0" bIns="0">
            <a:spAutoFit/>
          </a:bodyPr>
          <a:lstStyle/>
          <a:p>
            <a:pPr>
              <a:spcAft>
                <a:spcPts val="1000"/>
              </a:spcAft>
              <a:defRPr sz="1700" b="0">
                <a:solidFill>
                  <a:srgbClr val="EFF4F8"/>
                </a:solidFill>
                <a:latin typeface="Noto Sans CJK KR"/>
              </a:defRPr>
            </a:pPr>
            <a:r>
              <a:t>13</a:t>
            </a:r>
          </a:p>
        </p:txBody>
      </p:sp>
      <p:sp>
        <p:nvSpPr>
          <p:cNvPr id="52" name="TextBox 51"/>
          <p:cNvSpPr txBox="1"/>
          <p:nvPr/>
        </p:nvSpPr>
        <p:spPr>
          <a:xfrm>
            <a:off x="7662672" y="5733288"/>
            <a:ext cx="1920240" cy="402336"/>
          </a:xfrm>
          <a:prstGeom prst="rect">
            <a:avLst/>
          </a:prstGeom>
          <a:noFill/>
        </p:spPr>
        <p:txBody>
          <a:bodyPr wrap="square" lIns="0" rIns="0" tIns="0" bIns="0">
            <a:spAutoFit/>
          </a:bodyPr>
          <a:lstStyle/>
          <a:p>
            <a:pPr>
              <a:spcAft>
                <a:spcPts val="1000"/>
              </a:spcAft>
              <a:defRPr sz="1700" b="0">
                <a:solidFill>
                  <a:srgbClr val="EFF4F8"/>
                </a:solidFill>
                <a:latin typeface="Noto Sans CJK KR"/>
              </a:defRPr>
            </a:pPr>
            <a:r>
              <a:t>9</a:t>
            </a:r>
          </a:p>
        </p:txBody>
      </p:sp>
      <p:sp>
        <p:nvSpPr>
          <p:cNvPr id="53" name="TextBox 52"/>
          <p:cNvSpPr txBox="1"/>
          <p:nvPr/>
        </p:nvSpPr>
        <p:spPr>
          <a:xfrm>
            <a:off x="9765792" y="5733288"/>
            <a:ext cx="1920240" cy="402336"/>
          </a:xfrm>
          <a:prstGeom prst="rect">
            <a:avLst/>
          </a:prstGeom>
          <a:noFill/>
        </p:spPr>
        <p:txBody>
          <a:bodyPr wrap="square" lIns="0" rIns="0" tIns="0" bIns="0">
            <a:spAutoFit/>
          </a:bodyPr>
          <a:lstStyle/>
          <a:p>
            <a:pPr>
              <a:spcAft>
                <a:spcPts val="1000"/>
              </a:spcAft>
              <a:defRPr sz="1700" b="0">
                <a:solidFill>
                  <a:srgbClr val="EFF4F8"/>
                </a:solidFill>
                <a:latin typeface="Noto Sans CJK KR"/>
              </a:defRPr>
            </a:pPr>
            <a:r>
              <a:t>7</a:t>
            </a:r>
          </a:p>
        </p:txBody>
      </p:sp>
      <p:sp>
        <p:nvSpPr>
          <p:cNvPr id="54" name="TextBox 53"/>
          <p:cNvSpPr txBox="1"/>
          <p:nvPr/>
        </p:nvSpPr>
        <p:spPr>
          <a:xfrm>
            <a:off x="11868912" y="5733288"/>
            <a:ext cx="1920240" cy="402336"/>
          </a:xfrm>
          <a:prstGeom prst="rect">
            <a:avLst/>
          </a:prstGeom>
          <a:noFill/>
        </p:spPr>
        <p:txBody>
          <a:bodyPr wrap="square" lIns="0" rIns="0" tIns="0" bIns="0">
            <a:spAutoFit/>
          </a:bodyPr>
          <a:lstStyle/>
          <a:p>
            <a:pPr>
              <a:spcAft>
                <a:spcPts val="1000"/>
              </a:spcAft>
              <a:defRPr sz="1700" b="0">
                <a:solidFill>
                  <a:srgbClr val="EFF4F8"/>
                </a:solidFill>
                <a:latin typeface="Noto Sans CJK KR"/>
              </a:defRPr>
            </a:pPr>
            <a:r>
              <a:t>6</a:t>
            </a:r>
          </a:p>
        </p:txBody>
      </p:sp>
      <p:sp>
        <p:nvSpPr>
          <p:cNvPr id="55" name="TextBox 54"/>
          <p:cNvSpPr txBox="1"/>
          <p:nvPr/>
        </p:nvSpPr>
        <p:spPr>
          <a:xfrm>
            <a:off x="822960" y="6812280"/>
            <a:ext cx="12801600" cy="457200"/>
          </a:xfrm>
          <a:prstGeom prst="rect">
            <a:avLst/>
          </a:prstGeom>
          <a:noFill/>
        </p:spPr>
        <p:txBody>
          <a:bodyPr wrap="square" lIns="0" rIns="0" tIns="0" bIns="0">
            <a:spAutoFit/>
          </a:bodyPr>
          <a:lstStyle/>
          <a:p>
            <a:pPr>
              <a:spcAft>
                <a:spcPts val="1000"/>
              </a:spcAft>
              <a:defRPr sz="2000" b="0">
                <a:solidFill>
                  <a:srgbClr val="48D4DE"/>
                </a:solidFill>
                <a:latin typeface="Noto Sans CJK KR"/>
              </a:defRPr>
            </a:pPr>
            <a:r>
              <a:t>공통 선체재질 / 알루미늄 합금 (AL alloy)</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A1420"/>
        </a:solidFill>
        <a:effectLst/>
      </p:bgPr>
    </p:bg>
    <p:spTree>
      <p:nvGrpSpPr>
        <p:cNvPr id="1" name=""/>
        <p:cNvGrpSpPr/>
        <p:nvPr/>
      </p:nvGrpSpPr>
      <p:grpSpPr/>
      <p:pic>
        <p:nvPicPr>
          <p:cNvPr id="55" name="Picture 54" descr="exec-f3ed2d79-5757-4445-a055-ec161376c4e6.png"/>
          <p:cNvPicPr>
            <a:picLocks noChangeAspect="1"/>
          </p:cNvPicPr>
          <p:nvPr/>
        </p:nvPicPr>
        <p:blipFill>
          <a:blip r:embed="rId3"/>
          <a:stretch>
            <a:fillRect/>
          </a:stretch>
        </p:blipFill>
        <p:spPr>
          <a:xfrm>
            <a:off x="0" y="0"/>
            <a:ext cx="14630400" cy="8229600"/>
          </a:xfrm>
          <a:prstGeom prst="rect">
            <a:avLst/>
          </a:prstGeom>
        </p:spPr>
      </p:pic>
      <p:sp>
        <p:nvSpPr>
          <p:cNvPr id="2" name="TextBox 1"/>
          <p:cNvSpPr txBox="1"/>
          <p:nvPr/>
        </p:nvSpPr>
        <p:spPr>
          <a:xfrm>
            <a:off x="731520" y="411480"/>
            <a:ext cx="12801600" cy="274320"/>
          </a:xfrm>
          <a:prstGeom prst="rect">
            <a:avLst/>
          </a:prstGeom>
          <a:noFill/>
        </p:spPr>
        <p:txBody>
          <a:bodyPr wrap="square" lIns="0" rIns="0" tIns="0" bIns="0">
            <a:spAutoFit/>
          </a:bodyPr>
          <a:lstStyle/>
          <a:p>
            <a:pPr>
              <a:spcAft>
                <a:spcPts val="1000"/>
              </a:spcAft>
              <a:defRPr sz="1100" b="0">
                <a:solidFill>
                  <a:srgbClr val="48D4DE"/>
                </a:solidFill>
                <a:latin typeface="Noto Sans CJK KR"/>
              </a:defRPr>
            </a:pPr>
            <a:r>
              <a:t>VESSEL STANDARDIZATION / BASELINE</a:t>
            </a:r>
          </a:p>
        </p:txBody>
      </p:sp>
      <p:sp>
        <p:nvSpPr>
          <p:cNvPr id="3" name="TextBox 2"/>
          <p:cNvSpPr txBox="1"/>
          <p:nvPr/>
        </p:nvSpPr>
        <p:spPr>
          <a:xfrm>
            <a:off x="731520" y="960120"/>
            <a:ext cx="13167360" cy="1097280"/>
          </a:xfrm>
          <a:prstGeom prst="rect">
            <a:avLst/>
          </a:prstGeom>
          <a:noFill/>
        </p:spPr>
        <p:txBody>
          <a:bodyPr wrap="square" lIns="0" rIns="0" tIns="0" bIns="0">
            <a:spAutoFit/>
          </a:bodyPr>
          <a:lstStyle/>
          <a:p>
            <a:pPr>
              <a:spcAft>
                <a:spcPts val="1000"/>
              </a:spcAft>
              <a:defRPr sz="3400" b="1">
                <a:solidFill>
                  <a:srgbClr val="EFF4F8"/>
                </a:solidFill>
                <a:latin typeface="Noto Sans CJK KR"/>
              </a:defRPr>
            </a:pPr>
            <a:r>
              <a:t>기존 추진체계와 운항성능</a:t>
            </a:r>
          </a:p>
        </p:txBody>
      </p:sp>
      <p:sp>
        <p:nvSpPr>
          <p:cNvPr id="4" name="Rectangle 3"/>
          <p:cNvSpPr/>
          <p:nvPr/>
        </p:nvSpPr>
        <p:spPr>
          <a:xfrm>
            <a:off x="731520" y="7635240"/>
            <a:ext cx="13167360" cy="10972"/>
          </a:xfrm>
          <a:prstGeom prst="rect">
            <a:avLst/>
          </a:prstGeom>
          <a:solidFill>
            <a:srgbClr val="2940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7790688"/>
            <a:ext cx="6400800" cy="182880"/>
          </a:xfrm>
          <a:prstGeom prst="rect">
            <a:avLst/>
          </a:prstGeom>
          <a:noFill/>
        </p:spPr>
        <p:txBody>
          <a:bodyPr wrap="square" lIns="0" rIns="0" tIns="0" bIns="0">
            <a:spAutoFit/>
          </a:bodyPr>
          <a:lstStyle/>
          <a:p>
            <a:pPr>
              <a:spcAft>
                <a:spcPts val="1000"/>
              </a:spcAft>
              <a:defRPr sz="900" b="0">
                <a:solidFill>
                  <a:srgbClr val="8FA5B8"/>
                </a:solidFill>
                <a:latin typeface="Noto Sans CJK KR"/>
              </a:defRPr>
            </a:pPr>
            <a:r>
              <a:t>MASTERVOLT KOREA  /  INTEGRATED VESSEL SOLUTIONS</a:t>
            </a:r>
          </a:p>
        </p:txBody>
      </p:sp>
      <p:sp>
        <p:nvSpPr>
          <p:cNvPr id="6" name="TextBox 5"/>
          <p:cNvSpPr txBox="1"/>
          <p:nvPr/>
        </p:nvSpPr>
        <p:spPr>
          <a:xfrm>
            <a:off x="13167360" y="7754112"/>
            <a:ext cx="731520" cy="274320"/>
          </a:xfrm>
          <a:prstGeom prst="rect">
            <a:avLst/>
          </a:prstGeom>
          <a:noFill/>
        </p:spPr>
        <p:txBody>
          <a:bodyPr wrap="square" lIns="0" rIns="0" tIns="0" bIns="0">
            <a:spAutoFit/>
          </a:bodyPr>
          <a:lstStyle/>
          <a:p>
            <a:pPr>
              <a:spcAft>
                <a:spcPts val="1000"/>
              </a:spcAft>
              <a:defRPr sz="1100" b="0">
                <a:solidFill>
                  <a:srgbClr val="8FA5B8"/>
                </a:solidFill>
                <a:latin typeface="Noto Sans CJK KR"/>
              </a:defRPr>
            </a:pPr>
            <a:r>
              <a:t>07</a:t>
            </a:r>
          </a:p>
        </p:txBody>
      </p:sp>
      <p:sp>
        <p:nvSpPr>
          <p:cNvPr id="7" name="TextBox 6"/>
          <p:cNvSpPr txBox="1"/>
          <p:nvPr/>
        </p:nvSpPr>
        <p:spPr>
          <a:xfrm>
            <a:off x="804672" y="2468880"/>
            <a:ext cx="2560320" cy="365760"/>
          </a:xfrm>
          <a:prstGeom prst="rect">
            <a:avLst/>
          </a:prstGeom>
          <a:noFill/>
        </p:spPr>
        <p:txBody>
          <a:bodyPr wrap="square" lIns="0" rIns="0" tIns="0" bIns="0">
            <a:spAutoFit/>
          </a:bodyPr>
          <a:lstStyle/>
          <a:p>
            <a:pPr>
              <a:spcAft>
                <a:spcPts val="1000"/>
              </a:spcAft>
              <a:defRPr sz="1600" b="1">
                <a:solidFill>
                  <a:srgbClr val="48D4DE"/>
                </a:solidFill>
                <a:latin typeface="Noto Sans CJK KR"/>
              </a:defRPr>
            </a:pPr>
            <a:r>
              <a:t>구분</a:t>
            </a:r>
          </a:p>
        </p:txBody>
      </p:sp>
      <p:sp>
        <p:nvSpPr>
          <p:cNvPr id="8" name="TextBox 7"/>
          <p:cNvSpPr txBox="1"/>
          <p:nvPr/>
        </p:nvSpPr>
        <p:spPr>
          <a:xfrm>
            <a:off x="3456432" y="2468880"/>
            <a:ext cx="2011679" cy="365760"/>
          </a:xfrm>
          <a:prstGeom prst="rect">
            <a:avLst/>
          </a:prstGeom>
          <a:noFill/>
        </p:spPr>
        <p:txBody>
          <a:bodyPr wrap="square" lIns="0" rIns="0" tIns="0" bIns="0">
            <a:spAutoFit/>
          </a:bodyPr>
          <a:lstStyle/>
          <a:p>
            <a:pPr>
              <a:spcAft>
                <a:spcPts val="1000"/>
              </a:spcAft>
              <a:defRPr sz="1600" b="1">
                <a:solidFill>
                  <a:srgbClr val="48D4DE"/>
                </a:solidFill>
                <a:latin typeface="Noto Sans CJK KR"/>
              </a:defRPr>
            </a:pPr>
            <a:r>
              <a:t>관리선 A</a:t>
            </a:r>
          </a:p>
        </p:txBody>
      </p:sp>
      <p:sp>
        <p:nvSpPr>
          <p:cNvPr id="9" name="TextBox 8"/>
          <p:cNvSpPr txBox="1"/>
          <p:nvPr/>
        </p:nvSpPr>
        <p:spPr>
          <a:xfrm>
            <a:off x="5559552" y="2468880"/>
            <a:ext cx="2011679" cy="365760"/>
          </a:xfrm>
          <a:prstGeom prst="rect">
            <a:avLst/>
          </a:prstGeom>
          <a:noFill/>
        </p:spPr>
        <p:txBody>
          <a:bodyPr wrap="square" lIns="0" rIns="0" tIns="0" bIns="0">
            <a:spAutoFit/>
          </a:bodyPr>
          <a:lstStyle/>
          <a:p>
            <a:pPr>
              <a:spcAft>
                <a:spcPts val="1000"/>
              </a:spcAft>
              <a:defRPr sz="1600" b="1">
                <a:solidFill>
                  <a:srgbClr val="48D4DE"/>
                </a:solidFill>
                <a:latin typeface="Noto Sans CJK KR"/>
              </a:defRPr>
            </a:pPr>
            <a:r>
              <a:t>관리선 B</a:t>
            </a:r>
          </a:p>
        </p:txBody>
      </p:sp>
      <p:sp>
        <p:nvSpPr>
          <p:cNvPr id="10" name="TextBox 9"/>
          <p:cNvSpPr txBox="1"/>
          <p:nvPr/>
        </p:nvSpPr>
        <p:spPr>
          <a:xfrm>
            <a:off x="7662672" y="2468880"/>
            <a:ext cx="2011679" cy="365760"/>
          </a:xfrm>
          <a:prstGeom prst="rect">
            <a:avLst/>
          </a:prstGeom>
          <a:noFill/>
        </p:spPr>
        <p:txBody>
          <a:bodyPr wrap="square" lIns="0" rIns="0" tIns="0" bIns="0">
            <a:spAutoFit/>
          </a:bodyPr>
          <a:lstStyle/>
          <a:p>
            <a:pPr>
              <a:spcAft>
                <a:spcPts val="1000"/>
              </a:spcAft>
              <a:defRPr sz="1600" b="1">
                <a:solidFill>
                  <a:srgbClr val="48D4DE"/>
                </a:solidFill>
                <a:latin typeface="Noto Sans CJK KR"/>
              </a:defRPr>
            </a:pPr>
            <a:r>
              <a:t>순시선 A</a:t>
            </a:r>
          </a:p>
        </p:txBody>
      </p:sp>
      <p:sp>
        <p:nvSpPr>
          <p:cNvPr id="11" name="TextBox 10"/>
          <p:cNvSpPr txBox="1"/>
          <p:nvPr/>
        </p:nvSpPr>
        <p:spPr>
          <a:xfrm>
            <a:off x="9765792" y="2468880"/>
            <a:ext cx="2011679" cy="365760"/>
          </a:xfrm>
          <a:prstGeom prst="rect">
            <a:avLst/>
          </a:prstGeom>
          <a:noFill/>
        </p:spPr>
        <p:txBody>
          <a:bodyPr wrap="square" lIns="0" rIns="0" tIns="0" bIns="0">
            <a:spAutoFit/>
          </a:bodyPr>
          <a:lstStyle/>
          <a:p>
            <a:pPr>
              <a:spcAft>
                <a:spcPts val="1000"/>
              </a:spcAft>
              <a:defRPr sz="1600" b="1">
                <a:solidFill>
                  <a:srgbClr val="48D4DE"/>
                </a:solidFill>
                <a:latin typeface="Noto Sans CJK KR"/>
              </a:defRPr>
            </a:pPr>
            <a:r>
              <a:t>순시선 B</a:t>
            </a:r>
          </a:p>
        </p:txBody>
      </p:sp>
      <p:sp>
        <p:nvSpPr>
          <p:cNvPr id="12" name="TextBox 11"/>
          <p:cNvSpPr txBox="1"/>
          <p:nvPr/>
        </p:nvSpPr>
        <p:spPr>
          <a:xfrm>
            <a:off x="11868912" y="2468880"/>
            <a:ext cx="2011679" cy="365760"/>
          </a:xfrm>
          <a:prstGeom prst="rect">
            <a:avLst/>
          </a:prstGeom>
          <a:noFill/>
        </p:spPr>
        <p:txBody>
          <a:bodyPr wrap="square" lIns="0" rIns="0" tIns="0" bIns="0">
            <a:spAutoFit/>
          </a:bodyPr>
          <a:lstStyle/>
          <a:p>
            <a:pPr>
              <a:spcAft>
                <a:spcPts val="1000"/>
              </a:spcAft>
              <a:defRPr sz="1600" b="1">
                <a:solidFill>
                  <a:srgbClr val="48D4DE"/>
                </a:solidFill>
                <a:latin typeface="Noto Sans CJK KR"/>
              </a:defRPr>
            </a:pPr>
            <a:r>
              <a:t>작업선</a:t>
            </a:r>
          </a:p>
        </p:txBody>
      </p:sp>
      <p:sp>
        <p:nvSpPr>
          <p:cNvPr id="13" name="Rectangle 12"/>
          <p:cNvSpPr/>
          <p:nvPr/>
        </p:nvSpPr>
        <p:spPr>
          <a:xfrm>
            <a:off x="731520" y="2953512"/>
            <a:ext cx="13167360" cy="9144"/>
          </a:xfrm>
          <a:prstGeom prst="rect">
            <a:avLst/>
          </a:prstGeom>
          <a:solidFill>
            <a:srgbClr val="2940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04672" y="3035808"/>
            <a:ext cx="2560320" cy="365760"/>
          </a:xfrm>
          <a:prstGeom prst="rect">
            <a:avLst/>
          </a:prstGeom>
          <a:noFill/>
        </p:spPr>
        <p:txBody>
          <a:bodyPr wrap="square" lIns="0" rIns="0" tIns="0" bIns="0">
            <a:spAutoFit/>
          </a:bodyPr>
          <a:lstStyle/>
          <a:p>
            <a:pPr>
              <a:spcAft>
                <a:spcPts val="1000"/>
              </a:spcAft>
              <a:defRPr sz="1500" b="0">
                <a:solidFill>
                  <a:srgbClr val="8FA5B8"/>
                </a:solidFill>
                <a:latin typeface="Noto Sans CJK KR"/>
              </a:defRPr>
            </a:pPr>
            <a:r>
              <a:t>주기관 형식</a:t>
            </a:r>
          </a:p>
        </p:txBody>
      </p:sp>
      <p:sp>
        <p:nvSpPr>
          <p:cNvPr id="15" name="TextBox 14"/>
          <p:cNvSpPr txBox="1"/>
          <p:nvPr/>
        </p:nvSpPr>
        <p:spPr>
          <a:xfrm>
            <a:off x="3456432" y="3035808"/>
            <a:ext cx="1920240" cy="402336"/>
          </a:xfrm>
          <a:prstGeom prst="rect">
            <a:avLst/>
          </a:prstGeom>
          <a:noFill/>
        </p:spPr>
        <p:txBody>
          <a:bodyPr wrap="square" lIns="0" rIns="0" tIns="0" bIns="0">
            <a:spAutoFit/>
          </a:bodyPr>
          <a:lstStyle/>
          <a:p>
            <a:pPr>
              <a:spcAft>
                <a:spcPts val="1000"/>
              </a:spcAft>
              <a:defRPr sz="1700" b="0">
                <a:solidFill>
                  <a:srgbClr val="EFF4F8"/>
                </a:solidFill>
                <a:latin typeface="Noto Sans CJK KR"/>
              </a:defRPr>
            </a:pPr>
            <a:r>
              <a:t>선내기(디젤)</a:t>
            </a:r>
          </a:p>
        </p:txBody>
      </p:sp>
      <p:sp>
        <p:nvSpPr>
          <p:cNvPr id="16" name="TextBox 15"/>
          <p:cNvSpPr txBox="1"/>
          <p:nvPr/>
        </p:nvSpPr>
        <p:spPr>
          <a:xfrm>
            <a:off x="5559552" y="3035808"/>
            <a:ext cx="1920240" cy="402336"/>
          </a:xfrm>
          <a:prstGeom prst="rect">
            <a:avLst/>
          </a:prstGeom>
          <a:noFill/>
        </p:spPr>
        <p:txBody>
          <a:bodyPr wrap="square" lIns="0" rIns="0" tIns="0" bIns="0">
            <a:spAutoFit/>
          </a:bodyPr>
          <a:lstStyle/>
          <a:p>
            <a:pPr>
              <a:spcAft>
                <a:spcPts val="1000"/>
              </a:spcAft>
              <a:defRPr sz="1700" b="0">
                <a:solidFill>
                  <a:srgbClr val="EFF4F8"/>
                </a:solidFill>
                <a:latin typeface="Noto Sans CJK KR"/>
              </a:defRPr>
            </a:pPr>
            <a:r>
              <a:t>선내기(디젤)</a:t>
            </a:r>
          </a:p>
        </p:txBody>
      </p:sp>
      <p:sp>
        <p:nvSpPr>
          <p:cNvPr id="17" name="TextBox 16"/>
          <p:cNvSpPr txBox="1"/>
          <p:nvPr/>
        </p:nvSpPr>
        <p:spPr>
          <a:xfrm>
            <a:off x="7662672" y="3035808"/>
            <a:ext cx="1920240" cy="402336"/>
          </a:xfrm>
          <a:prstGeom prst="rect">
            <a:avLst/>
          </a:prstGeom>
          <a:noFill/>
        </p:spPr>
        <p:txBody>
          <a:bodyPr wrap="square" lIns="0" rIns="0" tIns="0" bIns="0">
            <a:spAutoFit/>
          </a:bodyPr>
          <a:lstStyle/>
          <a:p>
            <a:pPr>
              <a:spcAft>
                <a:spcPts val="1000"/>
              </a:spcAft>
              <a:defRPr sz="1700" b="0">
                <a:solidFill>
                  <a:srgbClr val="EFF4F8"/>
                </a:solidFill>
                <a:latin typeface="Noto Sans CJK KR"/>
              </a:defRPr>
            </a:pPr>
            <a:r>
              <a:t>선외기(가솔린)</a:t>
            </a:r>
          </a:p>
        </p:txBody>
      </p:sp>
      <p:sp>
        <p:nvSpPr>
          <p:cNvPr id="18" name="TextBox 17"/>
          <p:cNvSpPr txBox="1"/>
          <p:nvPr/>
        </p:nvSpPr>
        <p:spPr>
          <a:xfrm>
            <a:off x="9765792" y="3035808"/>
            <a:ext cx="1920240" cy="402336"/>
          </a:xfrm>
          <a:prstGeom prst="rect">
            <a:avLst/>
          </a:prstGeom>
          <a:noFill/>
        </p:spPr>
        <p:txBody>
          <a:bodyPr wrap="square" lIns="0" rIns="0" tIns="0" bIns="0">
            <a:spAutoFit/>
          </a:bodyPr>
          <a:lstStyle/>
          <a:p>
            <a:pPr>
              <a:spcAft>
                <a:spcPts val="1000"/>
              </a:spcAft>
              <a:defRPr sz="1700" b="0">
                <a:solidFill>
                  <a:srgbClr val="EFF4F8"/>
                </a:solidFill>
                <a:latin typeface="Noto Sans CJK KR"/>
              </a:defRPr>
            </a:pPr>
            <a:r>
              <a:t>선외기(가솔린)</a:t>
            </a:r>
          </a:p>
        </p:txBody>
      </p:sp>
      <p:sp>
        <p:nvSpPr>
          <p:cNvPr id="19" name="TextBox 18"/>
          <p:cNvSpPr txBox="1"/>
          <p:nvPr/>
        </p:nvSpPr>
        <p:spPr>
          <a:xfrm>
            <a:off x="11868912" y="3035808"/>
            <a:ext cx="1920240" cy="402336"/>
          </a:xfrm>
          <a:prstGeom prst="rect">
            <a:avLst/>
          </a:prstGeom>
          <a:noFill/>
        </p:spPr>
        <p:txBody>
          <a:bodyPr wrap="square" lIns="0" rIns="0" tIns="0" bIns="0">
            <a:spAutoFit/>
          </a:bodyPr>
          <a:lstStyle/>
          <a:p>
            <a:pPr>
              <a:spcAft>
                <a:spcPts val="1000"/>
              </a:spcAft>
              <a:defRPr sz="1700" b="0">
                <a:solidFill>
                  <a:srgbClr val="EFF4F8"/>
                </a:solidFill>
                <a:latin typeface="Noto Sans CJK KR"/>
              </a:defRPr>
            </a:pPr>
            <a:r>
              <a:t>선외기(가솔린)</a:t>
            </a:r>
          </a:p>
        </p:txBody>
      </p:sp>
      <p:sp>
        <p:nvSpPr>
          <p:cNvPr id="20" name="Rectangle 19"/>
          <p:cNvSpPr/>
          <p:nvPr/>
        </p:nvSpPr>
        <p:spPr>
          <a:xfrm>
            <a:off x="731520" y="3493008"/>
            <a:ext cx="13167360" cy="9144"/>
          </a:xfrm>
          <a:prstGeom prst="rect">
            <a:avLst/>
          </a:prstGeom>
          <a:solidFill>
            <a:srgbClr val="2940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04672" y="3575304"/>
            <a:ext cx="2560320" cy="365760"/>
          </a:xfrm>
          <a:prstGeom prst="rect">
            <a:avLst/>
          </a:prstGeom>
          <a:noFill/>
        </p:spPr>
        <p:txBody>
          <a:bodyPr wrap="square" lIns="0" rIns="0" tIns="0" bIns="0">
            <a:spAutoFit/>
          </a:bodyPr>
          <a:lstStyle/>
          <a:p>
            <a:pPr>
              <a:spcAft>
                <a:spcPts val="1000"/>
              </a:spcAft>
              <a:defRPr sz="1500" b="0">
                <a:solidFill>
                  <a:srgbClr val="8FA5B8"/>
                </a:solidFill>
                <a:latin typeface="Noto Sans CJK KR"/>
              </a:defRPr>
            </a:pPr>
            <a:r>
              <a:t>주기관 출력</a:t>
            </a:r>
          </a:p>
        </p:txBody>
      </p:sp>
      <p:sp>
        <p:nvSpPr>
          <p:cNvPr id="22" name="TextBox 21"/>
          <p:cNvSpPr txBox="1"/>
          <p:nvPr/>
        </p:nvSpPr>
        <p:spPr>
          <a:xfrm>
            <a:off x="3456432" y="3575304"/>
            <a:ext cx="1920240" cy="402336"/>
          </a:xfrm>
          <a:prstGeom prst="rect">
            <a:avLst/>
          </a:prstGeom>
          <a:noFill/>
        </p:spPr>
        <p:txBody>
          <a:bodyPr wrap="square" lIns="0" rIns="0" tIns="0" bIns="0">
            <a:spAutoFit/>
          </a:bodyPr>
          <a:lstStyle/>
          <a:p>
            <a:pPr>
              <a:spcAft>
                <a:spcPts val="1000"/>
              </a:spcAft>
              <a:defRPr sz="1700" b="0">
                <a:solidFill>
                  <a:srgbClr val="EFF4F8"/>
                </a:solidFill>
                <a:latin typeface="Noto Sans CJK KR"/>
              </a:defRPr>
            </a:pPr>
            <a:r>
              <a:t>700마력 × 2기</a:t>
            </a:r>
          </a:p>
        </p:txBody>
      </p:sp>
      <p:sp>
        <p:nvSpPr>
          <p:cNvPr id="23" name="TextBox 22"/>
          <p:cNvSpPr txBox="1"/>
          <p:nvPr/>
        </p:nvSpPr>
        <p:spPr>
          <a:xfrm>
            <a:off x="5559552" y="3575304"/>
            <a:ext cx="1920240" cy="402336"/>
          </a:xfrm>
          <a:prstGeom prst="rect">
            <a:avLst/>
          </a:prstGeom>
          <a:noFill/>
        </p:spPr>
        <p:txBody>
          <a:bodyPr wrap="square" lIns="0" rIns="0" tIns="0" bIns="0">
            <a:spAutoFit/>
          </a:bodyPr>
          <a:lstStyle/>
          <a:p>
            <a:pPr>
              <a:spcAft>
                <a:spcPts val="1000"/>
              </a:spcAft>
              <a:defRPr sz="1700" b="0">
                <a:solidFill>
                  <a:srgbClr val="EFF4F8"/>
                </a:solidFill>
                <a:latin typeface="Noto Sans CJK KR"/>
              </a:defRPr>
            </a:pPr>
            <a:r>
              <a:t>440마력 × 2기</a:t>
            </a:r>
          </a:p>
        </p:txBody>
      </p:sp>
      <p:sp>
        <p:nvSpPr>
          <p:cNvPr id="24" name="TextBox 23"/>
          <p:cNvSpPr txBox="1"/>
          <p:nvPr/>
        </p:nvSpPr>
        <p:spPr>
          <a:xfrm>
            <a:off x="7662672" y="3575304"/>
            <a:ext cx="1920240" cy="402336"/>
          </a:xfrm>
          <a:prstGeom prst="rect">
            <a:avLst/>
          </a:prstGeom>
          <a:noFill/>
        </p:spPr>
        <p:txBody>
          <a:bodyPr wrap="square" lIns="0" rIns="0" tIns="0" bIns="0">
            <a:spAutoFit/>
          </a:bodyPr>
          <a:lstStyle/>
          <a:p>
            <a:pPr>
              <a:spcAft>
                <a:spcPts val="1000"/>
              </a:spcAft>
              <a:defRPr sz="1700" b="0">
                <a:solidFill>
                  <a:srgbClr val="EFF4F8"/>
                </a:solidFill>
                <a:latin typeface="Noto Sans CJK KR"/>
              </a:defRPr>
            </a:pPr>
            <a:r>
              <a:t>200마력 × 2기</a:t>
            </a:r>
          </a:p>
        </p:txBody>
      </p:sp>
      <p:sp>
        <p:nvSpPr>
          <p:cNvPr id="25" name="TextBox 24"/>
          <p:cNvSpPr txBox="1"/>
          <p:nvPr/>
        </p:nvSpPr>
        <p:spPr>
          <a:xfrm>
            <a:off x="9765792" y="3575304"/>
            <a:ext cx="1920240" cy="402336"/>
          </a:xfrm>
          <a:prstGeom prst="rect">
            <a:avLst/>
          </a:prstGeom>
          <a:noFill/>
        </p:spPr>
        <p:txBody>
          <a:bodyPr wrap="square" lIns="0" rIns="0" tIns="0" bIns="0">
            <a:spAutoFit/>
          </a:bodyPr>
          <a:lstStyle/>
          <a:p>
            <a:pPr>
              <a:spcAft>
                <a:spcPts val="1000"/>
              </a:spcAft>
              <a:defRPr sz="1700" b="0">
                <a:solidFill>
                  <a:srgbClr val="EFF4F8"/>
                </a:solidFill>
                <a:latin typeface="Noto Sans CJK KR"/>
              </a:defRPr>
            </a:pPr>
            <a:r>
              <a:t>200마력 × 1기</a:t>
            </a:r>
          </a:p>
        </p:txBody>
      </p:sp>
      <p:sp>
        <p:nvSpPr>
          <p:cNvPr id="26" name="TextBox 25"/>
          <p:cNvSpPr txBox="1"/>
          <p:nvPr/>
        </p:nvSpPr>
        <p:spPr>
          <a:xfrm>
            <a:off x="11868912" y="3575304"/>
            <a:ext cx="1920240" cy="402336"/>
          </a:xfrm>
          <a:prstGeom prst="rect">
            <a:avLst/>
          </a:prstGeom>
          <a:noFill/>
        </p:spPr>
        <p:txBody>
          <a:bodyPr wrap="square" lIns="0" rIns="0" tIns="0" bIns="0">
            <a:spAutoFit/>
          </a:bodyPr>
          <a:lstStyle/>
          <a:p>
            <a:pPr>
              <a:spcAft>
                <a:spcPts val="1000"/>
              </a:spcAft>
              <a:defRPr sz="1700" b="0">
                <a:solidFill>
                  <a:srgbClr val="EFF4F8"/>
                </a:solidFill>
                <a:latin typeface="Noto Sans CJK KR"/>
              </a:defRPr>
            </a:pPr>
            <a:r>
              <a:t>200마력 × 1기</a:t>
            </a:r>
          </a:p>
        </p:txBody>
      </p:sp>
      <p:sp>
        <p:nvSpPr>
          <p:cNvPr id="27" name="Rectangle 26"/>
          <p:cNvSpPr/>
          <p:nvPr/>
        </p:nvSpPr>
        <p:spPr>
          <a:xfrm>
            <a:off x="731520" y="4032504"/>
            <a:ext cx="13167360" cy="9144"/>
          </a:xfrm>
          <a:prstGeom prst="rect">
            <a:avLst/>
          </a:prstGeom>
          <a:solidFill>
            <a:srgbClr val="2940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04672" y="4114800"/>
            <a:ext cx="2560320" cy="365760"/>
          </a:xfrm>
          <a:prstGeom prst="rect">
            <a:avLst/>
          </a:prstGeom>
          <a:noFill/>
        </p:spPr>
        <p:txBody>
          <a:bodyPr wrap="square" lIns="0" rIns="0" tIns="0" bIns="0">
            <a:spAutoFit/>
          </a:bodyPr>
          <a:lstStyle/>
          <a:p>
            <a:pPr>
              <a:spcAft>
                <a:spcPts val="1000"/>
              </a:spcAft>
              <a:defRPr sz="1500" b="0">
                <a:solidFill>
                  <a:srgbClr val="8FA5B8"/>
                </a:solidFill>
                <a:latin typeface="Noto Sans CJK KR"/>
              </a:defRPr>
            </a:pPr>
            <a:r>
              <a:t>추진기 형식</a:t>
            </a:r>
          </a:p>
        </p:txBody>
      </p:sp>
      <p:sp>
        <p:nvSpPr>
          <p:cNvPr id="29" name="TextBox 28"/>
          <p:cNvSpPr txBox="1"/>
          <p:nvPr/>
        </p:nvSpPr>
        <p:spPr>
          <a:xfrm>
            <a:off x="3456432" y="4114800"/>
            <a:ext cx="1920240" cy="402336"/>
          </a:xfrm>
          <a:prstGeom prst="rect">
            <a:avLst/>
          </a:prstGeom>
          <a:noFill/>
        </p:spPr>
        <p:txBody>
          <a:bodyPr wrap="square" lIns="0" rIns="0" tIns="0" bIns="0">
            <a:spAutoFit/>
          </a:bodyPr>
          <a:lstStyle/>
          <a:p>
            <a:pPr>
              <a:spcAft>
                <a:spcPts val="1000"/>
              </a:spcAft>
              <a:defRPr sz="1700" b="0">
                <a:solidFill>
                  <a:srgbClr val="EFF4F8"/>
                </a:solidFill>
                <a:latin typeface="Noto Sans CJK KR"/>
              </a:defRPr>
            </a:pPr>
            <a:r>
              <a:t>워터제트 × 2기</a:t>
            </a:r>
          </a:p>
        </p:txBody>
      </p:sp>
      <p:sp>
        <p:nvSpPr>
          <p:cNvPr id="30" name="TextBox 29"/>
          <p:cNvSpPr txBox="1"/>
          <p:nvPr/>
        </p:nvSpPr>
        <p:spPr>
          <a:xfrm>
            <a:off x="5559552" y="4114800"/>
            <a:ext cx="1920240" cy="402336"/>
          </a:xfrm>
          <a:prstGeom prst="rect">
            <a:avLst/>
          </a:prstGeom>
          <a:noFill/>
        </p:spPr>
        <p:txBody>
          <a:bodyPr wrap="square" lIns="0" rIns="0" tIns="0" bIns="0">
            <a:spAutoFit/>
          </a:bodyPr>
          <a:lstStyle/>
          <a:p>
            <a:pPr>
              <a:spcAft>
                <a:spcPts val="1000"/>
              </a:spcAft>
              <a:defRPr sz="1700" b="0">
                <a:solidFill>
                  <a:srgbClr val="EFF4F8"/>
                </a:solidFill>
                <a:latin typeface="Noto Sans CJK KR"/>
              </a:defRPr>
            </a:pPr>
            <a:r>
              <a:t>스턴드라이브 × 2기</a:t>
            </a:r>
          </a:p>
        </p:txBody>
      </p:sp>
      <p:sp>
        <p:nvSpPr>
          <p:cNvPr id="31" name="TextBox 30"/>
          <p:cNvSpPr txBox="1"/>
          <p:nvPr/>
        </p:nvSpPr>
        <p:spPr>
          <a:xfrm>
            <a:off x="7662672" y="4114800"/>
            <a:ext cx="1920240" cy="402336"/>
          </a:xfrm>
          <a:prstGeom prst="rect">
            <a:avLst/>
          </a:prstGeom>
          <a:noFill/>
        </p:spPr>
        <p:txBody>
          <a:bodyPr wrap="square" lIns="0" rIns="0" tIns="0" bIns="0">
            <a:spAutoFit/>
          </a:bodyPr>
          <a:lstStyle/>
          <a:p>
            <a:pPr>
              <a:spcAft>
                <a:spcPts val="1000"/>
              </a:spcAft>
              <a:defRPr sz="1700" b="0">
                <a:solidFill>
                  <a:srgbClr val="EFF4F8"/>
                </a:solidFill>
                <a:latin typeface="Noto Sans CJK KR"/>
              </a:defRPr>
            </a:pPr>
            <a:r>
              <a:t>–</a:t>
            </a:r>
          </a:p>
        </p:txBody>
      </p:sp>
      <p:sp>
        <p:nvSpPr>
          <p:cNvPr id="32" name="TextBox 31"/>
          <p:cNvSpPr txBox="1"/>
          <p:nvPr/>
        </p:nvSpPr>
        <p:spPr>
          <a:xfrm>
            <a:off x="9765792" y="4114800"/>
            <a:ext cx="1920240" cy="402336"/>
          </a:xfrm>
          <a:prstGeom prst="rect">
            <a:avLst/>
          </a:prstGeom>
          <a:noFill/>
        </p:spPr>
        <p:txBody>
          <a:bodyPr wrap="square" lIns="0" rIns="0" tIns="0" bIns="0">
            <a:spAutoFit/>
          </a:bodyPr>
          <a:lstStyle/>
          <a:p>
            <a:pPr>
              <a:spcAft>
                <a:spcPts val="1000"/>
              </a:spcAft>
              <a:defRPr sz="1700" b="0">
                <a:solidFill>
                  <a:srgbClr val="EFF4F8"/>
                </a:solidFill>
                <a:latin typeface="Noto Sans CJK KR"/>
              </a:defRPr>
            </a:pPr>
            <a:r>
              <a:t>–</a:t>
            </a:r>
          </a:p>
        </p:txBody>
      </p:sp>
      <p:sp>
        <p:nvSpPr>
          <p:cNvPr id="33" name="TextBox 32"/>
          <p:cNvSpPr txBox="1"/>
          <p:nvPr/>
        </p:nvSpPr>
        <p:spPr>
          <a:xfrm>
            <a:off x="11868912" y="4114800"/>
            <a:ext cx="1920240" cy="402336"/>
          </a:xfrm>
          <a:prstGeom prst="rect">
            <a:avLst/>
          </a:prstGeom>
          <a:noFill/>
        </p:spPr>
        <p:txBody>
          <a:bodyPr wrap="square" lIns="0" rIns="0" tIns="0" bIns="0">
            <a:spAutoFit/>
          </a:bodyPr>
          <a:lstStyle/>
          <a:p>
            <a:pPr>
              <a:spcAft>
                <a:spcPts val="1000"/>
              </a:spcAft>
              <a:defRPr sz="1700" b="0">
                <a:solidFill>
                  <a:srgbClr val="EFF4F8"/>
                </a:solidFill>
                <a:latin typeface="Noto Sans CJK KR"/>
              </a:defRPr>
            </a:pPr>
            <a:r>
              <a:t>–</a:t>
            </a:r>
          </a:p>
        </p:txBody>
      </p:sp>
      <p:sp>
        <p:nvSpPr>
          <p:cNvPr id="34" name="Rectangle 33"/>
          <p:cNvSpPr/>
          <p:nvPr/>
        </p:nvSpPr>
        <p:spPr>
          <a:xfrm>
            <a:off x="731520" y="4572000"/>
            <a:ext cx="13167360" cy="9144"/>
          </a:xfrm>
          <a:prstGeom prst="rect">
            <a:avLst/>
          </a:prstGeom>
          <a:solidFill>
            <a:srgbClr val="2940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04672" y="4654296"/>
            <a:ext cx="2560320" cy="365760"/>
          </a:xfrm>
          <a:prstGeom prst="rect">
            <a:avLst/>
          </a:prstGeom>
          <a:noFill/>
        </p:spPr>
        <p:txBody>
          <a:bodyPr wrap="square" lIns="0" rIns="0" tIns="0" bIns="0">
            <a:spAutoFit/>
          </a:bodyPr>
          <a:lstStyle/>
          <a:p>
            <a:pPr>
              <a:spcAft>
                <a:spcPts val="1000"/>
              </a:spcAft>
              <a:defRPr sz="1500" b="0">
                <a:solidFill>
                  <a:srgbClr val="8FA5B8"/>
                </a:solidFill>
                <a:latin typeface="Noto Sans CJK KR"/>
              </a:defRPr>
            </a:pPr>
            <a:r>
              <a:t>최대선속 [kts]</a:t>
            </a:r>
          </a:p>
        </p:txBody>
      </p:sp>
      <p:sp>
        <p:nvSpPr>
          <p:cNvPr id="36" name="TextBox 35"/>
          <p:cNvSpPr txBox="1"/>
          <p:nvPr/>
        </p:nvSpPr>
        <p:spPr>
          <a:xfrm>
            <a:off x="3456432" y="4654296"/>
            <a:ext cx="1920240" cy="402336"/>
          </a:xfrm>
          <a:prstGeom prst="rect">
            <a:avLst/>
          </a:prstGeom>
          <a:noFill/>
        </p:spPr>
        <p:txBody>
          <a:bodyPr wrap="square" lIns="0" rIns="0" tIns="0" bIns="0">
            <a:spAutoFit/>
          </a:bodyPr>
          <a:lstStyle/>
          <a:p>
            <a:pPr>
              <a:spcAft>
                <a:spcPts val="1000"/>
              </a:spcAft>
              <a:defRPr sz="1700" b="0">
                <a:solidFill>
                  <a:srgbClr val="EFF4F8"/>
                </a:solidFill>
                <a:latin typeface="Noto Sans CJK KR"/>
              </a:defRPr>
            </a:pPr>
            <a:r>
              <a:t>25</a:t>
            </a:r>
          </a:p>
        </p:txBody>
      </p:sp>
      <p:sp>
        <p:nvSpPr>
          <p:cNvPr id="37" name="TextBox 36"/>
          <p:cNvSpPr txBox="1"/>
          <p:nvPr/>
        </p:nvSpPr>
        <p:spPr>
          <a:xfrm>
            <a:off x="5559552" y="4654296"/>
            <a:ext cx="1920240" cy="402336"/>
          </a:xfrm>
          <a:prstGeom prst="rect">
            <a:avLst/>
          </a:prstGeom>
          <a:noFill/>
        </p:spPr>
        <p:txBody>
          <a:bodyPr wrap="square" lIns="0" rIns="0" tIns="0" bIns="0">
            <a:spAutoFit/>
          </a:bodyPr>
          <a:lstStyle/>
          <a:p>
            <a:pPr>
              <a:spcAft>
                <a:spcPts val="1000"/>
              </a:spcAft>
              <a:defRPr sz="1700" b="0">
                <a:solidFill>
                  <a:srgbClr val="EFF4F8"/>
                </a:solidFill>
                <a:latin typeface="Noto Sans CJK KR"/>
              </a:defRPr>
            </a:pPr>
            <a:r>
              <a:t>25</a:t>
            </a:r>
          </a:p>
        </p:txBody>
      </p:sp>
      <p:sp>
        <p:nvSpPr>
          <p:cNvPr id="38" name="TextBox 37"/>
          <p:cNvSpPr txBox="1"/>
          <p:nvPr/>
        </p:nvSpPr>
        <p:spPr>
          <a:xfrm>
            <a:off x="7662672" y="4654296"/>
            <a:ext cx="1920240" cy="402336"/>
          </a:xfrm>
          <a:prstGeom prst="rect">
            <a:avLst/>
          </a:prstGeom>
          <a:noFill/>
        </p:spPr>
        <p:txBody>
          <a:bodyPr wrap="square" lIns="0" rIns="0" tIns="0" bIns="0">
            <a:spAutoFit/>
          </a:bodyPr>
          <a:lstStyle/>
          <a:p>
            <a:pPr>
              <a:spcAft>
                <a:spcPts val="1000"/>
              </a:spcAft>
              <a:defRPr sz="1700" b="0">
                <a:solidFill>
                  <a:srgbClr val="EFF4F8"/>
                </a:solidFill>
                <a:latin typeface="Noto Sans CJK KR"/>
              </a:defRPr>
            </a:pPr>
            <a:r>
              <a:t>30</a:t>
            </a:r>
          </a:p>
        </p:txBody>
      </p:sp>
      <p:sp>
        <p:nvSpPr>
          <p:cNvPr id="39" name="TextBox 38"/>
          <p:cNvSpPr txBox="1"/>
          <p:nvPr/>
        </p:nvSpPr>
        <p:spPr>
          <a:xfrm>
            <a:off x="9765792" y="4654296"/>
            <a:ext cx="1920240" cy="402336"/>
          </a:xfrm>
          <a:prstGeom prst="rect">
            <a:avLst/>
          </a:prstGeom>
          <a:noFill/>
        </p:spPr>
        <p:txBody>
          <a:bodyPr wrap="square" lIns="0" rIns="0" tIns="0" bIns="0">
            <a:spAutoFit/>
          </a:bodyPr>
          <a:lstStyle/>
          <a:p>
            <a:pPr>
              <a:spcAft>
                <a:spcPts val="1000"/>
              </a:spcAft>
              <a:defRPr sz="1700" b="0">
                <a:solidFill>
                  <a:srgbClr val="EFF4F8"/>
                </a:solidFill>
                <a:latin typeface="Noto Sans CJK KR"/>
              </a:defRPr>
            </a:pPr>
            <a:r>
              <a:t>30</a:t>
            </a:r>
          </a:p>
        </p:txBody>
      </p:sp>
      <p:sp>
        <p:nvSpPr>
          <p:cNvPr id="40" name="TextBox 39"/>
          <p:cNvSpPr txBox="1"/>
          <p:nvPr/>
        </p:nvSpPr>
        <p:spPr>
          <a:xfrm>
            <a:off x="11868912" y="4654296"/>
            <a:ext cx="1920240" cy="402336"/>
          </a:xfrm>
          <a:prstGeom prst="rect">
            <a:avLst/>
          </a:prstGeom>
          <a:noFill/>
        </p:spPr>
        <p:txBody>
          <a:bodyPr wrap="square" lIns="0" rIns="0" tIns="0" bIns="0">
            <a:spAutoFit/>
          </a:bodyPr>
          <a:lstStyle/>
          <a:p>
            <a:pPr>
              <a:spcAft>
                <a:spcPts val="1000"/>
              </a:spcAft>
              <a:defRPr sz="1700" b="0">
                <a:solidFill>
                  <a:srgbClr val="EFF4F8"/>
                </a:solidFill>
                <a:latin typeface="Noto Sans CJK KR"/>
              </a:defRPr>
            </a:pPr>
            <a:r>
              <a:t>20</a:t>
            </a:r>
          </a:p>
        </p:txBody>
      </p:sp>
      <p:sp>
        <p:nvSpPr>
          <p:cNvPr id="41" name="Rectangle 40"/>
          <p:cNvSpPr/>
          <p:nvPr/>
        </p:nvSpPr>
        <p:spPr>
          <a:xfrm>
            <a:off x="731520" y="5111496"/>
            <a:ext cx="13167360" cy="9144"/>
          </a:xfrm>
          <a:prstGeom prst="rect">
            <a:avLst/>
          </a:prstGeom>
          <a:solidFill>
            <a:srgbClr val="2940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804672" y="5193792"/>
            <a:ext cx="2560320" cy="365760"/>
          </a:xfrm>
          <a:prstGeom prst="rect">
            <a:avLst/>
          </a:prstGeom>
          <a:noFill/>
        </p:spPr>
        <p:txBody>
          <a:bodyPr wrap="square" lIns="0" rIns="0" tIns="0" bIns="0">
            <a:spAutoFit/>
          </a:bodyPr>
          <a:lstStyle/>
          <a:p>
            <a:pPr>
              <a:spcAft>
                <a:spcPts val="1000"/>
              </a:spcAft>
              <a:defRPr sz="1500" b="0">
                <a:solidFill>
                  <a:srgbClr val="8FA5B8"/>
                </a:solidFill>
                <a:latin typeface="Noto Sans CJK KR"/>
              </a:defRPr>
            </a:pPr>
            <a:r>
              <a:t>운항선속 [kts]</a:t>
            </a:r>
          </a:p>
        </p:txBody>
      </p:sp>
      <p:sp>
        <p:nvSpPr>
          <p:cNvPr id="43" name="TextBox 42"/>
          <p:cNvSpPr txBox="1"/>
          <p:nvPr/>
        </p:nvSpPr>
        <p:spPr>
          <a:xfrm>
            <a:off x="3456432" y="5193792"/>
            <a:ext cx="1920240" cy="402336"/>
          </a:xfrm>
          <a:prstGeom prst="rect">
            <a:avLst/>
          </a:prstGeom>
          <a:noFill/>
        </p:spPr>
        <p:txBody>
          <a:bodyPr wrap="square" lIns="0" rIns="0" tIns="0" bIns="0">
            <a:spAutoFit/>
          </a:bodyPr>
          <a:lstStyle/>
          <a:p>
            <a:pPr>
              <a:spcAft>
                <a:spcPts val="1000"/>
              </a:spcAft>
              <a:defRPr sz="1700" b="0">
                <a:solidFill>
                  <a:srgbClr val="EFF4F8"/>
                </a:solidFill>
                <a:latin typeface="Noto Sans CJK KR"/>
              </a:defRPr>
            </a:pPr>
            <a:r>
              <a:t>20</a:t>
            </a:r>
          </a:p>
        </p:txBody>
      </p:sp>
      <p:sp>
        <p:nvSpPr>
          <p:cNvPr id="44" name="TextBox 43"/>
          <p:cNvSpPr txBox="1"/>
          <p:nvPr/>
        </p:nvSpPr>
        <p:spPr>
          <a:xfrm>
            <a:off x="5559552" y="5193792"/>
            <a:ext cx="1920240" cy="402336"/>
          </a:xfrm>
          <a:prstGeom prst="rect">
            <a:avLst/>
          </a:prstGeom>
          <a:noFill/>
        </p:spPr>
        <p:txBody>
          <a:bodyPr wrap="square" lIns="0" rIns="0" tIns="0" bIns="0">
            <a:spAutoFit/>
          </a:bodyPr>
          <a:lstStyle/>
          <a:p>
            <a:pPr>
              <a:spcAft>
                <a:spcPts val="1000"/>
              </a:spcAft>
              <a:defRPr sz="1700" b="0">
                <a:solidFill>
                  <a:srgbClr val="EFF4F8"/>
                </a:solidFill>
                <a:latin typeface="Noto Sans CJK KR"/>
              </a:defRPr>
            </a:pPr>
            <a:r>
              <a:t>20</a:t>
            </a:r>
          </a:p>
        </p:txBody>
      </p:sp>
      <p:sp>
        <p:nvSpPr>
          <p:cNvPr id="45" name="TextBox 44"/>
          <p:cNvSpPr txBox="1"/>
          <p:nvPr/>
        </p:nvSpPr>
        <p:spPr>
          <a:xfrm>
            <a:off x="7662672" y="5193792"/>
            <a:ext cx="1920240" cy="402336"/>
          </a:xfrm>
          <a:prstGeom prst="rect">
            <a:avLst/>
          </a:prstGeom>
          <a:noFill/>
        </p:spPr>
        <p:txBody>
          <a:bodyPr wrap="square" lIns="0" rIns="0" tIns="0" bIns="0">
            <a:spAutoFit/>
          </a:bodyPr>
          <a:lstStyle/>
          <a:p>
            <a:pPr>
              <a:spcAft>
                <a:spcPts val="1000"/>
              </a:spcAft>
              <a:defRPr sz="1700" b="0">
                <a:solidFill>
                  <a:srgbClr val="EFF4F8"/>
                </a:solidFill>
                <a:latin typeface="Noto Sans CJK KR"/>
              </a:defRPr>
            </a:pPr>
            <a:r>
              <a:t>25</a:t>
            </a:r>
          </a:p>
        </p:txBody>
      </p:sp>
      <p:sp>
        <p:nvSpPr>
          <p:cNvPr id="46" name="TextBox 45"/>
          <p:cNvSpPr txBox="1"/>
          <p:nvPr/>
        </p:nvSpPr>
        <p:spPr>
          <a:xfrm>
            <a:off x="9765792" y="5193792"/>
            <a:ext cx="1920240" cy="402336"/>
          </a:xfrm>
          <a:prstGeom prst="rect">
            <a:avLst/>
          </a:prstGeom>
          <a:noFill/>
        </p:spPr>
        <p:txBody>
          <a:bodyPr wrap="square" lIns="0" rIns="0" tIns="0" bIns="0">
            <a:spAutoFit/>
          </a:bodyPr>
          <a:lstStyle/>
          <a:p>
            <a:pPr>
              <a:spcAft>
                <a:spcPts val="1000"/>
              </a:spcAft>
              <a:defRPr sz="1700" b="0">
                <a:solidFill>
                  <a:srgbClr val="EFF4F8"/>
                </a:solidFill>
                <a:latin typeface="Noto Sans CJK KR"/>
              </a:defRPr>
            </a:pPr>
            <a:r>
              <a:t>25</a:t>
            </a:r>
          </a:p>
        </p:txBody>
      </p:sp>
      <p:sp>
        <p:nvSpPr>
          <p:cNvPr id="47" name="TextBox 46"/>
          <p:cNvSpPr txBox="1"/>
          <p:nvPr/>
        </p:nvSpPr>
        <p:spPr>
          <a:xfrm>
            <a:off x="11868912" y="5193792"/>
            <a:ext cx="1920240" cy="402336"/>
          </a:xfrm>
          <a:prstGeom prst="rect">
            <a:avLst/>
          </a:prstGeom>
          <a:noFill/>
        </p:spPr>
        <p:txBody>
          <a:bodyPr wrap="square" lIns="0" rIns="0" tIns="0" bIns="0">
            <a:spAutoFit/>
          </a:bodyPr>
          <a:lstStyle/>
          <a:p>
            <a:pPr>
              <a:spcAft>
                <a:spcPts val="1000"/>
              </a:spcAft>
              <a:defRPr sz="1700" b="0">
                <a:solidFill>
                  <a:srgbClr val="EFF4F8"/>
                </a:solidFill>
                <a:latin typeface="Noto Sans CJK KR"/>
              </a:defRPr>
            </a:pPr>
            <a:r>
              <a:t>15</a:t>
            </a:r>
          </a:p>
        </p:txBody>
      </p:sp>
      <p:sp>
        <p:nvSpPr>
          <p:cNvPr id="48" name="Rectangle 47"/>
          <p:cNvSpPr/>
          <p:nvPr/>
        </p:nvSpPr>
        <p:spPr>
          <a:xfrm>
            <a:off x="731520" y="5650992"/>
            <a:ext cx="13167360" cy="9144"/>
          </a:xfrm>
          <a:prstGeom prst="rect">
            <a:avLst/>
          </a:prstGeom>
          <a:solidFill>
            <a:srgbClr val="2940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804672" y="5733288"/>
            <a:ext cx="2560320" cy="365760"/>
          </a:xfrm>
          <a:prstGeom prst="rect">
            <a:avLst/>
          </a:prstGeom>
          <a:noFill/>
        </p:spPr>
        <p:txBody>
          <a:bodyPr wrap="square" lIns="0" rIns="0" tIns="0" bIns="0">
            <a:spAutoFit/>
          </a:bodyPr>
          <a:lstStyle/>
          <a:p>
            <a:pPr>
              <a:spcAft>
                <a:spcPts val="1000"/>
              </a:spcAft>
              <a:defRPr sz="1500" b="0">
                <a:solidFill>
                  <a:srgbClr val="8FA5B8"/>
                </a:solidFill>
                <a:latin typeface="Noto Sans CJK KR"/>
              </a:defRPr>
            </a:pPr>
            <a:r>
              <a:t>항속거리</a:t>
            </a:r>
          </a:p>
        </p:txBody>
      </p:sp>
      <p:sp>
        <p:nvSpPr>
          <p:cNvPr id="50" name="TextBox 49"/>
          <p:cNvSpPr txBox="1"/>
          <p:nvPr/>
        </p:nvSpPr>
        <p:spPr>
          <a:xfrm>
            <a:off x="3456432" y="5733288"/>
            <a:ext cx="1920240" cy="402336"/>
          </a:xfrm>
          <a:prstGeom prst="rect">
            <a:avLst/>
          </a:prstGeom>
          <a:noFill/>
        </p:spPr>
        <p:txBody>
          <a:bodyPr wrap="square" lIns="0" rIns="0" tIns="0" bIns="0">
            <a:spAutoFit/>
          </a:bodyPr>
          <a:lstStyle/>
          <a:p>
            <a:pPr>
              <a:spcAft>
                <a:spcPts val="1000"/>
              </a:spcAft>
              <a:defRPr sz="1700" b="0">
                <a:solidFill>
                  <a:srgbClr val="EFF4F8"/>
                </a:solidFill>
                <a:latin typeface="Noto Sans CJK KR"/>
              </a:defRPr>
            </a:pPr>
            <a:r>
              <a:t>150km (80NM)</a:t>
            </a:r>
          </a:p>
        </p:txBody>
      </p:sp>
      <p:sp>
        <p:nvSpPr>
          <p:cNvPr id="51" name="TextBox 50"/>
          <p:cNvSpPr txBox="1"/>
          <p:nvPr/>
        </p:nvSpPr>
        <p:spPr>
          <a:xfrm>
            <a:off x="5559552" y="5733288"/>
            <a:ext cx="1920240" cy="402336"/>
          </a:xfrm>
          <a:prstGeom prst="rect">
            <a:avLst/>
          </a:prstGeom>
          <a:noFill/>
        </p:spPr>
        <p:txBody>
          <a:bodyPr wrap="square" lIns="0" rIns="0" tIns="0" bIns="0">
            <a:spAutoFit/>
          </a:bodyPr>
          <a:lstStyle/>
          <a:p>
            <a:pPr>
              <a:spcAft>
                <a:spcPts val="1000"/>
              </a:spcAft>
              <a:defRPr sz="1700" b="0">
                <a:solidFill>
                  <a:srgbClr val="EFF4F8"/>
                </a:solidFill>
                <a:latin typeface="Noto Sans CJK KR"/>
              </a:defRPr>
            </a:pPr>
            <a:r>
              <a:t>150km (80NM)</a:t>
            </a:r>
          </a:p>
        </p:txBody>
      </p:sp>
      <p:sp>
        <p:nvSpPr>
          <p:cNvPr id="52" name="TextBox 51"/>
          <p:cNvSpPr txBox="1"/>
          <p:nvPr/>
        </p:nvSpPr>
        <p:spPr>
          <a:xfrm>
            <a:off x="7662672" y="5733288"/>
            <a:ext cx="1920240" cy="402336"/>
          </a:xfrm>
          <a:prstGeom prst="rect">
            <a:avLst/>
          </a:prstGeom>
          <a:noFill/>
        </p:spPr>
        <p:txBody>
          <a:bodyPr wrap="square" lIns="0" rIns="0" tIns="0" bIns="0">
            <a:spAutoFit/>
          </a:bodyPr>
          <a:lstStyle/>
          <a:p>
            <a:pPr>
              <a:spcAft>
                <a:spcPts val="1000"/>
              </a:spcAft>
              <a:defRPr sz="1700" b="0">
                <a:solidFill>
                  <a:srgbClr val="EFF4F8"/>
                </a:solidFill>
                <a:latin typeface="Noto Sans CJK KR"/>
              </a:defRPr>
            </a:pPr>
            <a:r>
              <a:t>185km (100NM)</a:t>
            </a:r>
          </a:p>
        </p:txBody>
      </p:sp>
      <p:sp>
        <p:nvSpPr>
          <p:cNvPr id="53" name="TextBox 52"/>
          <p:cNvSpPr txBox="1"/>
          <p:nvPr/>
        </p:nvSpPr>
        <p:spPr>
          <a:xfrm>
            <a:off x="9765792" y="5733288"/>
            <a:ext cx="1920240" cy="402336"/>
          </a:xfrm>
          <a:prstGeom prst="rect">
            <a:avLst/>
          </a:prstGeom>
          <a:noFill/>
        </p:spPr>
        <p:txBody>
          <a:bodyPr wrap="square" lIns="0" rIns="0" tIns="0" bIns="0">
            <a:spAutoFit/>
          </a:bodyPr>
          <a:lstStyle/>
          <a:p>
            <a:pPr>
              <a:spcAft>
                <a:spcPts val="1000"/>
              </a:spcAft>
              <a:defRPr sz="1700" b="0">
                <a:solidFill>
                  <a:srgbClr val="EFF4F8"/>
                </a:solidFill>
                <a:latin typeface="Noto Sans CJK KR"/>
              </a:defRPr>
            </a:pPr>
            <a:r>
              <a:t>185km (100NM)</a:t>
            </a:r>
          </a:p>
        </p:txBody>
      </p:sp>
      <p:sp>
        <p:nvSpPr>
          <p:cNvPr id="54" name="TextBox 53"/>
          <p:cNvSpPr txBox="1"/>
          <p:nvPr/>
        </p:nvSpPr>
        <p:spPr>
          <a:xfrm>
            <a:off x="11868912" y="5733288"/>
            <a:ext cx="1920240" cy="402336"/>
          </a:xfrm>
          <a:prstGeom prst="rect">
            <a:avLst/>
          </a:prstGeom>
          <a:noFill/>
        </p:spPr>
        <p:txBody>
          <a:bodyPr wrap="square" lIns="0" rIns="0" tIns="0" bIns="0">
            <a:spAutoFit/>
          </a:bodyPr>
          <a:lstStyle/>
          <a:p>
            <a:pPr>
              <a:spcAft>
                <a:spcPts val="1000"/>
              </a:spcAft>
              <a:defRPr sz="1700" b="0">
                <a:solidFill>
                  <a:srgbClr val="EFF4F8"/>
                </a:solidFill>
                <a:latin typeface="Noto Sans CJK KR"/>
              </a:defRPr>
            </a:pPr>
            <a:r>
              <a:t>55km (30NM)</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A1420"/>
        </a:solidFill>
        <a:effectLst/>
      </p:bgPr>
    </p:bg>
    <p:spTree>
      <p:nvGrpSpPr>
        <p:cNvPr id="1" name=""/>
        <p:cNvGrpSpPr/>
        <p:nvPr/>
      </p:nvGrpSpPr>
      <p:grpSpPr/>
      <p:pic>
        <p:nvPicPr>
          <p:cNvPr id="14" name="Picture 13" descr="exec-f3ed2d79-5757-4445-a055-ec161376c4e6.png"/>
          <p:cNvPicPr>
            <a:picLocks noChangeAspect="1"/>
          </p:cNvPicPr>
          <p:nvPr/>
        </p:nvPicPr>
        <p:blipFill>
          <a:blip r:embed="rId3"/>
          <a:stretch>
            <a:fillRect/>
          </a:stretch>
        </p:blipFill>
        <p:spPr>
          <a:xfrm>
            <a:off x="0" y="0"/>
            <a:ext cx="14630400" cy="8229600"/>
          </a:xfrm>
          <a:prstGeom prst="rect">
            <a:avLst/>
          </a:prstGeom>
        </p:spPr>
      </p:pic>
      <p:sp>
        <p:nvSpPr>
          <p:cNvPr id="2" name="TextBox 1"/>
          <p:cNvSpPr txBox="1"/>
          <p:nvPr/>
        </p:nvSpPr>
        <p:spPr>
          <a:xfrm>
            <a:off x="731520" y="411480"/>
            <a:ext cx="12801600" cy="274320"/>
          </a:xfrm>
          <a:prstGeom prst="rect">
            <a:avLst/>
          </a:prstGeom>
          <a:noFill/>
        </p:spPr>
        <p:txBody>
          <a:bodyPr wrap="square" lIns="0" rIns="0" tIns="0" bIns="0">
            <a:spAutoFit/>
          </a:bodyPr>
          <a:lstStyle/>
          <a:p>
            <a:pPr>
              <a:spcAft>
                <a:spcPts val="1000"/>
              </a:spcAft>
              <a:defRPr sz="1100" b="0">
                <a:solidFill>
                  <a:srgbClr val="48D4DE"/>
                </a:solidFill>
                <a:latin typeface="Noto Sans CJK KR"/>
              </a:defRPr>
            </a:pPr>
            <a:r>
              <a:t>VESSEL STANDARDIZATION / REQUIREMENTS</a:t>
            </a:r>
          </a:p>
        </p:txBody>
      </p:sp>
      <p:sp>
        <p:nvSpPr>
          <p:cNvPr id="3" name="TextBox 2"/>
          <p:cNvSpPr txBox="1"/>
          <p:nvPr/>
        </p:nvSpPr>
        <p:spPr>
          <a:xfrm>
            <a:off x="731520" y="960120"/>
            <a:ext cx="13167360" cy="1097280"/>
          </a:xfrm>
          <a:prstGeom prst="rect">
            <a:avLst/>
          </a:prstGeom>
          <a:noFill/>
        </p:spPr>
        <p:txBody>
          <a:bodyPr wrap="square" lIns="0" rIns="0" tIns="0" bIns="0">
            <a:spAutoFit/>
          </a:bodyPr>
          <a:lstStyle/>
          <a:p>
            <a:pPr>
              <a:spcAft>
                <a:spcPts val="1000"/>
              </a:spcAft>
              <a:defRPr sz="3400" b="1">
                <a:solidFill>
                  <a:srgbClr val="EFF4F8"/>
                </a:solidFill>
                <a:latin typeface="Noto Sans CJK KR"/>
              </a:defRPr>
            </a:pPr>
            <a:r>
              <a:t>운항조건에서 요구성능을 다시 정의한다</a:t>
            </a:r>
          </a:p>
        </p:txBody>
      </p:sp>
      <p:sp>
        <p:nvSpPr>
          <p:cNvPr id="4" name="Rectangle 3"/>
          <p:cNvSpPr/>
          <p:nvPr/>
        </p:nvSpPr>
        <p:spPr>
          <a:xfrm>
            <a:off x="731520" y="7635240"/>
            <a:ext cx="13167360" cy="10972"/>
          </a:xfrm>
          <a:prstGeom prst="rect">
            <a:avLst/>
          </a:prstGeom>
          <a:solidFill>
            <a:srgbClr val="2940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7790688"/>
            <a:ext cx="6400800" cy="182880"/>
          </a:xfrm>
          <a:prstGeom prst="rect">
            <a:avLst/>
          </a:prstGeom>
          <a:noFill/>
        </p:spPr>
        <p:txBody>
          <a:bodyPr wrap="square" lIns="0" rIns="0" tIns="0" bIns="0">
            <a:spAutoFit/>
          </a:bodyPr>
          <a:lstStyle/>
          <a:p>
            <a:pPr>
              <a:spcAft>
                <a:spcPts val="1000"/>
              </a:spcAft>
              <a:defRPr sz="900" b="0">
                <a:solidFill>
                  <a:srgbClr val="8FA5B8"/>
                </a:solidFill>
                <a:latin typeface="Noto Sans CJK KR"/>
              </a:defRPr>
            </a:pPr>
            <a:r>
              <a:t>MASTERVOLT KOREA  /  INTEGRATED VESSEL SOLUTIONS</a:t>
            </a:r>
          </a:p>
        </p:txBody>
      </p:sp>
      <p:sp>
        <p:nvSpPr>
          <p:cNvPr id="6" name="TextBox 5"/>
          <p:cNvSpPr txBox="1"/>
          <p:nvPr/>
        </p:nvSpPr>
        <p:spPr>
          <a:xfrm>
            <a:off x="13167360" y="7754112"/>
            <a:ext cx="731520" cy="274320"/>
          </a:xfrm>
          <a:prstGeom prst="rect">
            <a:avLst/>
          </a:prstGeom>
          <a:noFill/>
        </p:spPr>
        <p:txBody>
          <a:bodyPr wrap="square" lIns="0" rIns="0" tIns="0" bIns="0">
            <a:spAutoFit/>
          </a:bodyPr>
          <a:lstStyle/>
          <a:p>
            <a:pPr>
              <a:spcAft>
                <a:spcPts val="1000"/>
              </a:spcAft>
              <a:defRPr sz="1100" b="0">
                <a:solidFill>
                  <a:srgbClr val="8FA5B8"/>
                </a:solidFill>
                <a:latin typeface="Noto Sans CJK KR"/>
              </a:defRPr>
            </a:pPr>
            <a:r>
              <a:t>08</a:t>
            </a:r>
          </a:p>
        </p:txBody>
      </p:sp>
      <p:sp>
        <p:nvSpPr>
          <p:cNvPr id="7" name="TextBox 6"/>
          <p:cNvSpPr txBox="1"/>
          <p:nvPr/>
        </p:nvSpPr>
        <p:spPr>
          <a:xfrm>
            <a:off x="731520" y="2377440"/>
            <a:ext cx="5943600" cy="548640"/>
          </a:xfrm>
          <a:prstGeom prst="rect">
            <a:avLst/>
          </a:prstGeom>
          <a:noFill/>
        </p:spPr>
        <p:txBody>
          <a:bodyPr wrap="square" lIns="0" rIns="0" tIns="0" bIns="0">
            <a:spAutoFit/>
          </a:bodyPr>
          <a:lstStyle/>
          <a:p>
            <a:pPr>
              <a:spcAft>
                <a:spcPts val="1000"/>
              </a:spcAft>
              <a:defRPr sz="2700" b="1">
                <a:solidFill>
                  <a:srgbClr val="48D4DE"/>
                </a:solidFill>
                <a:latin typeface="Noto Sans CJK KR"/>
              </a:defRPr>
            </a:pPr>
            <a:r>
              <a:t>운항여건 재검토</a:t>
            </a:r>
          </a:p>
        </p:txBody>
      </p:sp>
      <p:sp>
        <p:nvSpPr>
          <p:cNvPr id="8" name="TextBox 7"/>
          <p:cNvSpPr txBox="1"/>
          <p:nvPr/>
        </p:nvSpPr>
        <p:spPr>
          <a:xfrm>
            <a:off x="731520" y="3246120"/>
            <a:ext cx="5943600" cy="2011680"/>
          </a:xfrm>
          <a:prstGeom prst="rect">
            <a:avLst/>
          </a:prstGeom>
          <a:noFill/>
        </p:spPr>
        <p:txBody>
          <a:bodyPr wrap="square" lIns="0" rIns="0" tIns="0" bIns="0">
            <a:spAutoFit/>
          </a:bodyPr>
          <a:lstStyle/>
          <a:p>
            <a:pPr>
              <a:spcAft>
                <a:spcPts val="1000"/>
              </a:spcAft>
              <a:defRPr sz="2500" b="0">
                <a:solidFill>
                  <a:srgbClr val="EFF4F8"/>
                </a:solidFill>
                <a:latin typeface="Noto Sans CJK KR"/>
              </a:defRPr>
            </a:pPr>
            <a:r>
              <a:t>항속거리 · 운항시간</a:t>
            </a:r>
          </a:p>
          <a:p>
            <a:pPr>
              <a:spcAft>
                <a:spcPts val="1000"/>
              </a:spcAft>
              <a:defRPr sz="2500" b="0">
                <a:solidFill>
                  <a:srgbClr val="EFF4F8"/>
                </a:solidFill>
                <a:latin typeface="Noto Sans CJK KR"/>
              </a:defRPr>
            </a:pPr>
            <a:r>
              <a:t>운항속력 · 운항빈도</a:t>
            </a:r>
          </a:p>
          <a:p>
            <a:pPr>
              <a:spcAft>
                <a:spcPts val="1000"/>
              </a:spcAft>
              <a:defRPr sz="2500" b="0">
                <a:solidFill>
                  <a:srgbClr val="EFF4F8"/>
                </a:solidFill>
                <a:latin typeface="Noto Sans CJK KR"/>
              </a:defRPr>
            </a:pPr>
            <a:r>
              <a:t>충전시설</a:t>
            </a:r>
          </a:p>
        </p:txBody>
      </p:sp>
      <p:sp>
        <p:nvSpPr>
          <p:cNvPr id="9" name="TextBox 8"/>
          <p:cNvSpPr txBox="1"/>
          <p:nvPr/>
        </p:nvSpPr>
        <p:spPr>
          <a:xfrm>
            <a:off x="7315200" y="2377440"/>
            <a:ext cx="6400800" cy="1097280"/>
          </a:xfrm>
          <a:prstGeom prst="rect">
            <a:avLst/>
          </a:prstGeom>
          <a:noFill/>
        </p:spPr>
        <p:txBody>
          <a:bodyPr wrap="square" lIns="0" rIns="0" tIns="0" bIns="0">
            <a:spAutoFit/>
          </a:bodyPr>
          <a:lstStyle/>
          <a:p>
            <a:pPr>
              <a:spcAft>
                <a:spcPts val="1000"/>
              </a:spcAft>
              <a:defRPr sz="5800" b="1">
                <a:solidFill>
                  <a:srgbClr val="48D4DE"/>
                </a:solidFill>
                <a:latin typeface="Noto Sans CJK KR"/>
              </a:defRPr>
            </a:pPr>
            <a:r>
              <a:t>20–30</a:t>
            </a:r>
          </a:p>
        </p:txBody>
      </p:sp>
      <p:sp>
        <p:nvSpPr>
          <p:cNvPr id="10" name="TextBox 9"/>
          <p:cNvSpPr txBox="1"/>
          <p:nvPr/>
        </p:nvSpPr>
        <p:spPr>
          <a:xfrm>
            <a:off x="7315200" y="3566160"/>
            <a:ext cx="6400800" cy="457200"/>
          </a:xfrm>
          <a:prstGeom prst="rect">
            <a:avLst/>
          </a:prstGeom>
          <a:noFill/>
        </p:spPr>
        <p:txBody>
          <a:bodyPr wrap="square" lIns="0" rIns="0" tIns="0" bIns="0">
            <a:spAutoFit/>
          </a:bodyPr>
          <a:lstStyle/>
          <a:p>
            <a:pPr>
              <a:spcAft>
                <a:spcPts val="1000"/>
              </a:spcAft>
              <a:defRPr sz="1700" b="0">
                <a:solidFill>
                  <a:srgbClr val="8FA5B8"/>
                </a:solidFill>
                <a:latin typeface="Noto Sans CJK KR"/>
              </a:defRPr>
            </a:pPr>
            <a:r>
              <a:t>kts / 원문 요구성능 도식</a:t>
            </a:r>
          </a:p>
        </p:txBody>
      </p:sp>
      <p:sp>
        <p:nvSpPr>
          <p:cNvPr id="11" name="TextBox 10"/>
          <p:cNvSpPr txBox="1"/>
          <p:nvPr/>
        </p:nvSpPr>
        <p:spPr>
          <a:xfrm>
            <a:off x="7315200" y="4251960"/>
            <a:ext cx="6400800" cy="1097280"/>
          </a:xfrm>
          <a:prstGeom prst="rect">
            <a:avLst/>
          </a:prstGeom>
          <a:noFill/>
        </p:spPr>
        <p:txBody>
          <a:bodyPr wrap="square" lIns="0" rIns="0" tIns="0" bIns="0">
            <a:spAutoFit/>
          </a:bodyPr>
          <a:lstStyle/>
          <a:p>
            <a:pPr>
              <a:spcAft>
                <a:spcPts val="1000"/>
              </a:spcAft>
              <a:defRPr sz="5800" b="1">
                <a:solidFill>
                  <a:srgbClr val="48D4DE"/>
                </a:solidFill>
                <a:latin typeface="Noto Sans CJK KR"/>
              </a:defRPr>
            </a:pPr>
            <a:r>
              <a:t>55–185</a:t>
            </a:r>
          </a:p>
        </p:txBody>
      </p:sp>
      <p:sp>
        <p:nvSpPr>
          <p:cNvPr id="12" name="TextBox 11"/>
          <p:cNvSpPr txBox="1"/>
          <p:nvPr/>
        </p:nvSpPr>
        <p:spPr>
          <a:xfrm>
            <a:off x="7315200" y="5440680"/>
            <a:ext cx="6400800" cy="457200"/>
          </a:xfrm>
          <a:prstGeom prst="rect">
            <a:avLst/>
          </a:prstGeom>
          <a:noFill/>
        </p:spPr>
        <p:txBody>
          <a:bodyPr wrap="square" lIns="0" rIns="0" tIns="0" bIns="0">
            <a:spAutoFit/>
          </a:bodyPr>
          <a:lstStyle/>
          <a:p>
            <a:pPr>
              <a:spcAft>
                <a:spcPts val="1000"/>
              </a:spcAft>
              <a:defRPr sz="1700" b="0">
                <a:solidFill>
                  <a:srgbClr val="8FA5B8"/>
                </a:solidFill>
                <a:latin typeface="Noto Sans CJK KR"/>
              </a:defRPr>
            </a:pPr>
            <a:r>
              <a:t>km / 기존 요구 항속거리</a:t>
            </a:r>
          </a:p>
        </p:txBody>
      </p:sp>
      <p:sp>
        <p:nvSpPr>
          <p:cNvPr id="13" name="TextBox 12"/>
          <p:cNvSpPr txBox="1"/>
          <p:nvPr/>
        </p:nvSpPr>
        <p:spPr>
          <a:xfrm>
            <a:off x="731520" y="6537960"/>
            <a:ext cx="13167360" cy="640080"/>
          </a:xfrm>
          <a:prstGeom prst="rect">
            <a:avLst/>
          </a:prstGeom>
          <a:noFill/>
        </p:spPr>
        <p:txBody>
          <a:bodyPr wrap="square" lIns="0" rIns="0" tIns="0" bIns="0">
            <a:spAutoFit/>
          </a:bodyPr>
          <a:lstStyle/>
          <a:p>
            <a:pPr>
              <a:spcAft>
                <a:spcPts val="1000"/>
              </a:spcAft>
              <a:defRPr sz="2400" b="0">
                <a:solidFill>
                  <a:srgbClr val="EFF4F8"/>
                </a:solidFill>
                <a:latin typeface="Noto Sans CJK KR"/>
              </a:defRPr>
            </a:pPr>
            <a:r>
              <a:t>전기추진 적용조건 최적화 / 선속 ↓ · 항속거리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A1420"/>
        </a:solidFill>
        <a:effectLst/>
      </p:bgPr>
    </p:bg>
    <p:spTree>
      <p:nvGrpSpPr>
        <p:cNvPr id="1" name=""/>
        <p:cNvGrpSpPr/>
        <p:nvPr/>
      </p:nvGrpSpPr>
      <p:grpSpPr/>
      <p:pic>
        <p:nvPicPr>
          <p:cNvPr id="19" name="Picture 18" descr="exec-fae999e9-0842-410f-a6f4-c68e7321650f.png"/>
          <p:cNvPicPr>
            <a:picLocks noChangeAspect="1"/>
          </p:cNvPicPr>
          <p:nvPr/>
        </p:nvPicPr>
        <p:blipFill>
          <a:blip r:embed="rId3"/>
          <a:stretch>
            <a:fillRect/>
          </a:stretch>
        </p:blipFill>
        <p:spPr>
          <a:xfrm>
            <a:off x="0" y="0"/>
            <a:ext cx="14630400" cy="8229600"/>
          </a:xfrm>
          <a:prstGeom prst="rect">
            <a:avLst/>
          </a:prstGeom>
        </p:spPr>
      </p:pic>
      <p:sp>
        <p:nvSpPr>
          <p:cNvPr id="2" name="TextBox 1"/>
          <p:cNvSpPr txBox="1"/>
          <p:nvPr/>
        </p:nvSpPr>
        <p:spPr>
          <a:xfrm>
            <a:off x="731520" y="411480"/>
            <a:ext cx="12801600" cy="274320"/>
          </a:xfrm>
          <a:prstGeom prst="rect">
            <a:avLst/>
          </a:prstGeom>
          <a:noFill/>
        </p:spPr>
        <p:txBody>
          <a:bodyPr wrap="square" lIns="0" rIns="0" tIns="0" bIns="0">
            <a:spAutoFit/>
          </a:bodyPr>
          <a:lstStyle/>
          <a:p>
            <a:pPr>
              <a:spcAft>
                <a:spcPts val="1000"/>
              </a:spcAft>
              <a:defRPr sz="1100" b="0">
                <a:solidFill>
                  <a:srgbClr val="48D4DE"/>
                </a:solidFill>
                <a:latin typeface="Noto Sans CJK KR"/>
              </a:defRPr>
            </a:pPr>
            <a:r>
              <a:t>VESSEL STANDARDIZATION / SYSTEM SIZING</a:t>
            </a:r>
          </a:p>
        </p:txBody>
      </p:sp>
      <p:sp>
        <p:nvSpPr>
          <p:cNvPr id="3" name="TextBox 2"/>
          <p:cNvSpPr txBox="1"/>
          <p:nvPr/>
        </p:nvSpPr>
        <p:spPr>
          <a:xfrm>
            <a:off x="731520" y="960120"/>
            <a:ext cx="13167360" cy="1097280"/>
          </a:xfrm>
          <a:prstGeom prst="rect">
            <a:avLst/>
          </a:prstGeom>
          <a:noFill/>
        </p:spPr>
        <p:txBody>
          <a:bodyPr wrap="square" lIns="0" rIns="0" tIns="0" bIns="0">
            <a:spAutoFit/>
          </a:bodyPr>
          <a:lstStyle/>
          <a:p>
            <a:pPr>
              <a:spcAft>
                <a:spcPts val="1000"/>
              </a:spcAft>
              <a:defRPr sz="3400" b="1">
                <a:solidFill>
                  <a:srgbClr val="EFF4F8"/>
                </a:solidFill>
                <a:latin typeface="Noto Sans CJK KR"/>
              </a:defRPr>
            </a:pPr>
            <a:r>
              <a:t>에너지 소요량을 시스템 사양으로 연결한다</a:t>
            </a:r>
          </a:p>
        </p:txBody>
      </p:sp>
      <p:sp>
        <p:nvSpPr>
          <p:cNvPr id="4" name="Rectangle 3"/>
          <p:cNvSpPr/>
          <p:nvPr/>
        </p:nvSpPr>
        <p:spPr>
          <a:xfrm>
            <a:off x="731520" y="7635240"/>
            <a:ext cx="13167360" cy="10972"/>
          </a:xfrm>
          <a:prstGeom prst="rect">
            <a:avLst/>
          </a:prstGeom>
          <a:solidFill>
            <a:srgbClr val="2940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7790688"/>
            <a:ext cx="6400800" cy="182880"/>
          </a:xfrm>
          <a:prstGeom prst="rect">
            <a:avLst/>
          </a:prstGeom>
          <a:noFill/>
        </p:spPr>
        <p:txBody>
          <a:bodyPr wrap="square" lIns="0" rIns="0" tIns="0" bIns="0">
            <a:spAutoFit/>
          </a:bodyPr>
          <a:lstStyle/>
          <a:p>
            <a:pPr>
              <a:spcAft>
                <a:spcPts val="1000"/>
              </a:spcAft>
              <a:defRPr sz="900" b="0">
                <a:solidFill>
                  <a:srgbClr val="8FA5B8"/>
                </a:solidFill>
                <a:latin typeface="Noto Sans CJK KR"/>
              </a:defRPr>
            </a:pPr>
            <a:r>
              <a:t>MASTERVOLT KOREA  /  INTEGRATED VESSEL SOLUTIONS</a:t>
            </a:r>
          </a:p>
        </p:txBody>
      </p:sp>
      <p:sp>
        <p:nvSpPr>
          <p:cNvPr id="6" name="TextBox 5"/>
          <p:cNvSpPr txBox="1"/>
          <p:nvPr/>
        </p:nvSpPr>
        <p:spPr>
          <a:xfrm>
            <a:off x="13167360" y="7754112"/>
            <a:ext cx="731520" cy="274320"/>
          </a:xfrm>
          <a:prstGeom prst="rect">
            <a:avLst/>
          </a:prstGeom>
          <a:noFill/>
        </p:spPr>
        <p:txBody>
          <a:bodyPr wrap="square" lIns="0" rIns="0" tIns="0" bIns="0">
            <a:spAutoFit/>
          </a:bodyPr>
          <a:lstStyle/>
          <a:p>
            <a:pPr>
              <a:spcAft>
                <a:spcPts val="1000"/>
              </a:spcAft>
              <a:defRPr sz="1100" b="0">
                <a:solidFill>
                  <a:srgbClr val="8FA5B8"/>
                </a:solidFill>
                <a:latin typeface="Noto Sans CJK KR"/>
              </a:defRPr>
            </a:pPr>
            <a:r>
              <a:t>09</a:t>
            </a:r>
          </a:p>
        </p:txBody>
      </p:sp>
      <p:sp>
        <p:nvSpPr>
          <p:cNvPr id="7" name="TextBox 6"/>
          <p:cNvSpPr txBox="1"/>
          <p:nvPr/>
        </p:nvSpPr>
        <p:spPr>
          <a:xfrm>
            <a:off x="731520" y="2377440"/>
            <a:ext cx="822960" cy="457200"/>
          </a:xfrm>
          <a:prstGeom prst="rect">
            <a:avLst/>
          </a:prstGeom>
          <a:noFill/>
        </p:spPr>
        <p:txBody>
          <a:bodyPr wrap="square" lIns="0" rIns="0" tIns="0" bIns="0">
            <a:spAutoFit/>
          </a:bodyPr>
          <a:lstStyle/>
          <a:p>
            <a:pPr>
              <a:spcAft>
                <a:spcPts val="1000"/>
              </a:spcAft>
              <a:defRPr sz="2000" b="0">
                <a:solidFill>
                  <a:srgbClr val="48D4DE"/>
                </a:solidFill>
                <a:latin typeface="Noto Sans CJK KR"/>
              </a:defRPr>
            </a:pPr>
            <a:r>
              <a:t>01</a:t>
            </a:r>
          </a:p>
        </p:txBody>
      </p:sp>
      <p:sp>
        <p:nvSpPr>
          <p:cNvPr id="8" name="TextBox 7"/>
          <p:cNvSpPr txBox="1"/>
          <p:nvPr/>
        </p:nvSpPr>
        <p:spPr>
          <a:xfrm>
            <a:off x="1737360" y="2377440"/>
            <a:ext cx="5577840" cy="548640"/>
          </a:xfrm>
          <a:prstGeom prst="rect">
            <a:avLst/>
          </a:prstGeom>
          <a:noFill/>
        </p:spPr>
        <p:txBody>
          <a:bodyPr wrap="square" lIns="0" rIns="0" tIns="0" bIns="0">
            <a:spAutoFit/>
          </a:bodyPr>
          <a:lstStyle/>
          <a:p>
            <a:pPr>
              <a:spcAft>
                <a:spcPts val="1000"/>
              </a:spcAft>
              <a:defRPr sz="2300" b="0">
                <a:solidFill>
                  <a:srgbClr val="EFF4F8"/>
                </a:solidFill>
                <a:latin typeface="Noto Sans CJK KR"/>
              </a:defRPr>
            </a:pPr>
            <a:r>
              <a:t>추진출력 산정</a:t>
            </a:r>
          </a:p>
        </p:txBody>
      </p:sp>
      <p:sp>
        <p:nvSpPr>
          <p:cNvPr id="9" name="TextBox 8"/>
          <p:cNvSpPr txBox="1"/>
          <p:nvPr/>
        </p:nvSpPr>
        <p:spPr>
          <a:xfrm>
            <a:off x="731520" y="3108960"/>
            <a:ext cx="822960" cy="457200"/>
          </a:xfrm>
          <a:prstGeom prst="rect">
            <a:avLst/>
          </a:prstGeom>
          <a:noFill/>
        </p:spPr>
        <p:txBody>
          <a:bodyPr wrap="square" lIns="0" rIns="0" tIns="0" bIns="0">
            <a:spAutoFit/>
          </a:bodyPr>
          <a:lstStyle/>
          <a:p>
            <a:pPr>
              <a:spcAft>
                <a:spcPts val="1000"/>
              </a:spcAft>
              <a:defRPr sz="2000" b="0">
                <a:solidFill>
                  <a:srgbClr val="48D4DE"/>
                </a:solidFill>
                <a:latin typeface="Noto Sans CJK KR"/>
              </a:defRPr>
            </a:pPr>
            <a:r>
              <a:t>02</a:t>
            </a:r>
          </a:p>
        </p:txBody>
      </p:sp>
      <p:sp>
        <p:nvSpPr>
          <p:cNvPr id="10" name="TextBox 9"/>
          <p:cNvSpPr txBox="1"/>
          <p:nvPr/>
        </p:nvSpPr>
        <p:spPr>
          <a:xfrm>
            <a:off x="1737360" y="3108960"/>
            <a:ext cx="5577840" cy="548640"/>
          </a:xfrm>
          <a:prstGeom prst="rect">
            <a:avLst/>
          </a:prstGeom>
          <a:noFill/>
        </p:spPr>
        <p:txBody>
          <a:bodyPr wrap="square" lIns="0" rIns="0" tIns="0" bIns="0">
            <a:spAutoFit/>
          </a:bodyPr>
          <a:lstStyle/>
          <a:p>
            <a:pPr>
              <a:spcAft>
                <a:spcPts val="1000"/>
              </a:spcAft>
              <a:defRPr sz="2300" b="0">
                <a:solidFill>
                  <a:srgbClr val="EFF4F8"/>
                </a:solidFill>
                <a:latin typeface="Noto Sans CJK KR"/>
              </a:defRPr>
            </a:pPr>
            <a:r>
              <a:t>추진전동기 용량</a:t>
            </a:r>
          </a:p>
        </p:txBody>
      </p:sp>
      <p:sp>
        <p:nvSpPr>
          <p:cNvPr id="11" name="TextBox 10"/>
          <p:cNvSpPr txBox="1"/>
          <p:nvPr/>
        </p:nvSpPr>
        <p:spPr>
          <a:xfrm>
            <a:off x="731520" y="3840480"/>
            <a:ext cx="822960" cy="457200"/>
          </a:xfrm>
          <a:prstGeom prst="rect">
            <a:avLst/>
          </a:prstGeom>
          <a:noFill/>
        </p:spPr>
        <p:txBody>
          <a:bodyPr wrap="square" lIns="0" rIns="0" tIns="0" bIns="0">
            <a:spAutoFit/>
          </a:bodyPr>
          <a:lstStyle/>
          <a:p>
            <a:pPr>
              <a:spcAft>
                <a:spcPts val="1000"/>
              </a:spcAft>
              <a:defRPr sz="2000" b="0">
                <a:solidFill>
                  <a:srgbClr val="48D4DE"/>
                </a:solidFill>
                <a:latin typeface="Noto Sans CJK KR"/>
              </a:defRPr>
            </a:pPr>
            <a:r>
              <a:t>03</a:t>
            </a:r>
          </a:p>
        </p:txBody>
      </p:sp>
      <p:sp>
        <p:nvSpPr>
          <p:cNvPr id="12" name="TextBox 11"/>
          <p:cNvSpPr txBox="1"/>
          <p:nvPr/>
        </p:nvSpPr>
        <p:spPr>
          <a:xfrm>
            <a:off x="1737360" y="3840480"/>
            <a:ext cx="5577840" cy="548640"/>
          </a:xfrm>
          <a:prstGeom prst="rect">
            <a:avLst/>
          </a:prstGeom>
          <a:noFill/>
        </p:spPr>
        <p:txBody>
          <a:bodyPr wrap="square" lIns="0" rIns="0" tIns="0" bIns="0">
            <a:spAutoFit/>
          </a:bodyPr>
          <a:lstStyle/>
          <a:p>
            <a:pPr>
              <a:spcAft>
                <a:spcPts val="1000"/>
              </a:spcAft>
              <a:defRPr sz="2300" b="0">
                <a:solidFill>
                  <a:srgbClr val="EFF4F8"/>
                </a:solidFill>
                <a:latin typeface="Noto Sans CJK KR"/>
              </a:defRPr>
            </a:pPr>
            <a:r>
              <a:t>운항 에너지 소요량 계산</a:t>
            </a:r>
          </a:p>
        </p:txBody>
      </p:sp>
      <p:sp>
        <p:nvSpPr>
          <p:cNvPr id="13" name="TextBox 12"/>
          <p:cNvSpPr txBox="1"/>
          <p:nvPr/>
        </p:nvSpPr>
        <p:spPr>
          <a:xfrm>
            <a:off x="731520" y="4572000"/>
            <a:ext cx="822960" cy="457200"/>
          </a:xfrm>
          <a:prstGeom prst="rect">
            <a:avLst/>
          </a:prstGeom>
          <a:noFill/>
        </p:spPr>
        <p:txBody>
          <a:bodyPr wrap="square" lIns="0" rIns="0" tIns="0" bIns="0">
            <a:spAutoFit/>
          </a:bodyPr>
          <a:lstStyle/>
          <a:p>
            <a:pPr>
              <a:spcAft>
                <a:spcPts val="1000"/>
              </a:spcAft>
              <a:defRPr sz="2000" b="0">
                <a:solidFill>
                  <a:srgbClr val="48D4DE"/>
                </a:solidFill>
                <a:latin typeface="Noto Sans CJK KR"/>
              </a:defRPr>
            </a:pPr>
            <a:r>
              <a:t>04</a:t>
            </a:r>
          </a:p>
        </p:txBody>
      </p:sp>
      <p:sp>
        <p:nvSpPr>
          <p:cNvPr id="14" name="TextBox 13"/>
          <p:cNvSpPr txBox="1"/>
          <p:nvPr/>
        </p:nvSpPr>
        <p:spPr>
          <a:xfrm>
            <a:off x="1737360" y="4572000"/>
            <a:ext cx="5577840" cy="548640"/>
          </a:xfrm>
          <a:prstGeom prst="rect">
            <a:avLst/>
          </a:prstGeom>
          <a:noFill/>
        </p:spPr>
        <p:txBody>
          <a:bodyPr wrap="square" lIns="0" rIns="0" tIns="0" bIns="0">
            <a:spAutoFit/>
          </a:bodyPr>
          <a:lstStyle/>
          <a:p>
            <a:pPr>
              <a:spcAft>
                <a:spcPts val="1000"/>
              </a:spcAft>
              <a:defRPr sz="2300" b="0">
                <a:solidFill>
                  <a:srgbClr val="EFF4F8"/>
                </a:solidFill>
                <a:latin typeface="Noto Sans CJK KR"/>
              </a:defRPr>
            </a:pPr>
            <a:r>
              <a:t>배터리 용량 산정</a:t>
            </a:r>
          </a:p>
        </p:txBody>
      </p:sp>
      <p:sp>
        <p:nvSpPr>
          <p:cNvPr id="15" name="TextBox 14"/>
          <p:cNvSpPr txBox="1"/>
          <p:nvPr/>
        </p:nvSpPr>
        <p:spPr>
          <a:xfrm>
            <a:off x="731520" y="5303520"/>
            <a:ext cx="822960" cy="457200"/>
          </a:xfrm>
          <a:prstGeom prst="rect">
            <a:avLst/>
          </a:prstGeom>
          <a:noFill/>
        </p:spPr>
        <p:txBody>
          <a:bodyPr wrap="square" lIns="0" rIns="0" tIns="0" bIns="0">
            <a:spAutoFit/>
          </a:bodyPr>
          <a:lstStyle/>
          <a:p>
            <a:pPr>
              <a:spcAft>
                <a:spcPts val="1000"/>
              </a:spcAft>
              <a:defRPr sz="2000" b="0">
                <a:solidFill>
                  <a:srgbClr val="48D4DE"/>
                </a:solidFill>
                <a:latin typeface="Noto Sans CJK KR"/>
              </a:defRPr>
            </a:pPr>
            <a:r>
              <a:t>05</a:t>
            </a:r>
          </a:p>
        </p:txBody>
      </p:sp>
      <p:sp>
        <p:nvSpPr>
          <p:cNvPr id="16" name="TextBox 15"/>
          <p:cNvSpPr txBox="1"/>
          <p:nvPr/>
        </p:nvSpPr>
        <p:spPr>
          <a:xfrm>
            <a:off x="1737360" y="5303520"/>
            <a:ext cx="5577840" cy="548640"/>
          </a:xfrm>
          <a:prstGeom prst="rect">
            <a:avLst/>
          </a:prstGeom>
          <a:noFill/>
        </p:spPr>
        <p:txBody>
          <a:bodyPr wrap="square" lIns="0" rIns="0" tIns="0" bIns="0">
            <a:spAutoFit/>
          </a:bodyPr>
          <a:lstStyle/>
          <a:p>
            <a:pPr>
              <a:spcAft>
                <a:spcPts val="1000"/>
              </a:spcAft>
              <a:defRPr sz="2300" b="0">
                <a:solidFill>
                  <a:srgbClr val="EFF4F8"/>
                </a:solidFill>
                <a:latin typeface="Noto Sans CJK KR"/>
              </a:defRPr>
            </a:pPr>
            <a:r>
              <a:t>충전시간 산정</a:t>
            </a:r>
          </a:p>
        </p:txBody>
      </p:sp>
      <p:sp>
        <p:nvSpPr>
          <p:cNvPr id="17" name="TextBox 16"/>
          <p:cNvSpPr txBox="1"/>
          <p:nvPr/>
        </p:nvSpPr>
        <p:spPr>
          <a:xfrm>
            <a:off x="731520" y="6035040"/>
            <a:ext cx="822960" cy="457200"/>
          </a:xfrm>
          <a:prstGeom prst="rect">
            <a:avLst/>
          </a:prstGeom>
          <a:noFill/>
        </p:spPr>
        <p:txBody>
          <a:bodyPr wrap="square" lIns="0" rIns="0" tIns="0" bIns="0">
            <a:spAutoFit/>
          </a:bodyPr>
          <a:lstStyle/>
          <a:p>
            <a:pPr>
              <a:spcAft>
                <a:spcPts val="1000"/>
              </a:spcAft>
              <a:defRPr sz="2000" b="0">
                <a:solidFill>
                  <a:srgbClr val="48D4DE"/>
                </a:solidFill>
                <a:latin typeface="Noto Sans CJK KR"/>
              </a:defRPr>
            </a:pPr>
            <a:r>
              <a:t>06</a:t>
            </a:r>
          </a:p>
        </p:txBody>
      </p:sp>
      <p:sp>
        <p:nvSpPr>
          <p:cNvPr id="18" name="TextBox 17"/>
          <p:cNvSpPr txBox="1"/>
          <p:nvPr/>
        </p:nvSpPr>
        <p:spPr>
          <a:xfrm>
            <a:off x="1737360" y="6035040"/>
            <a:ext cx="5577840" cy="548640"/>
          </a:xfrm>
          <a:prstGeom prst="rect">
            <a:avLst/>
          </a:prstGeom>
          <a:noFill/>
        </p:spPr>
        <p:txBody>
          <a:bodyPr wrap="square" lIns="0" rIns="0" tIns="0" bIns="0">
            <a:spAutoFit/>
          </a:bodyPr>
          <a:lstStyle/>
          <a:p>
            <a:pPr>
              <a:spcAft>
                <a:spcPts val="1000"/>
              </a:spcAft>
              <a:defRPr sz="2300" b="0">
                <a:solidFill>
                  <a:srgbClr val="EFF4F8"/>
                </a:solidFill>
                <a:latin typeface="Noto Sans CJK KR"/>
              </a:defRPr>
            </a:pPr>
            <a:r>
              <a:t>배터리 중량 및 체적 검토</a:t>
            </a:r>
          </a:p>
        </p:txBody>
      </p:sp>
      <p:sp>
        <p:nvSpPr>
          <p:cNvPr id="20" name="TextBox 19"/>
          <p:cNvSpPr txBox="1"/>
          <p:nvPr/>
        </p:nvSpPr>
        <p:spPr>
          <a:xfrm>
            <a:off x="10149840" y="7342631"/>
            <a:ext cx="3657600" cy="228600"/>
          </a:xfrm>
          <a:prstGeom prst="rect">
            <a:avLst/>
          </a:prstGeom>
          <a:noFill/>
        </p:spPr>
        <p:txBody>
          <a:bodyPr wrap="square" lIns="0" rIns="0" tIns="0" bIns="0">
            <a:spAutoFit/>
          </a:bodyPr>
          <a:lstStyle/>
          <a:p>
            <a:pPr>
              <a:spcAft>
                <a:spcPts val="1000"/>
              </a:spcAft>
              <a:defRPr sz="900" b="0">
                <a:solidFill>
                  <a:srgbClr val="8FA5B8"/>
                </a:solidFill>
                <a:latin typeface="Noto Sans CJK KR"/>
              </a:defRPr>
            </a:pPr>
            <a:r>
              <a:t>AI-GENERATED CONCEPT VISUAL</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A1420"/>
        </a:solidFill>
        <a:effectLst/>
      </p:bgPr>
    </p:bg>
    <p:spTree>
      <p:nvGrpSpPr>
        <p:cNvPr id="1" name=""/>
        <p:cNvGrpSpPr/>
        <p:nvPr/>
      </p:nvGrpSpPr>
      <p:grpSpPr/>
      <p:pic>
        <p:nvPicPr>
          <p:cNvPr id="19" name="Picture 18" descr="exec-f3ed2d79-5757-4445-a055-ec161376c4e6.png"/>
          <p:cNvPicPr>
            <a:picLocks noChangeAspect="1"/>
          </p:cNvPicPr>
          <p:nvPr/>
        </p:nvPicPr>
        <p:blipFill>
          <a:blip r:embed="rId3"/>
          <a:stretch>
            <a:fillRect/>
          </a:stretch>
        </p:blipFill>
        <p:spPr>
          <a:xfrm>
            <a:off x="0" y="0"/>
            <a:ext cx="14630400" cy="8229600"/>
          </a:xfrm>
          <a:prstGeom prst="rect">
            <a:avLst/>
          </a:prstGeom>
        </p:spPr>
      </p:pic>
      <p:sp>
        <p:nvSpPr>
          <p:cNvPr id="2" name="TextBox 1"/>
          <p:cNvSpPr txBox="1"/>
          <p:nvPr/>
        </p:nvSpPr>
        <p:spPr>
          <a:xfrm>
            <a:off x="731520" y="411480"/>
            <a:ext cx="12801600" cy="274320"/>
          </a:xfrm>
          <a:prstGeom prst="rect">
            <a:avLst/>
          </a:prstGeom>
          <a:noFill/>
        </p:spPr>
        <p:txBody>
          <a:bodyPr wrap="square" lIns="0" rIns="0" tIns="0" bIns="0">
            <a:spAutoFit/>
          </a:bodyPr>
          <a:lstStyle/>
          <a:p>
            <a:pPr>
              <a:spcAft>
                <a:spcPts val="1000"/>
              </a:spcAft>
              <a:defRPr sz="1100" b="0">
                <a:solidFill>
                  <a:srgbClr val="48D4DE"/>
                </a:solidFill>
                <a:latin typeface="Noto Sans CJK KR"/>
              </a:defRPr>
            </a:pPr>
            <a:r>
              <a:t>VESSEL STANDARDIZATION / FEASIBILITY</a:t>
            </a:r>
          </a:p>
        </p:txBody>
      </p:sp>
      <p:sp>
        <p:nvSpPr>
          <p:cNvPr id="3" name="TextBox 2"/>
          <p:cNvSpPr txBox="1"/>
          <p:nvPr/>
        </p:nvSpPr>
        <p:spPr>
          <a:xfrm>
            <a:off x="731520" y="960120"/>
            <a:ext cx="13167360" cy="1097280"/>
          </a:xfrm>
          <a:prstGeom prst="rect">
            <a:avLst/>
          </a:prstGeom>
          <a:noFill/>
        </p:spPr>
        <p:txBody>
          <a:bodyPr wrap="square" lIns="0" rIns="0" tIns="0" bIns="0">
            <a:spAutoFit/>
          </a:bodyPr>
          <a:lstStyle/>
          <a:p>
            <a:pPr>
              <a:spcAft>
                <a:spcPts val="1000"/>
              </a:spcAft>
              <a:defRPr sz="3400" b="1">
                <a:solidFill>
                  <a:srgbClr val="EFF4F8"/>
                </a:solidFill>
                <a:latin typeface="Noto Sans CJK KR"/>
              </a:defRPr>
            </a:pPr>
            <a:r>
              <a:t>현 제원 내 적용성을 검토한다</a:t>
            </a:r>
          </a:p>
        </p:txBody>
      </p:sp>
      <p:sp>
        <p:nvSpPr>
          <p:cNvPr id="4" name="Rectangle 3"/>
          <p:cNvSpPr/>
          <p:nvPr/>
        </p:nvSpPr>
        <p:spPr>
          <a:xfrm>
            <a:off x="731520" y="7635240"/>
            <a:ext cx="13167360" cy="10972"/>
          </a:xfrm>
          <a:prstGeom prst="rect">
            <a:avLst/>
          </a:prstGeom>
          <a:solidFill>
            <a:srgbClr val="2940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7790688"/>
            <a:ext cx="6400800" cy="182880"/>
          </a:xfrm>
          <a:prstGeom prst="rect">
            <a:avLst/>
          </a:prstGeom>
          <a:noFill/>
        </p:spPr>
        <p:txBody>
          <a:bodyPr wrap="square" lIns="0" rIns="0" tIns="0" bIns="0">
            <a:spAutoFit/>
          </a:bodyPr>
          <a:lstStyle/>
          <a:p>
            <a:pPr>
              <a:spcAft>
                <a:spcPts val="1000"/>
              </a:spcAft>
              <a:defRPr sz="900" b="0">
                <a:solidFill>
                  <a:srgbClr val="8FA5B8"/>
                </a:solidFill>
                <a:latin typeface="Noto Sans CJK KR"/>
              </a:defRPr>
            </a:pPr>
            <a:r>
              <a:t>MASTERVOLT KOREA  /  INTEGRATED VESSEL SOLUTIONS</a:t>
            </a:r>
          </a:p>
        </p:txBody>
      </p:sp>
      <p:sp>
        <p:nvSpPr>
          <p:cNvPr id="6" name="TextBox 5"/>
          <p:cNvSpPr txBox="1"/>
          <p:nvPr/>
        </p:nvSpPr>
        <p:spPr>
          <a:xfrm>
            <a:off x="13167360" y="7754112"/>
            <a:ext cx="731520" cy="274320"/>
          </a:xfrm>
          <a:prstGeom prst="rect">
            <a:avLst/>
          </a:prstGeom>
          <a:noFill/>
        </p:spPr>
        <p:txBody>
          <a:bodyPr wrap="square" lIns="0" rIns="0" tIns="0" bIns="0">
            <a:spAutoFit/>
          </a:bodyPr>
          <a:lstStyle/>
          <a:p>
            <a:pPr>
              <a:spcAft>
                <a:spcPts val="1000"/>
              </a:spcAft>
              <a:defRPr sz="1100" b="0">
                <a:solidFill>
                  <a:srgbClr val="8FA5B8"/>
                </a:solidFill>
                <a:latin typeface="Noto Sans CJK KR"/>
              </a:defRPr>
            </a:pPr>
            <a:r>
              <a:t>10</a:t>
            </a:r>
          </a:p>
        </p:txBody>
      </p:sp>
      <p:sp>
        <p:nvSpPr>
          <p:cNvPr id="7" name="TextBox 6"/>
          <p:cNvSpPr txBox="1"/>
          <p:nvPr/>
        </p:nvSpPr>
        <p:spPr>
          <a:xfrm>
            <a:off x="731520" y="2560320"/>
            <a:ext cx="914400" cy="548640"/>
          </a:xfrm>
          <a:prstGeom prst="rect">
            <a:avLst/>
          </a:prstGeom>
          <a:noFill/>
        </p:spPr>
        <p:txBody>
          <a:bodyPr wrap="square" lIns="0" rIns="0" tIns="0" bIns="0">
            <a:spAutoFit/>
          </a:bodyPr>
          <a:lstStyle/>
          <a:p>
            <a:pPr>
              <a:spcAft>
                <a:spcPts val="1000"/>
              </a:spcAft>
              <a:defRPr sz="2200" b="0">
                <a:solidFill>
                  <a:srgbClr val="48D4DE"/>
                </a:solidFill>
                <a:latin typeface="Noto Sans CJK KR"/>
              </a:defRPr>
            </a:pPr>
            <a:r>
              <a:t>01</a:t>
            </a:r>
          </a:p>
        </p:txBody>
      </p:sp>
      <p:sp>
        <p:nvSpPr>
          <p:cNvPr id="8" name="TextBox 7"/>
          <p:cNvSpPr txBox="1"/>
          <p:nvPr/>
        </p:nvSpPr>
        <p:spPr>
          <a:xfrm>
            <a:off x="1828800" y="2560320"/>
            <a:ext cx="10972800" cy="731520"/>
          </a:xfrm>
          <a:prstGeom prst="rect">
            <a:avLst/>
          </a:prstGeom>
          <a:noFill/>
        </p:spPr>
        <p:txBody>
          <a:bodyPr wrap="square" lIns="0" rIns="0" tIns="0" bIns="0">
            <a:spAutoFit/>
          </a:bodyPr>
          <a:lstStyle/>
          <a:p>
            <a:pPr>
              <a:spcAft>
                <a:spcPts val="1000"/>
              </a:spcAft>
              <a:defRPr sz="2900" b="0">
                <a:solidFill>
                  <a:srgbClr val="EFF4F8"/>
                </a:solidFill>
                <a:latin typeface="Noto Sans CJK KR"/>
              </a:defRPr>
            </a:pPr>
            <a:r>
              <a:t>배터리 탑재공간</a:t>
            </a:r>
          </a:p>
        </p:txBody>
      </p:sp>
      <p:sp>
        <p:nvSpPr>
          <p:cNvPr id="9" name="Rectangle 8"/>
          <p:cNvSpPr/>
          <p:nvPr/>
        </p:nvSpPr>
        <p:spPr>
          <a:xfrm>
            <a:off x="731520" y="3310127"/>
            <a:ext cx="13167360" cy="10972"/>
          </a:xfrm>
          <a:prstGeom prst="rect">
            <a:avLst/>
          </a:prstGeom>
          <a:solidFill>
            <a:srgbClr val="2940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3584448"/>
            <a:ext cx="914400" cy="548640"/>
          </a:xfrm>
          <a:prstGeom prst="rect">
            <a:avLst/>
          </a:prstGeom>
          <a:noFill/>
        </p:spPr>
        <p:txBody>
          <a:bodyPr wrap="square" lIns="0" rIns="0" tIns="0" bIns="0">
            <a:spAutoFit/>
          </a:bodyPr>
          <a:lstStyle/>
          <a:p>
            <a:pPr>
              <a:spcAft>
                <a:spcPts val="1000"/>
              </a:spcAft>
              <a:defRPr sz="2200" b="0">
                <a:solidFill>
                  <a:srgbClr val="48D4DE"/>
                </a:solidFill>
                <a:latin typeface="Noto Sans CJK KR"/>
              </a:defRPr>
            </a:pPr>
            <a:r>
              <a:t>02</a:t>
            </a:r>
          </a:p>
        </p:txBody>
      </p:sp>
      <p:sp>
        <p:nvSpPr>
          <p:cNvPr id="11" name="TextBox 10"/>
          <p:cNvSpPr txBox="1"/>
          <p:nvPr/>
        </p:nvSpPr>
        <p:spPr>
          <a:xfrm>
            <a:off x="1828800" y="3584448"/>
            <a:ext cx="10972800" cy="731520"/>
          </a:xfrm>
          <a:prstGeom prst="rect">
            <a:avLst/>
          </a:prstGeom>
          <a:noFill/>
        </p:spPr>
        <p:txBody>
          <a:bodyPr wrap="square" lIns="0" rIns="0" tIns="0" bIns="0">
            <a:spAutoFit/>
          </a:bodyPr>
          <a:lstStyle/>
          <a:p>
            <a:pPr>
              <a:spcAft>
                <a:spcPts val="1000"/>
              </a:spcAft>
              <a:defRPr sz="2900" b="0">
                <a:solidFill>
                  <a:srgbClr val="EFF4F8"/>
                </a:solidFill>
                <a:latin typeface="Noto Sans CJK KR"/>
              </a:defRPr>
            </a:pPr>
            <a:r>
              <a:t>전기추진 선박기준 검토</a:t>
            </a:r>
          </a:p>
        </p:txBody>
      </p:sp>
      <p:sp>
        <p:nvSpPr>
          <p:cNvPr id="12" name="Rectangle 11"/>
          <p:cNvSpPr/>
          <p:nvPr/>
        </p:nvSpPr>
        <p:spPr>
          <a:xfrm>
            <a:off x="731520" y="4334256"/>
            <a:ext cx="13167360" cy="10972"/>
          </a:xfrm>
          <a:prstGeom prst="rect">
            <a:avLst/>
          </a:prstGeom>
          <a:solidFill>
            <a:srgbClr val="2940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 y="4608576"/>
            <a:ext cx="914400" cy="548640"/>
          </a:xfrm>
          <a:prstGeom prst="rect">
            <a:avLst/>
          </a:prstGeom>
          <a:noFill/>
        </p:spPr>
        <p:txBody>
          <a:bodyPr wrap="square" lIns="0" rIns="0" tIns="0" bIns="0">
            <a:spAutoFit/>
          </a:bodyPr>
          <a:lstStyle/>
          <a:p>
            <a:pPr>
              <a:spcAft>
                <a:spcPts val="1000"/>
              </a:spcAft>
              <a:defRPr sz="2200" b="0">
                <a:solidFill>
                  <a:srgbClr val="48D4DE"/>
                </a:solidFill>
                <a:latin typeface="Noto Sans CJK KR"/>
              </a:defRPr>
            </a:pPr>
            <a:r>
              <a:t>03</a:t>
            </a:r>
          </a:p>
        </p:txBody>
      </p:sp>
      <p:sp>
        <p:nvSpPr>
          <p:cNvPr id="14" name="TextBox 13"/>
          <p:cNvSpPr txBox="1"/>
          <p:nvPr/>
        </p:nvSpPr>
        <p:spPr>
          <a:xfrm>
            <a:off x="1828800" y="4608576"/>
            <a:ext cx="10972800" cy="731520"/>
          </a:xfrm>
          <a:prstGeom prst="rect">
            <a:avLst/>
          </a:prstGeom>
          <a:noFill/>
        </p:spPr>
        <p:txBody>
          <a:bodyPr wrap="square" lIns="0" rIns="0" tIns="0" bIns="0">
            <a:spAutoFit/>
          </a:bodyPr>
          <a:lstStyle/>
          <a:p>
            <a:pPr>
              <a:spcAft>
                <a:spcPts val="1000"/>
              </a:spcAft>
              <a:defRPr sz="2900" b="0">
                <a:solidFill>
                  <a:srgbClr val="EFF4F8"/>
                </a:solidFill>
                <a:latin typeface="Noto Sans CJK KR"/>
              </a:defRPr>
            </a:pPr>
            <a:r>
              <a:t>중량 및 복원성 검토</a:t>
            </a:r>
          </a:p>
        </p:txBody>
      </p:sp>
      <p:sp>
        <p:nvSpPr>
          <p:cNvPr id="15" name="Rectangle 14"/>
          <p:cNvSpPr/>
          <p:nvPr/>
        </p:nvSpPr>
        <p:spPr>
          <a:xfrm>
            <a:off x="731520" y="5358384"/>
            <a:ext cx="13167360" cy="10972"/>
          </a:xfrm>
          <a:prstGeom prst="rect">
            <a:avLst/>
          </a:prstGeom>
          <a:solidFill>
            <a:srgbClr val="2940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5632704"/>
            <a:ext cx="914400" cy="548640"/>
          </a:xfrm>
          <a:prstGeom prst="rect">
            <a:avLst/>
          </a:prstGeom>
          <a:noFill/>
        </p:spPr>
        <p:txBody>
          <a:bodyPr wrap="square" lIns="0" rIns="0" tIns="0" bIns="0">
            <a:spAutoFit/>
          </a:bodyPr>
          <a:lstStyle/>
          <a:p>
            <a:pPr>
              <a:spcAft>
                <a:spcPts val="1000"/>
              </a:spcAft>
              <a:defRPr sz="2200" b="0">
                <a:solidFill>
                  <a:srgbClr val="48D4DE"/>
                </a:solidFill>
                <a:latin typeface="Noto Sans CJK KR"/>
              </a:defRPr>
            </a:pPr>
            <a:r>
              <a:t>04</a:t>
            </a:r>
          </a:p>
        </p:txBody>
      </p:sp>
      <p:sp>
        <p:nvSpPr>
          <p:cNvPr id="17" name="TextBox 16"/>
          <p:cNvSpPr txBox="1"/>
          <p:nvPr/>
        </p:nvSpPr>
        <p:spPr>
          <a:xfrm>
            <a:off x="1828800" y="5632704"/>
            <a:ext cx="10972800" cy="731520"/>
          </a:xfrm>
          <a:prstGeom prst="rect">
            <a:avLst/>
          </a:prstGeom>
          <a:noFill/>
        </p:spPr>
        <p:txBody>
          <a:bodyPr wrap="square" lIns="0" rIns="0" tIns="0" bIns="0">
            <a:spAutoFit/>
          </a:bodyPr>
          <a:lstStyle/>
          <a:p>
            <a:pPr>
              <a:spcAft>
                <a:spcPts val="1000"/>
              </a:spcAft>
              <a:defRPr sz="2900" b="0">
                <a:solidFill>
                  <a:srgbClr val="EFF4F8"/>
                </a:solidFill>
                <a:latin typeface="Noto Sans CJK KR"/>
              </a:defRPr>
            </a:pPr>
            <a:r>
              <a:t>일반배치 검토</a:t>
            </a:r>
          </a:p>
        </p:txBody>
      </p:sp>
      <p:sp>
        <p:nvSpPr>
          <p:cNvPr id="18" name="Rectangle 17"/>
          <p:cNvSpPr/>
          <p:nvPr/>
        </p:nvSpPr>
        <p:spPr>
          <a:xfrm>
            <a:off x="731520" y="6382512"/>
            <a:ext cx="13167360" cy="10972"/>
          </a:xfrm>
          <a:prstGeom prst="rect">
            <a:avLst/>
          </a:prstGeom>
          <a:solidFill>
            <a:srgbClr val="2940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A1420"/>
        </a:solidFill>
        <a:effectLst/>
      </p:bgPr>
    </p:bg>
    <p:spTree>
      <p:nvGrpSpPr>
        <p:cNvPr id="1" name=""/>
        <p:cNvGrpSpPr/>
        <p:nvPr/>
      </p:nvGrpSpPr>
      <p:grpSpPr/>
      <p:pic>
        <p:nvPicPr>
          <p:cNvPr id="23" name="Picture 22" descr="exec-f3ed2d79-5757-4445-a055-ec161376c4e6.png"/>
          <p:cNvPicPr>
            <a:picLocks noChangeAspect="1"/>
          </p:cNvPicPr>
          <p:nvPr/>
        </p:nvPicPr>
        <p:blipFill>
          <a:blip r:embed="rId3"/>
          <a:stretch>
            <a:fillRect/>
          </a:stretch>
        </p:blipFill>
        <p:spPr>
          <a:xfrm>
            <a:off x="0" y="0"/>
            <a:ext cx="14630400" cy="8229600"/>
          </a:xfrm>
          <a:prstGeom prst="rect">
            <a:avLst/>
          </a:prstGeom>
        </p:spPr>
      </p:pic>
      <p:sp>
        <p:nvSpPr>
          <p:cNvPr id="2" name="TextBox 1"/>
          <p:cNvSpPr txBox="1"/>
          <p:nvPr/>
        </p:nvSpPr>
        <p:spPr>
          <a:xfrm>
            <a:off x="731520" y="411480"/>
            <a:ext cx="12801600" cy="274320"/>
          </a:xfrm>
          <a:prstGeom prst="rect">
            <a:avLst/>
          </a:prstGeom>
          <a:noFill/>
        </p:spPr>
        <p:txBody>
          <a:bodyPr wrap="square" lIns="0" rIns="0" tIns="0" bIns="0">
            <a:spAutoFit/>
          </a:bodyPr>
          <a:lstStyle/>
          <a:p>
            <a:pPr>
              <a:spcAft>
                <a:spcPts val="1000"/>
              </a:spcAft>
              <a:defRPr sz="1100" b="0">
                <a:solidFill>
                  <a:srgbClr val="48D4DE"/>
                </a:solidFill>
                <a:latin typeface="Noto Sans CJK KR"/>
              </a:defRPr>
            </a:pPr>
            <a:r>
              <a:t>VESSEL STANDARDIZATION / SELECTION</a:t>
            </a:r>
          </a:p>
        </p:txBody>
      </p:sp>
      <p:sp>
        <p:nvSpPr>
          <p:cNvPr id="3" name="TextBox 2"/>
          <p:cNvSpPr txBox="1"/>
          <p:nvPr/>
        </p:nvSpPr>
        <p:spPr>
          <a:xfrm>
            <a:off x="731520" y="960120"/>
            <a:ext cx="13167360" cy="1097280"/>
          </a:xfrm>
          <a:prstGeom prst="rect">
            <a:avLst/>
          </a:prstGeom>
          <a:noFill/>
        </p:spPr>
        <p:txBody>
          <a:bodyPr wrap="square" lIns="0" rIns="0" tIns="0" bIns="0">
            <a:spAutoFit/>
          </a:bodyPr>
          <a:lstStyle/>
          <a:p>
            <a:pPr>
              <a:spcAft>
                <a:spcPts val="1000"/>
              </a:spcAft>
              <a:defRPr sz="3400" b="1">
                <a:solidFill>
                  <a:srgbClr val="EFF4F8"/>
                </a:solidFill>
                <a:latin typeface="Noto Sans CJK KR"/>
              </a:defRPr>
            </a:pPr>
            <a:r>
              <a:t>전기추진 우선, 최적화 후 하이브리드 검토</a:t>
            </a:r>
          </a:p>
        </p:txBody>
      </p:sp>
      <p:sp>
        <p:nvSpPr>
          <p:cNvPr id="4" name="Rectangle 3"/>
          <p:cNvSpPr/>
          <p:nvPr/>
        </p:nvSpPr>
        <p:spPr>
          <a:xfrm>
            <a:off x="731520" y="7635240"/>
            <a:ext cx="13167360" cy="10972"/>
          </a:xfrm>
          <a:prstGeom prst="rect">
            <a:avLst/>
          </a:prstGeom>
          <a:solidFill>
            <a:srgbClr val="2940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7790688"/>
            <a:ext cx="6400800" cy="182880"/>
          </a:xfrm>
          <a:prstGeom prst="rect">
            <a:avLst/>
          </a:prstGeom>
          <a:noFill/>
        </p:spPr>
        <p:txBody>
          <a:bodyPr wrap="square" lIns="0" rIns="0" tIns="0" bIns="0">
            <a:spAutoFit/>
          </a:bodyPr>
          <a:lstStyle/>
          <a:p>
            <a:pPr>
              <a:spcAft>
                <a:spcPts val="1000"/>
              </a:spcAft>
              <a:defRPr sz="900" b="0">
                <a:solidFill>
                  <a:srgbClr val="8FA5B8"/>
                </a:solidFill>
                <a:latin typeface="Noto Sans CJK KR"/>
              </a:defRPr>
            </a:pPr>
            <a:r>
              <a:t>MASTERVOLT KOREA  /  INTEGRATED VESSEL SOLUTIONS</a:t>
            </a:r>
          </a:p>
        </p:txBody>
      </p:sp>
      <p:sp>
        <p:nvSpPr>
          <p:cNvPr id="6" name="TextBox 5"/>
          <p:cNvSpPr txBox="1"/>
          <p:nvPr/>
        </p:nvSpPr>
        <p:spPr>
          <a:xfrm>
            <a:off x="13167360" y="7754112"/>
            <a:ext cx="731520" cy="274320"/>
          </a:xfrm>
          <a:prstGeom prst="rect">
            <a:avLst/>
          </a:prstGeom>
          <a:noFill/>
        </p:spPr>
        <p:txBody>
          <a:bodyPr wrap="square" lIns="0" rIns="0" tIns="0" bIns="0">
            <a:spAutoFit/>
          </a:bodyPr>
          <a:lstStyle/>
          <a:p>
            <a:pPr>
              <a:spcAft>
                <a:spcPts val="1000"/>
              </a:spcAft>
              <a:defRPr sz="1100" b="0">
                <a:solidFill>
                  <a:srgbClr val="8FA5B8"/>
                </a:solidFill>
                <a:latin typeface="Noto Sans CJK KR"/>
              </a:defRPr>
            </a:pPr>
            <a:r>
              <a:t>11</a:t>
            </a:r>
          </a:p>
        </p:txBody>
      </p:sp>
      <p:sp>
        <p:nvSpPr>
          <p:cNvPr id="7" name="TextBox 6"/>
          <p:cNvSpPr txBox="1"/>
          <p:nvPr/>
        </p:nvSpPr>
        <p:spPr>
          <a:xfrm>
            <a:off x="731520" y="2468880"/>
            <a:ext cx="2743200" cy="457200"/>
          </a:xfrm>
          <a:prstGeom prst="rect">
            <a:avLst/>
          </a:prstGeom>
          <a:noFill/>
        </p:spPr>
        <p:txBody>
          <a:bodyPr wrap="square" lIns="0" rIns="0" tIns="0" bIns="0">
            <a:spAutoFit/>
          </a:bodyPr>
          <a:lstStyle/>
          <a:p>
            <a:pPr>
              <a:spcAft>
                <a:spcPts val="1000"/>
              </a:spcAft>
              <a:defRPr sz="2000" b="0">
                <a:solidFill>
                  <a:srgbClr val="48D4DE"/>
                </a:solidFill>
                <a:latin typeface="Noto Sans CJK KR"/>
              </a:defRPr>
            </a:pPr>
            <a:r>
              <a:t>01</a:t>
            </a:r>
          </a:p>
        </p:txBody>
      </p:sp>
      <p:sp>
        <p:nvSpPr>
          <p:cNvPr id="8" name="TextBox 7"/>
          <p:cNvSpPr txBox="1"/>
          <p:nvPr/>
        </p:nvSpPr>
        <p:spPr>
          <a:xfrm>
            <a:off x="731520" y="3063240"/>
            <a:ext cx="2971800" cy="1280160"/>
          </a:xfrm>
          <a:prstGeom prst="rect">
            <a:avLst/>
          </a:prstGeom>
          <a:noFill/>
        </p:spPr>
        <p:txBody>
          <a:bodyPr wrap="square" lIns="0" rIns="0" tIns="0" bIns="0">
            <a:spAutoFit/>
          </a:bodyPr>
          <a:lstStyle/>
          <a:p>
            <a:pPr>
              <a:spcAft>
                <a:spcPts val="1000"/>
              </a:spcAft>
              <a:defRPr sz="2200" b="0">
                <a:solidFill>
                  <a:srgbClr val="EFF4F8"/>
                </a:solidFill>
                <a:latin typeface="Noto Sans CJK KR"/>
              </a:defRPr>
            </a:pPr>
            <a:r>
              <a:t>운항여건</a:t>
            </a:r>
          </a:p>
          <a:p>
            <a:pPr>
              <a:spcAft>
                <a:spcPts val="1000"/>
              </a:spcAft>
              <a:defRPr sz="2200" b="0">
                <a:solidFill>
                  <a:srgbClr val="EFF4F8"/>
                </a:solidFill>
                <a:latin typeface="Noto Sans CJK KR"/>
              </a:defRPr>
            </a:pPr>
            <a:r>
              <a:t>확인 및 검토</a:t>
            </a:r>
          </a:p>
        </p:txBody>
      </p:sp>
      <p:sp>
        <p:nvSpPr>
          <p:cNvPr id="9" name="TextBox 8"/>
          <p:cNvSpPr txBox="1"/>
          <p:nvPr/>
        </p:nvSpPr>
        <p:spPr>
          <a:xfrm>
            <a:off x="3520439" y="3108960"/>
            <a:ext cx="548640" cy="548640"/>
          </a:xfrm>
          <a:prstGeom prst="rect">
            <a:avLst/>
          </a:prstGeom>
          <a:noFill/>
        </p:spPr>
        <p:txBody>
          <a:bodyPr wrap="square" lIns="0" rIns="0" tIns="0" bIns="0">
            <a:spAutoFit/>
          </a:bodyPr>
          <a:lstStyle/>
          <a:p>
            <a:pPr>
              <a:spcAft>
                <a:spcPts val="1000"/>
              </a:spcAft>
              <a:defRPr sz="2600" b="0">
                <a:solidFill>
                  <a:srgbClr val="48D4DE"/>
                </a:solidFill>
                <a:latin typeface="Noto Sans CJK KR"/>
              </a:defRPr>
            </a:pPr>
            <a:r>
              <a:t>→</a:t>
            </a:r>
          </a:p>
        </p:txBody>
      </p:sp>
      <p:sp>
        <p:nvSpPr>
          <p:cNvPr id="10" name="TextBox 9"/>
          <p:cNvSpPr txBox="1"/>
          <p:nvPr/>
        </p:nvSpPr>
        <p:spPr>
          <a:xfrm>
            <a:off x="4069080" y="2468880"/>
            <a:ext cx="2743200" cy="457200"/>
          </a:xfrm>
          <a:prstGeom prst="rect">
            <a:avLst/>
          </a:prstGeom>
          <a:noFill/>
        </p:spPr>
        <p:txBody>
          <a:bodyPr wrap="square" lIns="0" rIns="0" tIns="0" bIns="0">
            <a:spAutoFit/>
          </a:bodyPr>
          <a:lstStyle/>
          <a:p>
            <a:pPr>
              <a:spcAft>
                <a:spcPts val="1000"/>
              </a:spcAft>
              <a:defRPr sz="2000" b="0">
                <a:solidFill>
                  <a:srgbClr val="48D4DE"/>
                </a:solidFill>
                <a:latin typeface="Noto Sans CJK KR"/>
              </a:defRPr>
            </a:pPr>
            <a:r>
              <a:t>02</a:t>
            </a:r>
          </a:p>
        </p:txBody>
      </p:sp>
      <p:sp>
        <p:nvSpPr>
          <p:cNvPr id="11" name="TextBox 10"/>
          <p:cNvSpPr txBox="1"/>
          <p:nvPr/>
        </p:nvSpPr>
        <p:spPr>
          <a:xfrm>
            <a:off x="4069080" y="3063240"/>
            <a:ext cx="2971800" cy="1280160"/>
          </a:xfrm>
          <a:prstGeom prst="rect">
            <a:avLst/>
          </a:prstGeom>
          <a:noFill/>
        </p:spPr>
        <p:txBody>
          <a:bodyPr wrap="square" lIns="0" rIns="0" tIns="0" bIns="0">
            <a:spAutoFit/>
          </a:bodyPr>
          <a:lstStyle/>
          <a:p>
            <a:pPr>
              <a:spcAft>
                <a:spcPts val="1000"/>
              </a:spcAft>
              <a:defRPr sz="2200" b="0">
                <a:solidFill>
                  <a:srgbClr val="EFF4F8"/>
                </a:solidFill>
                <a:latin typeface="Noto Sans CJK KR"/>
              </a:defRPr>
            </a:pPr>
            <a:r>
              <a:t>요구성능</a:t>
            </a:r>
          </a:p>
          <a:p>
            <a:pPr>
              <a:spcAft>
                <a:spcPts val="1000"/>
              </a:spcAft>
              <a:defRPr sz="2200" b="0">
                <a:solidFill>
                  <a:srgbClr val="EFF4F8"/>
                </a:solidFill>
                <a:latin typeface="Noto Sans CJK KR"/>
              </a:defRPr>
            </a:pPr>
            <a:r>
              <a:t>재정립</a:t>
            </a:r>
          </a:p>
        </p:txBody>
      </p:sp>
      <p:sp>
        <p:nvSpPr>
          <p:cNvPr id="12" name="TextBox 11"/>
          <p:cNvSpPr txBox="1"/>
          <p:nvPr/>
        </p:nvSpPr>
        <p:spPr>
          <a:xfrm>
            <a:off x="6858000" y="3108960"/>
            <a:ext cx="548640" cy="548640"/>
          </a:xfrm>
          <a:prstGeom prst="rect">
            <a:avLst/>
          </a:prstGeom>
          <a:noFill/>
        </p:spPr>
        <p:txBody>
          <a:bodyPr wrap="square" lIns="0" rIns="0" tIns="0" bIns="0">
            <a:spAutoFit/>
          </a:bodyPr>
          <a:lstStyle/>
          <a:p>
            <a:pPr>
              <a:spcAft>
                <a:spcPts val="1000"/>
              </a:spcAft>
              <a:defRPr sz="2600" b="0">
                <a:solidFill>
                  <a:srgbClr val="48D4DE"/>
                </a:solidFill>
                <a:latin typeface="Noto Sans CJK KR"/>
              </a:defRPr>
            </a:pPr>
            <a:r>
              <a:t>→</a:t>
            </a:r>
          </a:p>
        </p:txBody>
      </p:sp>
      <p:sp>
        <p:nvSpPr>
          <p:cNvPr id="13" name="TextBox 12"/>
          <p:cNvSpPr txBox="1"/>
          <p:nvPr/>
        </p:nvSpPr>
        <p:spPr>
          <a:xfrm>
            <a:off x="7406640" y="2468880"/>
            <a:ext cx="2743200" cy="457200"/>
          </a:xfrm>
          <a:prstGeom prst="rect">
            <a:avLst/>
          </a:prstGeom>
          <a:noFill/>
        </p:spPr>
        <p:txBody>
          <a:bodyPr wrap="square" lIns="0" rIns="0" tIns="0" bIns="0">
            <a:spAutoFit/>
          </a:bodyPr>
          <a:lstStyle/>
          <a:p>
            <a:pPr>
              <a:spcAft>
                <a:spcPts val="1000"/>
              </a:spcAft>
              <a:defRPr sz="2000" b="0">
                <a:solidFill>
                  <a:srgbClr val="48D4DE"/>
                </a:solidFill>
                <a:latin typeface="Noto Sans CJK KR"/>
              </a:defRPr>
            </a:pPr>
            <a:r>
              <a:t>03</a:t>
            </a:r>
          </a:p>
        </p:txBody>
      </p:sp>
      <p:sp>
        <p:nvSpPr>
          <p:cNvPr id="14" name="TextBox 13"/>
          <p:cNvSpPr txBox="1"/>
          <p:nvPr/>
        </p:nvSpPr>
        <p:spPr>
          <a:xfrm>
            <a:off x="7406640" y="3063240"/>
            <a:ext cx="2971800" cy="1280160"/>
          </a:xfrm>
          <a:prstGeom prst="rect">
            <a:avLst/>
          </a:prstGeom>
          <a:noFill/>
        </p:spPr>
        <p:txBody>
          <a:bodyPr wrap="square" lIns="0" rIns="0" tIns="0" bIns="0">
            <a:spAutoFit/>
          </a:bodyPr>
          <a:lstStyle/>
          <a:p>
            <a:pPr>
              <a:spcAft>
                <a:spcPts val="1000"/>
              </a:spcAft>
              <a:defRPr sz="2200" b="0">
                <a:solidFill>
                  <a:srgbClr val="EFF4F8"/>
                </a:solidFill>
                <a:latin typeface="Noto Sans CJK KR"/>
              </a:defRPr>
            </a:pPr>
            <a:r>
              <a:t>전기추진 시스템</a:t>
            </a:r>
          </a:p>
          <a:p>
            <a:pPr>
              <a:spcAft>
                <a:spcPts val="1000"/>
              </a:spcAft>
              <a:defRPr sz="2200" b="0">
                <a:solidFill>
                  <a:srgbClr val="EFF4F8"/>
                </a:solidFill>
                <a:latin typeface="Noto Sans CJK KR"/>
              </a:defRPr>
            </a:pPr>
            <a:r>
              <a:t>사양 검토</a:t>
            </a:r>
          </a:p>
        </p:txBody>
      </p:sp>
      <p:sp>
        <p:nvSpPr>
          <p:cNvPr id="15" name="TextBox 14"/>
          <p:cNvSpPr txBox="1"/>
          <p:nvPr/>
        </p:nvSpPr>
        <p:spPr>
          <a:xfrm>
            <a:off x="10195559" y="3108960"/>
            <a:ext cx="548640" cy="548640"/>
          </a:xfrm>
          <a:prstGeom prst="rect">
            <a:avLst/>
          </a:prstGeom>
          <a:noFill/>
        </p:spPr>
        <p:txBody>
          <a:bodyPr wrap="square" lIns="0" rIns="0" tIns="0" bIns="0">
            <a:spAutoFit/>
          </a:bodyPr>
          <a:lstStyle/>
          <a:p>
            <a:pPr>
              <a:spcAft>
                <a:spcPts val="1000"/>
              </a:spcAft>
              <a:defRPr sz="2600" b="0">
                <a:solidFill>
                  <a:srgbClr val="48D4DE"/>
                </a:solidFill>
                <a:latin typeface="Noto Sans CJK KR"/>
              </a:defRPr>
            </a:pPr>
            <a:r>
              <a:t>→</a:t>
            </a:r>
          </a:p>
        </p:txBody>
      </p:sp>
      <p:sp>
        <p:nvSpPr>
          <p:cNvPr id="16" name="TextBox 15"/>
          <p:cNvSpPr txBox="1"/>
          <p:nvPr/>
        </p:nvSpPr>
        <p:spPr>
          <a:xfrm>
            <a:off x="10744200" y="2468880"/>
            <a:ext cx="2743200" cy="457200"/>
          </a:xfrm>
          <a:prstGeom prst="rect">
            <a:avLst/>
          </a:prstGeom>
          <a:noFill/>
        </p:spPr>
        <p:txBody>
          <a:bodyPr wrap="square" lIns="0" rIns="0" tIns="0" bIns="0">
            <a:spAutoFit/>
          </a:bodyPr>
          <a:lstStyle/>
          <a:p>
            <a:pPr>
              <a:spcAft>
                <a:spcPts val="1000"/>
              </a:spcAft>
              <a:defRPr sz="2000" b="0">
                <a:solidFill>
                  <a:srgbClr val="48D4DE"/>
                </a:solidFill>
                <a:latin typeface="Noto Sans CJK KR"/>
              </a:defRPr>
            </a:pPr>
            <a:r>
              <a:t>04</a:t>
            </a:r>
          </a:p>
        </p:txBody>
      </p:sp>
      <p:sp>
        <p:nvSpPr>
          <p:cNvPr id="17" name="TextBox 16"/>
          <p:cNvSpPr txBox="1"/>
          <p:nvPr/>
        </p:nvSpPr>
        <p:spPr>
          <a:xfrm>
            <a:off x="10744200" y="3063240"/>
            <a:ext cx="2971800" cy="1280160"/>
          </a:xfrm>
          <a:prstGeom prst="rect">
            <a:avLst/>
          </a:prstGeom>
          <a:noFill/>
        </p:spPr>
        <p:txBody>
          <a:bodyPr wrap="square" lIns="0" rIns="0" tIns="0" bIns="0">
            <a:spAutoFit/>
          </a:bodyPr>
          <a:lstStyle/>
          <a:p>
            <a:pPr>
              <a:spcAft>
                <a:spcPts val="1000"/>
              </a:spcAft>
              <a:defRPr sz="2200" b="0">
                <a:solidFill>
                  <a:srgbClr val="EFF4F8"/>
                </a:solidFill>
                <a:latin typeface="Noto Sans CJK KR"/>
              </a:defRPr>
            </a:pPr>
            <a:r>
              <a:t>현재 표준선박</a:t>
            </a:r>
          </a:p>
          <a:p>
            <a:pPr>
              <a:spcAft>
                <a:spcPts val="1000"/>
              </a:spcAft>
              <a:defRPr sz="2200" b="0">
                <a:solidFill>
                  <a:srgbClr val="EFF4F8"/>
                </a:solidFill>
                <a:latin typeface="Noto Sans CJK KR"/>
              </a:defRPr>
            </a:pPr>
            <a:r>
              <a:t>제원 내 적용성 검토</a:t>
            </a:r>
          </a:p>
        </p:txBody>
      </p:sp>
      <p:sp>
        <p:nvSpPr>
          <p:cNvPr id="18" name="Rectangle 17"/>
          <p:cNvSpPr/>
          <p:nvPr/>
        </p:nvSpPr>
        <p:spPr>
          <a:xfrm>
            <a:off x="731520" y="4663440"/>
            <a:ext cx="13167360" cy="13716"/>
          </a:xfrm>
          <a:prstGeom prst="rect">
            <a:avLst/>
          </a:prstGeom>
          <a:solidFill>
            <a:srgbClr val="2940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31520" y="5303520"/>
            <a:ext cx="6400800" cy="1371600"/>
          </a:xfrm>
          <a:prstGeom prst="rect">
            <a:avLst/>
          </a:prstGeom>
          <a:noFill/>
        </p:spPr>
        <p:txBody>
          <a:bodyPr wrap="square" lIns="0" rIns="0" tIns="0" bIns="0">
            <a:spAutoFit/>
          </a:bodyPr>
          <a:lstStyle/>
          <a:p>
            <a:pPr>
              <a:spcAft>
                <a:spcPts val="1000"/>
              </a:spcAft>
              <a:defRPr sz="2900" b="1">
                <a:solidFill>
                  <a:srgbClr val="48D4DE"/>
                </a:solidFill>
                <a:latin typeface="Noto Sans CJK KR"/>
              </a:defRPr>
            </a:pPr>
            <a:r>
              <a:t>적용가능 → 전기 추진방식</a:t>
            </a:r>
          </a:p>
        </p:txBody>
      </p:sp>
      <p:sp>
        <p:nvSpPr>
          <p:cNvPr id="20" name="TextBox 19"/>
          <p:cNvSpPr txBox="1"/>
          <p:nvPr/>
        </p:nvSpPr>
        <p:spPr>
          <a:xfrm>
            <a:off x="7315200" y="5166360"/>
            <a:ext cx="6400800" cy="914400"/>
          </a:xfrm>
          <a:prstGeom prst="rect">
            <a:avLst/>
          </a:prstGeom>
          <a:noFill/>
        </p:spPr>
        <p:txBody>
          <a:bodyPr wrap="square" lIns="0" rIns="0" tIns="0" bIns="0">
            <a:spAutoFit/>
          </a:bodyPr>
          <a:lstStyle/>
          <a:p>
            <a:pPr>
              <a:spcAft>
                <a:spcPts val="1000"/>
              </a:spcAft>
              <a:defRPr sz="2100" b="0">
                <a:solidFill>
                  <a:srgbClr val="EFF4F8"/>
                </a:solidFill>
                <a:latin typeface="Noto Sans CJK KR"/>
              </a:defRPr>
            </a:pPr>
            <a:r>
              <a:t>적용불가능 → 주요제원·요구성능 최적화</a:t>
            </a:r>
          </a:p>
        </p:txBody>
      </p:sp>
      <p:sp>
        <p:nvSpPr>
          <p:cNvPr id="21" name="TextBox 20"/>
          <p:cNvSpPr txBox="1"/>
          <p:nvPr/>
        </p:nvSpPr>
        <p:spPr>
          <a:xfrm>
            <a:off x="7315200" y="5943600"/>
            <a:ext cx="6400800" cy="548640"/>
          </a:xfrm>
          <a:prstGeom prst="rect">
            <a:avLst/>
          </a:prstGeom>
          <a:noFill/>
        </p:spPr>
        <p:txBody>
          <a:bodyPr wrap="square" lIns="0" rIns="0" tIns="0" bIns="0">
            <a:spAutoFit/>
          </a:bodyPr>
          <a:lstStyle/>
          <a:p>
            <a:pPr>
              <a:spcAft>
                <a:spcPts val="1000"/>
              </a:spcAft>
              <a:defRPr sz="2200" b="0">
                <a:solidFill>
                  <a:srgbClr val="EFF4F8"/>
                </a:solidFill>
                <a:latin typeface="Noto Sans CJK KR"/>
              </a:defRPr>
            </a:pPr>
            <a:r>
              <a:t>↶ 요구성능 재정립 후 재검토</a:t>
            </a:r>
          </a:p>
        </p:txBody>
      </p:sp>
      <p:sp>
        <p:nvSpPr>
          <p:cNvPr id="22" name="TextBox 21"/>
          <p:cNvSpPr txBox="1"/>
          <p:nvPr/>
        </p:nvSpPr>
        <p:spPr>
          <a:xfrm>
            <a:off x="7315200" y="6675120"/>
            <a:ext cx="6400800" cy="548640"/>
          </a:xfrm>
          <a:prstGeom prst="rect">
            <a:avLst/>
          </a:prstGeom>
          <a:noFill/>
        </p:spPr>
        <p:txBody>
          <a:bodyPr wrap="square" lIns="0" rIns="0" tIns="0" bIns="0">
            <a:spAutoFit/>
          </a:bodyPr>
          <a:lstStyle/>
          <a:p>
            <a:pPr>
              <a:spcAft>
                <a:spcPts val="1000"/>
              </a:spcAft>
              <a:defRPr sz="2100" b="0">
                <a:solidFill>
                  <a:srgbClr val="48D4DE"/>
                </a:solidFill>
                <a:latin typeface="Noto Sans CJK KR"/>
              </a:defRPr>
            </a:pPr>
            <a:r>
              <a:t>최적화 후에도 불가능 → 하이브리드</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A1420"/>
        </a:solidFill>
        <a:effectLst/>
      </p:bgPr>
    </p:bg>
    <p:spTree>
      <p:nvGrpSpPr>
        <p:cNvPr id="1" name=""/>
        <p:cNvGrpSpPr/>
        <p:nvPr/>
      </p:nvGrpSpPr>
      <p:grpSpPr/>
      <p:pic>
        <p:nvPicPr>
          <p:cNvPr id="19" name="Picture 18" descr="exec-f3ed2d79-5757-4445-a055-ec161376c4e6.png"/>
          <p:cNvPicPr>
            <a:picLocks noChangeAspect="1"/>
          </p:cNvPicPr>
          <p:nvPr/>
        </p:nvPicPr>
        <p:blipFill>
          <a:blip r:embed="rId3"/>
          <a:stretch>
            <a:fillRect/>
          </a:stretch>
        </p:blipFill>
        <p:spPr>
          <a:xfrm>
            <a:off x="0" y="0"/>
            <a:ext cx="14630400" cy="8229600"/>
          </a:xfrm>
          <a:prstGeom prst="rect">
            <a:avLst/>
          </a:prstGeom>
        </p:spPr>
      </p:pic>
      <p:sp>
        <p:nvSpPr>
          <p:cNvPr id="2" name="TextBox 1"/>
          <p:cNvSpPr txBox="1"/>
          <p:nvPr/>
        </p:nvSpPr>
        <p:spPr>
          <a:xfrm>
            <a:off x="731520" y="411480"/>
            <a:ext cx="12801600" cy="274320"/>
          </a:xfrm>
          <a:prstGeom prst="rect">
            <a:avLst/>
          </a:prstGeom>
          <a:noFill/>
        </p:spPr>
        <p:txBody>
          <a:bodyPr wrap="square" lIns="0" rIns="0" tIns="0" bIns="0">
            <a:spAutoFit/>
          </a:bodyPr>
          <a:lstStyle/>
          <a:p>
            <a:pPr>
              <a:spcAft>
                <a:spcPts val="1000"/>
              </a:spcAft>
              <a:defRPr sz="1100" b="0">
                <a:solidFill>
                  <a:srgbClr val="48D4DE"/>
                </a:solidFill>
                <a:latin typeface="Noto Sans CJK KR"/>
              </a:defRPr>
            </a:pPr>
            <a:r>
              <a:t>VESSEL STANDARDIZATION / CONCEPT</a:t>
            </a:r>
          </a:p>
        </p:txBody>
      </p:sp>
      <p:sp>
        <p:nvSpPr>
          <p:cNvPr id="3" name="TextBox 2"/>
          <p:cNvSpPr txBox="1"/>
          <p:nvPr/>
        </p:nvSpPr>
        <p:spPr>
          <a:xfrm>
            <a:off x="731520" y="960120"/>
            <a:ext cx="13167360" cy="1097280"/>
          </a:xfrm>
          <a:prstGeom prst="rect">
            <a:avLst/>
          </a:prstGeom>
          <a:noFill/>
        </p:spPr>
        <p:txBody>
          <a:bodyPr wrap="square" lIns="0" rIns="0" tIns="0" bIns="0">
            <a:spAutoFit/>
          </a:bodyPr>
          <a:lstStyle/>
          <a:p>
            <a:pPr>
              <a:spcAft>
                <a:spcPts val="1000"/>
              </a:spcAft>
              <a:defRPr sz="3400" b="1">
                <a:solidFill>
                  <a:srgbClr val="EFF4F8"/>
                </a:solidFill>
                <a:latin typeface="Noto Sans CJK KR"/>
              </a:defRPr>
            </a:pPr>
            <a:r>
              <a:t>선종별 추진방식 검토안</a:t>
            </a:r>
          </a:p>
        </p:txBody>
      </p:sp>
      <p:sp>
        <p:nvSpPr>
          <p:cNvPr id="4" name="Rectangle 3"/>
          <p:cNvSpPr/>
          <p:nvPr/>
        </p:nvSpPr>
        <p:spPr>
          <a:xfrm>
            <a:off x="731520" y="7635240"/>
            <a:ext cx="13167360" cy="10972"/>
          </a:xfrm>
          <a:prstGeom prst="rect">
            <a:avLst/>
          </a:prstGeom>
          <a:solidFill>
            <a:srgbClr val="2940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7790688"/>
            <a:ext cx="6400800" cy="182880"/>
          </a:xfrm>
          <a:prstGeom prst="rect">
            <a:avLst/>
          </a:prstGeom>
          <a:noFill/>
        </p:spPr>
        <p:txBody>
          <a:bodyPr wrap="square" lIns="0" rIns="0" tIns="0" bIns="0">
            <a:spAutoFit/>
          </a:bodyPr>
          <a:lstStyle/>
          <a:p>
            <a:pPr>
              <a:spcAft>
                <a:spcPts val="1000"/>
              </a:spcAft>
              <a:defRPr sz="900" b="0">
                <a:solidFill>
                  <a:srgbClr val="8FA5B8"/>
                </a:solidFill>
                <a:latin typeface="Noto Sans CJK KR"/>
              </a:defRPr>
            </a:pPr>
            <a:r>
              <a:t>MASTERVOLT KOREA  /  INTEGRATED VESSEL SOLUTIONS</a:t>
            </a:r>
          </a:p>
        </p:txBody>
      </p:sp>
      <p:sp>
        <p:nvSpPr>
          <p:cNvPr id="6" name="TextBox 5"/>
          <p:cNvSpPr txBox="1"/>
          <p:nvPr/>
        </p:nvSpPr>
        <p:spPr>
          <a:xfrm>
            <a:off x="13167360" y="7754112"/>
            <a:ext cx="731520" cy="274320"/>
          </a:xfrm>
          <a:prstGeom prst="rect">
            <a:avLst/>
          </a:prstGeom>
          <a:noFill/>
        </p:spPr>
        <p:txBody>
          <a:bodyPr wrap="square" lIns="0" rIns="0" tIns="0" bIns="0">
            <a:spAutoFit/>
          </a:bodyPr>
          <a:lstStyle/>
          <a:p>
            <a:pPr>
              <a:spcAft>
                <a:spcPts val="1000"/>
              </a:spcAft>
              <a:defRPr sz="1100" b="0">
                <a:solidFill>
                  <a:srgbClr val="8FA5B8"/>
                </a:solidFill>
                <a:latin typeface="Noto Sans CJK KR"/>
              </a:defRPr>
            </a:pPr>
            <a:r>
              <a:t>12</a:t>
            </a:r>
          </a:p>
        </p:txBody>
      </p:sp>
      <p:sp>
        <p:nvSpPr>
          <p:cNvPr id="7" name="TextBox 6"/>
          <p:cNvSpPr txBox="1"/>
          <p:nvPr/>
        </p:nvSpPr>
        <p:spPr>
          <a:xfrm>
            <a:off x="731520" y="2651760"/>
            <a:ext cx="2468880" cy="640080"/>
          </a:xfrm>
          <a:prstGeom prst="rect">
            <a:avLst/>
          </a:prstGeom>
          <a:noFill/>
        </p:spPr>
        <p:txBody>
          <a:bodyPr wrap="square" lIns="0" rIns="0" tIns="0" bIns="0">
            <a:spAutoFit/>
          </a:bodyPr>
          <a:lstStyle/>
          <a:p>
            <a:pPr>
              <a:spcAft>
                <a:spcPts val="1000"/>
              </a:spcAft>
              <a:defRPr sz="2400" b="0">
                <a:solidFill>
                  <a:srgbClr val="EFF4F8"/>
                </a:solidFill>
                <a:latin typeface="Noto Sans CJK KR"/>
              </a:defRPr>
            </a:pPr>
            <a:r>
              <a:t>관리선 A</a:t>
            </a:r>
          </a:p>
        </p:txBody>
      </p:sp>
      <p:sp>
        <p:nvSpPr>
          <p:cNvPr id="8" name="TextBox 7"/>
          <p:cNvSpPr txBox="1"/>
          <p:nvPr/>
        </p:nvSpPr>
        <p:spPr>
          <a:xfrm>
            <a:off x="731520" y="3657600"/>
            <a:ext cx="2468880" cy="1371600"/>
          </a:xfrm>
          <a:prstGeom prst="rect">
            <a:avLst/>
          </a:prstGeom>
          <a:noFill/>
        </p:spPr>
        <p:txBody>
          <a:bodyPr wrap="square" lIns="0" rIns="0" tIns="0" bIns="0">
            <a:spAutoFit/>
          </a:bodyPr>
          <a:lstStyle/>
          <a:p>
            <a:pPr>
              <a:spcAft>
                <a:spcPts val="1000"/>
              </a:spcAft>
              <a:defRPr sz="2400" b="1">
                <a:solidFill>
                  <a:srgbClr val="48D4DE"/>
                </a:solidFill>
                <a:latin typeface="Noto Sans CJK KR"/>
              </a:defRPr>
            </a:pPr>
            <a:r>
              <a:t>전기추진</a:t>
            </a:r>
          </a:p>
        </p:txBody>
      </p:sp>
      <p:sp>
        <p:nvSpPr>
          <p:cNvPr id="9" name="TextBox 8"/>
          <p:cNvSpPr txBox="1"/>
          <p:nvPr/>
        </p:nvSpPr>
        <p:spPr>
          <a:xfrm>
            <a:off x="3401568" y="2651760"/>
            <a:ext cx="2468880" cy="640080"/>
          </a:xfrm>
          <a:prstGeom prst="rect">
            <a:avLst/>
          </a:prstGeom>
          <a:noFill/>
        </p:spPr>
        <p:txBody>
          <a:bodyPr wrap="square" lIns="0" rIns="0" tIns="0" bIns="0">
            <a:spAutoFit/>
          </a:bodyPr>
          <a:lstStyle/>
          <a:p>
            <a:pPr>
              <a:spcAft>
                <a:spcPts val="1000"/>
              </a:spcAft>
              <a:defRPr sz="2400" b="0">
                <a:solidFill>
                  <a:srgbClr val="EFF4F8"/>
                </a:solidFill>
                <a:latin typeface="Noto Sans CJK KR"/>
              </a:defRPr>
            </a:pPr>
            <a:r>
              <a:t>관리선 B</a:t>
            </a:r>
          </a:p>
        </p:txBody>
      </p:sp>
      <p:sp>
        <p:nvSpPr>
          <p:cNvPr id="10" name="TextBox 9"/>
          <p:cNvSpPr txBox="1"/>
          <p:nvPr/>
        </p:nvSpPr>
        <p:spPr>
          <a:xfrm>
            <a:off x="3401568" y="3657600"/>
            <a:ext cx="2468880" cy="1371600"/>
          </a:xfrm>
          <a:prstGeom prst="rect">
            <a:avLst/>
          </a:prstGeom>
          <a:noFill/>
        </p:spPr>
        <p:txBody>
          <a:bodyPr wrap="square" lIns="0" rIns="0" tIns="0" bIns="0">
            <a:spAutoFit/>
          </a:bodyPr>
          <a:lstStyle/>
          <a:p>
            <a:pPr>
              <a:spcAft>
                <a:spcPts val="1000"/>
              </a:spcAft>
              <a:defRPr sz="2400" b="1">
                <a:solidFill>
                  <a:srgbClr val="48D4DE"/>
                </a:solidFill>
                <a:latin typeface="Noto Sans CJK KR"/>
              </a:defRPr>
            </a:pPr>
            <a:r>
              <a:t>하이브리드</a:t>
            </a:r>
          </a:p>
          <a:p>
            <a:pPr>
              <a:spcAft>
                <a:spcPts val="1000"/>
              </a:spcAft>
              <a:defRPr sz="2400" b="1">
                <a:solidFill>
                  <a:srgbClr val="48D4DE"/>
                </a:solidFill>
                <a:latin typeface="Noto Sans CJK KR"/>
              </a:defRPr>
            </a:pPr>
            <a:r>
              <a:t>추진</a:t>
            </a:r>
          </a:p>
        </p:txBody>
      </p:sp>
      <p:sp>
        <p:nvSpPr>
          <p:cNvPr id="11" name="TextBox 10"/>
          <p:cNvSpPr txBox="1"/>
          <p:nvPr/>
        </p:nvSpPr>
        <p:spPr>
          <a:xfrm>
            <a:off x="6071616" y="2651760"/>
            <a:ext cx="2468880" cy="640080"/>
          </a:xfrm>
          <a:prstGeom prst="rect">
            <a:avLst/>
          </a:prstGeom>
          <a:noFill/>
        </p:spPr>
        <p:txBody>
          <a:bodyPr wrap="square" lIns="0" rIns="0" tIns="0" bIns="0">
            <a:spAutoFit/>
          </a:bodyPr>
          <a:lstStyle/>
          <a:p>
            <a:pPr>
              <a:spcAft>
                <a:spcPts val="1000"/>
              </a:spcAft>
              <a:defRPr sz="2400" b="0">
                <a:solidFill>
                  <a:srgbClr val="EFF4F8"/>
                </a:solidFill>
                <a:latin typeface="Noto Sans CJK KR"/>
              </a:defRPr>
            </a:pPr>
            <a:r>
              <a:t>순시선 A</a:t>
            </a:r>
          </a:p>
        </p:txBody>
      </p:sp>
      <p:sp>
        <p:nvSpPr>
          <p:cNvPr id="12" name="TextBox 11"/>
          <p:cNvSpPr txBox="1"/>
          <p:nvPr/>
        </p:nvSpPr>
        <p:spPr>
          <a:xfrm>
            <a:off x="6071616" y="3657600"/>
            <a:ext cx="2468880" cy="1371600"/>
          </a:xfrm>
          <a:prstGeom prst="rect">
            <a:avLst/>
          </a:prstGeom>
          <a:noFill/>
        </p:spPr>
        <p:txBody>
          <a:bodyPr wrap="square" lIns="0" rIns="0" tIns="0" bIns="0">
            <a:spAutoFit/>
          </a:bodyPr>
          <a:lstStyle/>
          <a:p>
            <a:pPr>
              <a:spcAft>
                <a:spcPts val="1000"/>
              </a:spcAft>
              <a:defRPr sz="2400" b="1">
                <a:solidFill>
                  <a:srgbClr val="48D4DE"/>
                </a:solidFill>
                <a:latin typeface="Noto Sans CJK KR"/>
              </a:defRPr>
            </a:pPr>
            <a:r>
              <a:t>하이브리드</a:t>
            </a:r>
          </a:p>
          <a:p>
            <a:pPr>
              <a:spcAft>
                <a:spcPts val="1000"/>
              </a:spcAft>
              <a:defRPr sz="2400" b="1">
                <a:solidFill>
                  <a:srgbClr val="48D4DE"/>
                </a:solidFill>
                <a:latin typeface="Noto Sans CJK KR"/>
              </a:defRPr>
            </a:pPr>
            <a:r>
              <a:t>추진</a:t>
            </a:r>
          </a:p>
        </p:txBody>
      </p:sp>
      <p:sp>
        <p:nvSpPr>
          <p:cNvPr id="13" name="TextBox 12"/>
          <p:cNvSpPr txBox="1"/>
          <p:nvPr/>
        </p:nvSpPr>
        <p:spPr>
          <a:xfrm>
            <a:off x="8741664" y="2651760"/>
            <a:ext cx="2468880" cy="640080"/>
          </a:xfrm>
          <a:prstGeom prst="rect">
            <a:avLst/>
          </a:prstGeom>
          <a:noFill/>
        </p:spPr>
        <p:txBody>
          <a:bodyPr wrap="square" lIns="0" rIns="0" tIns="0" bIns="0">
            <a:spAutoFit/>
          </a:bodyPr>
          <a:lstStyle/>
          <a:p>
            <a:pPr>
              <a:spcAft>
                <a:spcPts val="1000"/>
              </a:spcAft>
              <a:defRPr sz="2400" b="0">
                <a:solidFill>
                  <a:srgbClr val="EFF4F8"/>
                </a:solidFill>
                <a:latin typeface="Noto Sans CJK KR"/>
              </a:defRPr>
            </a:pPr>
            <a:r>
              <a:t>순시선 B</a:t>
            </a:r>
          </a:p>
        </p:txBody>
      </p:sp>
      <p:sp>
        <p:nvSpPr>
          <p:cNvPr id="14" name="TextBox 13"/>
          <p:cNvSpPr txBox="1"/>
          <p:nvPr/>
        </p:nvSpPr>
        <p:spPr>
          <a:xfrm>
            <a:off x="8741664" y="3657600"/>
            <a:ext cx="2468880" cy="1371600"/>
          </a:xfrm>
          <a:prstGeom prst="rect">
            <a:avLst/>
          </a:prstGeom>
          <a:noFill/>
        </p:spPr>
        <p:txBody>
          <a:bodyPr wrap="square" lIns="0" rIns="0" tIns="0" bIns="0">
            <a:spAutoFit/>
          </a:bodyPr>
          <a:lstStyle/>
          <a:p>
            <a:pPr>
              <a:spcAft>
                <a:spcPts val="1000"/>
              </a:spcAft>
              <a:defRPr sz="2400" b="1">
                <a:solidFill>
                  <a:srgbClr val="48D4DE"/>
                </a:solidFill>
                <a:latin typeface="Noto Sans CJK KR"/>
              </a:defRPr>
            </a:pPr>
            <a:r>
              <a:t>전기추진</a:t>
            </a:r>
          </a:p>
        </p:txBody>
      </p:sp>
      <p:sp>
        <p:nvSpPr>
          <p:cNvPr id="15" name="TextBox 14"/>
          <p:cNvSpPr txBox="1"/>
          <p:nvPr/>
        </p:nvSpPr>
        <p:spPr>
          <a:xfrm>
            <a:off x="11411712" y="2651760"/>
            <a:ext cx="2468880" cy="640080"/>
          </a:xfrm>
          <a:prstGeom prst="rect">
            <a:avLst/>
          </a:prstGeom>
          <a:noFill/>
        </p:spPr>
        <p:txBody>
          <a:bodyPr wrap="square" lIns="0" rIns="0" tIns="0" bIns="0">
            <a:spAutoFit/>
          </a:bodyPr>
          <a:lstStyle/>
          <a:p>
            <a:pPr>
              <a:spcAft>
                <a:spcPts val="1000"/>
              </a:spcAft>
              <a:defRPr sz="2400" b="0">
                <a:solidFill>
                  <a:srgbClr val="EFF4F8"/>
                </a:solidFill>
                <a:latin typeface="Noto Sans CJK KR"/>
              </a:defRPr>
            </a:pPr>
            <a:r>
              <a:t>작업선</a:t>
            </a:r>
          </a:p>
        </p:txBody>
      </p:sp>
      <p:sp>
        <p:nvSpPr>
          <p:cNvPr id="16" name="TextBox 15"/>
          <p:cNvSpPr txBox="1"/>
          <p:nvPr/>
        </p:nvSpPr>
        <p:spPr>
          <a:xfrm>
            <a:off x="11411712" y="3657600"/>
            <a:ext cx="2468880" cy="1371600"/>
          </a:xfrm>
          <a:prstGeom prst="rect">
            <a:avLst/>
          </a:prstGeom>
          <a:noFill/>
        </p:spPr>
        <p:txBody>
          <a:bodyPr wrap="square" lIns="0" rIns="0" tIns="0" bIns="0">
            <a:spAutoFit/>
          </a:bodyPr>
          <a:lstStyle/>
          <a:p>
            <a:pPr>
              <a:spcAft>
                <a:spcPts val="1000"/>
              </a:spcAft>
              <a:defRPr sz="2400" b="1">
                <a:solidFill>
                  <a:srgbClr val="48D4DE"/>
                </a:solidFill>
                <a:latin typeface="Noto Sans CJK KR"/>
              </a:defRPr>
            </a:pPr>
            <a:r>
              <a:t>전기추진</a:t>
            </a:r>
          </a:p>
        </p:txBody>
      </p:sp>
      <p:sp>
        <p:nvSpPr>
          <p:cNvPr id="17" name="TextBox 16"/>
          <p:cNvSpPr txBox="1"/>
          <p:nvPr/>
        </p:nvSpPr>
        <p:spPr>
          <a:xfrm>
            <a:off x="731520" y="5715000"/>
            <a:ext cx="13167360" cy="822960"/>
          </a:xfrm>
          <a:prstGeom prst="rect">
            <a:avLst/>
          </a:prstGeom>
          <a:noFill/>
        </p:spPr>
        <p:txBody>
          <a:bodyPr wrap="square" lIns="0" rIns="0" tIns="0" bIns="0">
            <a:spAutoFit/>
          </a:bodyPr>
          <a:lstStyle/>
          <a:p>
            <a:pPr>
              <a:spcAft>
                <a:spcPts val="1000"/>
              </a:spcAft>
              <a:defRPr sz="2200" b="0">
                <a:solidFill>
                  <a:srgbClr val="EFF4F8"/>
                </a:solidFill>
                <a:latin typeface="Noto Sans CJK KR"/>
              </a:defRPr>
            </a:pPr>
            <a:r>
              <a:t>기존 주요제원 최대한 유지 / 사업장별 운항여건 및 친환경 추진체계 반영</a:t>
            </a:r>
          </a:p>
        </p:txBody>
      </p:sp>
      <p:sp>
        <p:nvSpPr>
          <p:cNvPr id="18" name="TextBox 17"/>
          <p:cNvSpPr txBox="1"/>
          <p:nvPr/>
        </p:nvSpPr>
        <p:spPr>
          <a:xfrm>
            <a:off x="731520" y="6720840"/>
            <a:ext cx="13167360" cy="640080"/>
          </a:xfrm>
          <a:prstGeom prst="rect">
            <a:avLst/>
          </a:prstGeom>
          <a:noFill/>
        </p:spPr>
        <p:txBody>
          <a:bodyPr wrap="square" lIns="0" rIns="0" tIns="0" bIns="0">
            <a:spAutoFit/>
          </a:bodyPr>
          <a:lstStyle/>
          <a:p>
            <a:pPr>
              <a:spcAft>
                <a:spcPts val="1000"/>
              </a:spcAft>
              <a:defRPr sz="2000" b="0">
                <a:solidFill>
                  <a:srgbClr val="8FA5B8"/>
                </a:solidFill>
                <a:latin typeface="Noto Sans CJK KR"/>
              </a:defRPr>
            </a:pPr>
            <a:r>
              <a:t>출력 · 추진기 · 최대/운항선속 · 항속거리: 최적화 검토 대상</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A1420"/>
        </a:solidFill>
        <a:effectLst/>
      </p:bgPr>
    </p:bg>
    <p:spTree>
      <p:nvGrpSpPr>
        <p:cNvPr id="1" name=""/>
        <p:cNvGrpSpPr/>
        <p:nvPr/>
      </p:nvGrpSpPr>
      <p:grpSpPr/>
      <p:pic>
        <p:nvPicPr>
          <p:cNvPr id="15" name="Picture 14" descr="exec-f3ed2d79-5757-4445-a055-ec161376c4e6.png"/>
          <p:cNvPicPr>
            <a:picLocks noChangeAspect="1"/>
          </p:cNvPicPr>
          <p:nvPr/>
        </p:nvPicPr>
        <p:blipFill>
          <a:blip r:embed="rId3"/>
          <a:stretch>
            <a:fillRect/>
          </a:stretch>
        </p:blipFill>
        <p:spPr>
          <a:xfrm>
            <a:off x="0" y="0"/>
            <a:ext cx="14630400" cy="8229600"/>
          </a:xfrm>
          <a:prstGeom prst="rect">
            <a:avLst/>
          </a:prstGeom>
        </p:spPr>
      </p:pic>
      <p:sp>
        <p:nvSpPr>
          <p:cNvPr id="2" name="TextBox 1"/>
          <p:cNvSpPr txBox="1"/>
          <p:nvPr/>
        </p:nvSpPr>
        <p:spPr>
          <a:xfrm>
            <a:off x="731520" y="411480"/>
            <a:ext cx="12801600" cy="274320"/>
          </a:xfrm>
          <a:prstGeom prst="rect">
            <a:avLst/>
          </a:prstGeom>
          <a:noFill/>
        </p:spPr>
        <p:txBody>
          <a:bodyPr wrap="square" lIns="0" rIns="0" tIns="0" bIns="0">
            <a:spAutoFit/>
          </a:bodyPr>
          <a:lstStyle/>
          <a:p>
            <a:pPr>
              <a:spcAft>
                <a:spcPts val="1000"/>
              </a:spcAft>
              <a:defRPr sz="1100" b="0">
                <a:solidFill>
                  <a:srgbClr val="48D4DE"/>
                </a:solidFill>
                <a:latin typeface="Noto Sans CJK KR"/>
              </a:defRPr>
            </a:pPr>
            <a:r>
              <a:t>VESSEL STANDARDIZATION / REVIEW SCOPE</a:t>
            </a:r>
          </a:p>
        </p:txBody>
      </p:sp>
      <p:sp>
        <p:nvSpPr>
          <p:cNvPr id="3" name="TextBox 2"/>
          <p:cNvSpPr txBox="1"/>
          <p:nvPr/>
        </p:nvSpPr>
        <p:spPr>
          <a:xfrm>
            <a:off x="731520" y="960120"/>
            <a:ext cx="13167360" cy="1097280"/>
          </a:xfrm>
          <a:prstGeom prst="rect">
            <a:avLst/>
          </a:prstGeom>
          <a:noFill/>
        </p:spPr>
        <p:txBody>
          <a:bodyPr wrap="square" lIns="0" rIns="0" tIns="0" bIns="0">
            <a:spAutoFit/>
          </a:bodyPr>
          <a:lstStyle/>
          <a:p>
            <a:pPr>
              <a:spcAft>
                <a:spcPts val="1000"/>
              </a:spcAft>
              <a:defRPr sz="3400" b="1">
                <a:solidFill>
                  <a:srgbClr val="EFF4F8"/>
                </a:solidFill>
                <a:latin typeface="Noto Sans CJK KR"/>
              </a:defRPr>
            </a:pPr>
            <a:r>
              <a:t>표준규격 도출의 검토 범위</a:t>
            </a:r>
          </a:p>
        </p:txBody>
      </p:sp>
      <p:sp>
        <p:nvSpPr>
          <p:cNvPr id="4" name="Rectangle 3"/>
          <p:cNvSpPr/>
          <p:nvPr/>
        </p:nvSpPr>
        <p:spPr>
          <a:xfrm>
            <a:off x="731520" y="7635240"/>
            <a:ext cx="13167360" cy="10972"/>
          </a:xfrm>
          <a:prstGeom prst="rect">
            <a:avLst/>
          </a:prstGeom>
          <a:solidFill>
            <a:srgbClr val="2940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7790688"/>
            <a:ext cx="6400800" cy="182880"/>
          </a:xfrm>
          <a:prstGeom prst="rect">
            <a:avLst/>
          </a:prstGeom>
          <a:noFill/>
        </p:spPr>
        <p:txBody>
          <a:bodyPr wrap="square" lIns="0" rIns="0" tIns="0" bIns="0">
            <a:spAutoFit/>
          </a:bodyPr>
          <a:lstStyle/>
          <a:p>
            <a:pPr>
              <a:spcAft>
                <a:spcPts val="1000"/>
              </a:spcAft>
              <a:defRPr sz="900" b="0">
                <a:solidFill>
                  <a:srgbClr val="8FA5B8"/>
                </a:solidFill>
                <a:latin typeface="Noto Sans CJK KR"/>
              </a:defRPr>
            </a:pPr>
            <a:r>
              <a:t>MASTERVOLT KOREA  /  INTEGRATED VESSEL SOLUTIONS</a:t>
            </a:r>
          </a:p>
        </p:txBody>
      </p:sp>
      <p:sp>
        <p:nvSpPr>
          <p:cNvPr id="6" name="TextBox 5"/>
          <p:cNvSpPr txBox="1"/>
          <p:nvPr/>
        </p:nvSpPr>
        <p:spPr>
          <a:xfrm>
            <a:off x="13167360" y="7754112"/>
            <a:ext cx="731520" cy="274320"/>
          </a:xfrm>
          <a:prstGeom prst="rect">
            <a:avLst/>
          </a:prstGeom>
          <a:noFill/>
        </p:spPr>
        <p:txBody>
          <a:bodyPr wrap="square" lIns="0" rIns="0" tIns="0" bIns="0">
            <a:spAutoFit/>
          </a:bodyPr>
          <a:lstStyle/>
          <a:p>
            <a:pPr>
              <a:spcAft>
                <a:spcPts val="1000"/>
              </a:spcAft>
              <a:defRPr sz="1100" b="0">
                <a:solidFill>
                  <a:srgbClr val="8FA5B8"/>
                </a:solidFill>
                <a:latin typeface="Noto Sans CJK KR"/>
              </a:defRPr>
            </a:pPr>
            <a:r>
              <a:t>13</a:t>
            </a:r>
          </a:p>
        </p:txBody>
      </p:sp>
      <p:sp>
        <p:nvSpPr>
          <p:cNvPr id="7" name="TextBox 6"/>
          <p:cNvSpPr txBox="1"/>
          <p:nvPr/>
        </p:nvSpPr>
        <p:spPr>
          <a:xfrm>
            <a:off x="731520" y="2331720"/>
            <a:ext cx="4297680" cy="731520"/>
          </a:xfrm>
          <a:prstGeom prst="rect">
            <a:avLst/>
          </a:prstGeom>
          <a:noFill/>
        </p:spPr>
        <p:txBody>
          <a:bodyPr wrap="square" lIns="0" rIns="0" tIns="0" bIns="0">
            <a:spAutoFit/>
          </a:bodyPr>
          <a:lstStyle/>
          <a:p>
            <a:pPr>
              <a:spcAft>
                <a:spcPts val="1000"/>
              </a:spcAft>
              <a:defRPr sz="2100" b="1">
                <a:solidFill>
                  <a:srgbClr val="48D4DE"/>
                </a:solidFill>
                <a:latin typeface="Noto Sans CJK KR"/>
              </a:defRPr>
            </a:pPr>
            <a:r>
              <a:t>운항여건 및 요구성능</a:t>
            </a:r>
          </a:p>
        </p:txBody>
      </p:sp>
      <p:sp>
        <p:nvSpPr>
          <p:cNvPr id="8" name="TextBox 7"/>
          <p:cNvSpPr txBox="1"/>
          <p:nvPr/>
        </p:nvSpPr>
        <p:spPr>
          <a:xfrm>
            <a:off x="5394960" y="2331720"/>
            <a:ext cx="8412480" cy="960120"/>
          </a:xfrm>
          <a:prstGeom prst="rect">
            <a:avLst/>
          </a:prstGeom>
          <a:noFill/>
        </p:spPr>
        <p:txBody>
          <a:bodyPr wrap="square" lIns="0" rIns="0" tIns="0" bIns="0">
            <a:spAutoFit/>
          </a:bodyPr>
          <a:lstStyle/>
          <a:p>
            <a:pPr>
              <a:spcAft>
                <a:spcPts val="1000"/>
              </a:spcAft>
              <a:defRPr sz="1900" b="0">
                <a:solidFill>
                  <a:srgbClr val="EFF4F8"/>
                </a:solidFill>
                <a:latin typeface="Noto Sans CJK KR"/>
              </a:defRPr>
            </a:pPr>
            <a:r>
              <a:t>운항거리·운항시간·운항속력 등 기존 조사자료 활용</a:t>
            </a:r>
          </a:p>
          <a:p>
            <a:pPr>
              <a:spcAft>
                <a:spcPts val="1000"/>
              </a:spcAft>
              <a:defRPr sz="1900" b="0">
                <a:solidFill>
                  <a:srgbClr val="EFF4F8"/>
                </a:solidFill>
                <a:latin typeface="Noto Sans CJK KR"/>
              </a:defRPr>
            </a:pPr>
            <a:r>
              <a:t>선종별 요구성능 검토</a:t>
            </a:r>
          </a:p>
        </p:txBody>
      </p:sp>
      <p:sp>
        <p:nvSpPr>
          <p:cNvPr id="9" name="TextBox 8"/>
          <p:cNvSpPr txBox="1"/>
          <p:nvPr/>
        </p:nvSpPr>
        <p:spPr>
          <a:xfrm>
            <a:off x="731520" y="3520439"/>
            <a:ext cx="4297680" cy="731520"/>
          </a:xfrm>
          <a:prstGeom prst="rect">
            <a:avLst/>
          </a:prstGeom>
          <a:noFill/>
        </p:spPr>
        <p:txBody>
          <a:bodyPr wrap="square" lIns="0" rIns="0" tIns="0" bIns="0">
            <a:spAutoFit/>
          </a:bodyPr>
          <a:lstStyle/>
          <a:p>
            <a:pPr>
              <a:spcAft>
                <a:spcPts val="1000"/>
              </a:spcAft>
              <a:defRPr sz="2100" b="1">
                <a:solidFill>
                  <a:srgbClr val="48D4DE"/>
                </a:solidFill>
                <a:latin typeface="Noto Sans CJK KR"/>
              </a:defRPr>
            </a:pPr>
            <a:r>
              <a:t>주요제원 및 성능 적정성</a:t>
            </a:r>
          </a:p>
        </p:txBody>
      </p:sp>
      <p:sp>
        <p:nvSpPr>
          <p:cNvPr id="10" name="TextBox 9"/>
          <p:cNvSpPr txBox="1"/>
          <p:nvPr/>
        </p:nvSpPr>
        <p:spPr>
          <a:xfrm>
            <a:off x="5394960" y="3520439"/>
            <a:ext cx="8412480" cy="960120"/>
          </a:xfrm>
          <a:prstGeom prst="rect">
            <a:avLst/>
          </a:prstGeom>
          <a:noFill/>
        </p:spPr>
        <p:txBody>
          <a:bodyPr wrap="square" lIns="0" rIns="0" tIns="0" bIns="0">
            <a:spAutoFit/>
          </a:bodyPr>
          <a:lstStyle/>
          <a:p>
            <a:pPr>
              <a:spcAft>
                <a:spcPts val="1000"/>
              </a:spcAft>
              <a:defRPr sz="1900" b="0">
                <a:solidFill>
                  <a:srgbClr val="EFF4F8"/>
                </a:solidFill>
                <a:latin typeface="Noto Sans CJK KR"/>
              </a:defRPr>
            </a:pPr>
            <a:r>
              <a:t>전장·형폭·형심 등 주요제원 검토</a:t>
            </a:r>
          </a:p>
          <a:p>
            <a:pPr>
              <a:spcAft>
                <a:spcPts val="1000"/>
              </a:spcAft>
              <a:defRPr sz="1900" b="0">
                <a:solidFill>
                  <a:srgbClr val="EFF4F8"/>
                </a:solidFill>
                <a:latin typeface="Noto Sans CJK KR"/>
              </a:defRPr>
            </a:pPr>
            <a:r>
              <a:t>선속·항속거리·승선인원 등 요구성능 적정성 검토</a:t>
            </a:r>
          </a:p>
        </p:txBody>
      </p:sp>
      <p:sp>
        <p:nvSpPr>
          <p:cNvPr id="11" name="TextBox 10"/>
          <p:cNvSpPr txBox="1"/>
          <p:nvPr/>
        </p:nvSpPr>
        <p:spPr>
          <a:xfrm>
            <a:off x="731520" y="4709160"/>
            <a:ext cx="4297680" cy="731520"/>
          </a:xfrm>
          <a:prstGeom prst="rect">
            <a:avLst/>
          </a:prstGeom>
          <a:noFill/>
        </p:spPr>
        <p:txBody>
          <a:bodyPr wrap="square" lIns="0" rIns="0" tIns="0" bIns="0">
            <a:spAutoFit/>
          </a:bodyPr>
          <a:lstStyle/>
          <a:p>
            <a:pPr>
              <a:spcAft>
                <a:spcPts val="1000"/>
              </a:spcAft>
              <a:defRPr sz="2100" b="1">
                <a:solidFill>
                  <a:srgbClr val="48D4DE"/>
                </a:solidFill>
                <a:latin typeface="Noto Sans CJK KR"/>
              </a:defRPr>
            </a:pPr>
            <a:r>
              <a:t>전기추진 시스템 사양</a:t>
            </a:r>
          </a:p>
        </p:txBody>
      </p:sp>
      <p:sp>
        <p:nvSpPr>
          <p:cNvPr id="12" name="TextBox 11"/>
          <p:cNvSpPr txBox="1"/>
          <p:nvPr/>
        </p:nvSpPr>
        <p:spPr>
          <a:xfrm>
            <a:off x="5394960" y="4709160"/>
            <a:ext cx="8412480" cy="960120"/>
          </a:xfrm>
          <a:prstGeom prst="rect">
            <a:avLst/>
          </a:prstGeom>
          <a:noFill/>
        </p:spPr>
        <p:txBody>
          <a:bodyPr wrap="square" lIns="0" rIns="0" tIns="0" bIns="0">
            <a:spAutoFit/>
          </a:bodyPr>
          <a:lstStyle/>
          <a:p>
            <a:pPr>
              <a:spcAft>
                <a:spcPts val="1000"/>
              </a:spcAft>
              <a:defRPr sz="1900" b="0">
                <a:solidFill>
                  <a:srgbClr val="EFF4F8"/>
                </a:solidFill>
                <a:latin typeface="Noto Sans CJK KR"/>
              </a:defRPr>
            </a:pPr>
            <a:r>
              <a:t>요구성능을 충족하는 추진전동기·배터리 용량·추진기 검토</a:t>
            </a:r>
          </a:p>
        </p:txBody>
      </p:sp>
      <p:sp>
        <p:nvSpPr>
          <p:cNvPr id="13" name="TextBox 12"/>
          <p:cNvSpPr txBox="1"/>
          <p:nvPr/>
        </p:nvSpPr>
        <p:spPr>
          <a:xfrm>
            <a:off x="731520" y="5897880"/>
            <a:ext cx="4297680" cy="731520"/>
          </a:xfrm>
          <a:prstGeom prst="rect">
            <a:avLst/>
          </a:prstGeom>
          <a:noFill/>
        </p:spPr>
        <p:txBody>
          <a:bodyPr wrap="square" lIns="0" rIns="0" tIns="0" bIns="0">
            <a:spAutoFit/>
          </a:bodyPr>
          <a:lstStyle/>
          <a:p>
            <a:pPr>
              <a:spcAft>
                <a:spcPts val="1000"/>
              </a:spcAft>
              <a:defRPr sz="2100" b="1">
                <a:solidFill>
                  <a:srgbClr val="48D4DE"/>
                </a:solidFill>
                <a:latin typeface="Noto Sans CJK KR"/>
              </a:defRPr>
            </a:pPr>
            <a:r>
              <a:t>최적화 및 적용성 검토</a:t>
            </a:r>
          </a:p>
        </p:txBody>
      </p:sp>
      <p:sp>
        <p:nvSpPr>
          <p:cNvPr id="14" name="TextBox 13"/>
          <p:cNvSpPr txBox="1"/>
          <p:nvPr/>
        </p:nvSpPr>
        <p:spPr>
          <a:xfrm>
            <a:off x="5394960" y="5897880"/>
            <a:ext cx="8412480" cy="960120"/>
          </a:xfrm>
          <a:prstGeom prst="rect">
            <a:avLst/>
          </a:prstGeom>
          <a:noFill/>
        </p:spPr>
        <p:txBody>
          <a:bodyPr wrap="square" lIns="0" rIns="0" tIns="0" bIns="0">
            <a:spAutoFit/>
          </a:bodyPr>
          <a:lstStyle/>
          <a:p>
            <a:pPr>
              <a:spcAft>
                <a:spcPts val="1000"/>
              </a:spcAft>
              <a:defRPr sz="1900" b="0">
                <a:solidFill>
                  <a:srgbClr val="EFF4F8"/>
                </a:solidFill>
                <a:latin typeface="Noto Sans CJK KR"/>
              </a:defRPr>
            </a:pPr>
            <a:r>
              <a:t>배터리 탑재공간·중량·요구성능을 고려한 주요제원 최적화</a:t>
            </a:r>
          </a:p>
          <a:p>
            <a:pPr>
              <a:spcAft>
                <a:spcPts val="1000"/>
              </a:spcAft>
              <a:defRPr sz="1900" b="0">
                <a:solidFill>
                  <a:srgbClr val="EFF4F8"/>
                </a:solidFill>
                <a:latin typeface="Noto Sans CJK KR"/>
              </a:defRPr>
            </a:pPr>
            <a:r>
              <a:t>전기추진 적용 곤란 시 하이브리드 추진방식 검토</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A1420"/>
        </a:solidFill>
        <a:effectLst/>
      </p:bgPr>
    </p:bg>
    <p:spTree>
      <p:nvGrpSpPr>
        <p:cNvPr id="1" name=""/>
        <p:cNvGrpSpPr/>
        <p:nvPr/>
      </p:nvGrpSpPr>
      <p:grpSpPr/>
      <p:pic>
        <p:nvPicPr>
          <p:cNvPr id="17" name="Picture 16" descr="exec-f3ed2d79-5757-4445-a055-ec161376c4e6.png"/>
          <p:cNvPicPr>
            <a:picLocks noChangeAspect="1"/>
          </p:cNvPicPr>
          <p:nvPr/>
        </p:nvPicPr>
        <p:blipFill>
          <a:blip r:embed="rId3"/>
          <a:stretch>
            <a:fillRect/>
          </a:stretch>
        </p:blipFill>
        <p:spPr>
          <a:xfrm>
            <a:off x="0" y="0"/>
            <a:ext cx="14630400" cy="8229600"/>
          </a:xfrm>
          <a:prstGeom prst="rect">
            <a:avLst/>
          </a:prstGeom>
        </p:spPr>
      </p:pic>
      <p:sp>
        <p:nvSpPr>
          <p:cNvPr id="2" name="TextBox 1"/>
          <p:cNvSpPr txBox="1"/>
          <p:nvPr/>
        </p:nvSpPr>
        <p:spPr>
          <a:xfrm>
            <a:off x="731520" y="411480"/>
            <a:ext cx="12801600" cy="274320"/>
          </a:xfrm>
          <a:prstGeom prst="rect">
            <a:avLst/>
          </a:prstGeom>
          <a:noFill/>
        </p:spPr>
        <p:txBody>
          <a:bodyPr wrap="square" lIns="0" rIns="0" tIns="0" bIns="0">
            <a:spAutoFit/>
          </a:bodyPr>
          <a:lstStyle/>
          <a:p>
            <a:pPr>
              <a:spcAft>
                <a:spcPts val="1000"/>
              </a:spcAft>
              <a:defRPr sz="1100" b="0">
                <a:solidFill>
                  <a:srgbClr val="48D4DE"/>
                </a:solidFill>
                <a:latin typeface="Noto Sans CJK KR"/>
              </a:defRPr>
            </a:pPr>
            <a:r>
              <a:t>HYBRID SYSTEM / ARCHITECTURE</a:t>
            </a:r>
          </a:p>
        </p:txBody>
      </p:sp>
      <p:sp>
        <p:nvSpPr>
          <p:cNvPr id="3" name="TextBox 2"/>
          <p:cNvSpPr txBox="1"/>
          <p:nvPr/>
        </p:nvSpPr>
        <p:spPr>
          <a:xfrm>
            <a:off x="731520" y="960120"/>
            <a:ext cx="13167360" cy="1097280"/>
          </a:xfrm>
          <a:prstGeom prst="rect">
            <a:avLst/>
          </a:prstGeom>
          <a:noFill/>
        </p:spPr>
        <p:txBody>
          <a:bodyPr wrap="square" lIns="0" rIns="0" tIns="0" bIns="0">
            <a:spAutoFit/>
          </a:bodyPr>
          <a:lstStyle/>
          <a:p>
            <a:pPr>
              <a:spcAft>
                <a:spcPts val="1000"/>
              </a:spcAft>
              <a:defRPr sz="3400" b="1">
                <a:solidFill>
                  <a:srgbClr val="EFF4F8"/>
                </a:solidFill>
                <a:latin typeface="Noto Sans CJK KR"/>
              </a:defRPr>
            </a:pPr>
            <a:r>
              <a:t>추진 방식은 에너지 경로로 구분한다</a:t>
            </a:r>
          </a:p>
        </p:txBody>
      </p:sp>
      <p:sp>
        <p:nvSpPr>
          <p:cNvPr id="4" name="Rectangle 3"/>
          <p:cNvSpPr/>
          <p:nvPr/>
        </p:nvSpPr>
        <p:spPr>
          <a:xfrm>
            <a:off x="731520" y="7635240"/>
            <a:ext cx="13167360" cy="10972"/>
          </a:xfrm>
          <a:prstGeom prst="rect">
            <a:avLst/>
          </a:prstGeom>
          <a:solidFill>
            <a:srgbClr val="2940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7790688"/>
            <a:ext cx="6400800" cy="182880"/>
          </a:xfrm>
          <a:prstGeom prst="rect">
            <a:avLst/>
          </a:prstGeom>
          <a:noFill/>
        </p:spPr>
        <p:txBody>
          <a:bodyPr wrap="square" lIns="0" rIns="0" tIns="0" bIns="0">
            <a:spAutoFit/>
          </a:bodyPr>
          <a:lstStyle/>
          <a:p>
            <a:pPr>
              <a:spcAft>
                <a:spcPts val="1000"/>
              </a:spcAft>
              <a:defRPr sz="900" b="0">
                <a:solidFill>
                  <a:srgbClr val="8FA5B8"/>
                </a:solidFill>
                <a:latin typeface="Noto Sans CJK KR"/>
              </a:defRPr>
            </a:pPr>
            <a:r>
              <a:t>MASTERVOLT KOREA  /  INTEGRATED VESSEL SOLUTIONS</a:t>
            </a:r>
          </a:p>
        </p:txBody>
      </p:sp>
      <p:sp>
        <p:nvSpPr>
          <p:cNvPr id="6" name="TextBox 5"/>
          <p:cNvSpPr txBox="1"/>
          <p:nvPr/>
        </p:nvSpPr>
        <p:spPr>
          <a:xfrm>
            <a:off x="13167360" y="7754112"/>
            <a:ext cx="731520" cy="274320"/>
          </a:xfrm>
          <a:prstGeom prst="rect">
            <a:avLst/>
          </a:prstGeom>
          <a:noFill/>
        </p:spPr>
        <p:txBody>
          <a:bodyPr wrap="square" lIns="0" rIns="0" tIns="0" bIns="0">
            <a:spAutoFit/>
          </a:bodyPr>
          <a:lstStyle/>
          <a:p>
            <a:pPr>
              <a:spcAft>
                <a:spcPts val="1000"/>
              </a:spcAft>
              <a:defRPr sz="1100" b="0">
                <a:solidFill>
                  <a:srgbClr val="8FA5B8"/>
                </a:solidFill>
                <a:latin typeface="Noto Sans CJK KR"/>
              </a:defRPr>
            </a:pPr>
            <a:r>
              <a:t>14</a:t>
            </a:r>
          </a:p>
        </p:txBody>
      </p:sp>
      <p:sp>
        <p:nvSpPr>
          <p:cNvPr id="7" name="TextBox 6"/>
          <p:cNvSpPr txBox="1"/>
          <p:nvPr/>
        </p:nvSpPr>
        <p:spPr>
          <a:xfrm>
            <a:off x="731520" y="2331720"/>
            <a:ext cx="4114800" cy="640080"/>
          </a:xfrm>
          <a:prstGeom prst="rect">
            <a:avLst/>
          </a:prstGeom>
          <a:noFill/>
        </p:spPr>
        <p:txBody>
          <a:bodyPr wrap="square" lIns="0" rIns="0" tIns="0" bIns="0">
            <a:spAutoFit/>
          </a:bodyPr>
          <a:lstStyle/>
          <a:p>
            <a:pPr>
              <a:spcAft>
                <a:spcPts val="1000"/>
              </a:spcAft>
              <a:defRPr sz="2300" b="1">
                <a:solidFill>
                  <a:srgbClr val="48D4DE"/>
                </a:solidFill>
                <a:latin typeface="Noto Sans CJK KR"/>
              </a:defRPr>
            </a:pPr>
            <a:r>
              <a:t>병렬 하이브리드</a:t>
            </a:r>
          </a:p>
        </p:txBody>
      </p:sp>
      <p:sp>
        <p:nvSpPr>
          <p:cNvPr id="8" name="TextBox 7"/>
          <p:cNvSpPr txBox="1"/>
          <p:nvPr/>
        </p:nvSpPr>
        <p:spPr>
          <a:xfrm>
            <a:off x="5394960" y="2331720"/>
            <a:ext cx="8229600" cy="777240"/>
          </a:xfrm>
          <a:prstGeom prst="rect">
            <a:avLst/>
          </a:prstGeom>
          <a:noFill/>
        </p:spPr>
        <p:txBody>
          <a:bodyPr wrap="square" lIns="0" rIns="0" tIns="0" bIns="0">
            <a:spAutoFit/>
          </a:bodyPr>
          <a:lstStyle/>
          <a:p>
            <a:pPr>
              <a:spcAft>
                <a:spcPts val="1000"/>
              </a:spcAft>
              <a:defRPr sz="2200" b="0">
                <a:solidFill>
                  <a:srgbClr val="EFF4F8"/>
                </a:solidFill>
                <a:latin typeface="Noto Sans CJK KR"/>
              </a:defRPr>
            </a:pPr>
            <a:r>
              <a:t>디젤엔진 + 전기모터 → 추진축</a:t>
            </a:r>
          </a:p>
          <a:p>
            <a:pPr>
              <a:spcAft>
                <a:spcPts val="1000"/>
              </a:spcAft>
              <a:defRPr sz="2200" b="0">
                <a:solidFill>
                  <a:srgbClr val="EFF4F8"/>
                </a:solidFill>
                <a:latin typeface="Noto Sans CJK KR"/>
              </a:defRPr>
            </a:pPr>
            <a:r>
              <a:t>저속 전기 운항</a:t>
            </a:r>
          </a:p>
        </p:txBody>
      </p:sp>
      <p:sp>
        <p:nvSpPr>
          <p:cNvPr id="9" name="TextBox 8"/>
          <p:cNvSpPr txBox="1"/>
          <p:nvPr/>
        </p:nvSpPr>
        <p:spPr>
          <a:xfrm>
            <a:off x="731520" y="3200400"/>
            <a:ext cx="4114800" cy="640080"/>
          </a:xfrm>
          <a:prstGeom prst="rect">
            <a:avLst/>
          </a:prstGeom>
          <a:noFill/>
        </p:spPr>
        <p:txBody>
          <a:bodyPr wrap="square" lIns="0" rIns="0" tIns="0" bIns="0">
            <a:spAutoFit/>
          </a:bodyPr>
          <a:lstStyle/>
          <a:p>
            <a:pPr>
              <a:spcAft>
                <a:spcPts val="1000"/>
              </a:spcAft>
              <a:defRPr sz="2300" b="1">
                <a:solidFill>
                  <a:srgbClr val="48D4DE"/>
                </a:solidFill>
                <a:latin typeface="Noto Sans CJK KR"/>
              </a:defRPr>
            </a:pPr>
            <a:r>
              <a:t>직렬 하이브리드</a:t>
            </a:r>
          </a:p>
        </p:txBody>
      </p:sp>
      <p:sp>
        <p:nvSpPr>
          <p:cNvPr id="10" name="TextBox 9"/>
          <p:cNvSpPr txBox="1"/>
          <p:nvPr/>
        </p:nvSpPr>
        <p:spPr>
          <a:xfrm>
            <a:off x="5394960" y="3200400"/>
            <a:ext cx="8229600" cy="777240"/>
          </a:xfrm>
          <a:prstGeom prst="rect">
            <a:avLst/>
          </a:prstGeom>
          <a:noFill/>
        </p:spPr>
        <p:txBody>
          <a:bodyPr wrap="square" lIns="0" rIns="0" tIns="0" bIns="0">
            <a:spAutoFit/>
          </a:bodyPr>
          <a:lstStyle/>
          <a:p>
            <a:pPr>
              <a:spcAft>
                <a:spcPts val="1000"/>
              </a:spcAft>
              <a:defRPr sz="2200" b="0">
                <a:solidFill>
                  <a:srgbClr val="EFF4F8"/>
                </a:solidFill>
                <a:latin typeface="Noto Sans CJK KR"/>
              </a:defRPr>
            </a:pPr>
            <a:r>
              <a:t>발전기 → 전기모터 → 추진기</a:t>
            </a:r>
          </a:p>
        </p:txBody>
      </p:sp>
      <p:sp>
        <p:nvSpPr>
          <p:cNvPr id="11" name="TextBox 10"/>
          <p:cNvSpPr txBox="1"/>
          <p:nvPr/>
        </p:nvSpPr>
        <p:spPr>
          <a:xfrm>
            <a:off x="731520" y="4069079"/>
            <a:ext cx="4114800" cy="640080"/>
          </a:xfrm>
          <a:prstGeom prst="rect">
            <a:avLst/>
          </a:prstGeom>
          <a:noFill/>
        </p:spPr>
        <p:txBody>
          <a:bodyPr wrap="square" lIns="0" rIns="0" tIns="0" bIns="0">
            <a:spAutoFit/>
          </a:bodyPr>
          <a:lstStyle/>
          <a:p>
            <a:pPr>
              <a:spcAft>
                <a:spcPts val="1000"/>
              </a:spcAft>
              <a:defRPr sz="2300" b="1">
                <a:solidFill>
                  <a:srgbClr val="48D4DE"/>
                </a:solidFill>
                <a:latin typeface="Noto Sans CJK KR"/>
              </a:defRPr>
            </a:pPr>
            <a:r>
              <a:t>순수 전기추진</a:t>
            </a:r>
          </a:p>
        </p:txBody>
      </p:sp>
      <p:sp>
        <p:nvSpPr>
          <p:cNvPr id="12" name="TextBox 11"/>
          <p:cNvSpPr txBox="1"/>
          <p:nvPr/>
        </p:nvSpPr>
        <p:spPr>
          <a:xfrm>
            <a:off x="5394960" y="4069079"/>
            <a:ext cx="8229600" cy="777240"/>
          </a:xfrm>
          <a:prstGeom prst="rect">
            <a:avLst/>
          </a:prstGeom>
          <a:noFill/>
        </p:spPr>
        <p:txBody>
          <a:bodyPr wrap="square" lIns="0" rIns="0" tIns="0" bIns="0">
            <a:spAutoFit/>
          </a:bodyPr>
          <a:lstStyle/>
          <a:p>
            <a:pPr>
              <a:spcAft>
                <a:spcPts val="1000"/>
              </a:spcAft>
              <a:defRPr sz="2200" b="0">
                <a:solidFill>
                  <a:srgbClr val="EFF4F8"/>
                </a:solidFill>
                <a:latin typeface="Noto Sans CJK KR"/>
              </a:defRPr>
            </a:pPr>
            <a:r>
              <a:t>배터리 → 전기모터 → 추진기</a:t>
            </a:r>
          </a:p>
        </p:txBody>
      </p:sp>
      <p:sp>
        <p:nvSpPr>
          <p:cNvPr id="13" name="TextBox 12"/>
          <p:cNvSpPr txBox="1"/>
          <p:nvPr/>
        </p:nvSpPr>
        <p:spPr>
          <a:xfrm>
            <a:off x="731520" y="4937759"/>
            <a:ext cx="4114800" cy="640080"/>
          </a:xfrm>
          <a:prstGeom prst="rect">
            <a:avLst/>
          </a:prstGeom>
          <a:noFill/>
        </p:spPr>
        <p:txBody>
          <a:bodyPr wrap="square" lIns="0" rIns="0" tIns="0" bIns="0">
            <a:spAutoFit/>
          </a:bodyPr>
          <a:lstStyle/>
          <a:p>
            <a:pPr>
              <a:spcAft>
                <a:spcPts val="1000"/>
              </a:spcAft>
              <a:defRPr sz="2300" b="1">
                <a:solidFill>
                  <a:srgbClr val="48D4DE"/>
                </a:solidFill>
                <a:latin typeface="Noto Sans CJK KR"/>
              </a:defRPr>
            </a:pPr>
            <a:r>
              <a:t>연료전지 추진</a:t>
            </a:r>
          </a:p>
        </p:txBody>
      </p:sp>
      <p:sp>
        <p:nvSpPr>
          <p:cNvPr id="14" name="TextBox 13"/>
          <p:cNvSpPr txBox="1"/>
          <p:nvPr/>
        </p:nvSpPr>
        <p:spPr>
          <a:xfrm>
            <a:off x="5394960" y="4937759"/>
            <a:ext cx="8229600" cy="777240"/>
          </a:xfrm>
          <a:prstGeom prst="rect">
            <a:avLst/>
          </a:prstGeom>
          <a:noFill/>
        </p:spPr>
        <p:txBody>
          <a:bodyPr wrap="square" lIns="0" rIns="0" tIns="0" bIns="0">
            <a:spAutoFit/>
          </a:bodyPr>
          <a:lstStyle/>
          <a:p>
            <a:pPr>
              <a:spcAft>
                <a:spcPts val="1000"/>
              </a:spcAft>
              <a:defRPr sz="2200" b="0">
                <a:solidFill>
                  <a:srgbClr val="EFF4F8"/>
                </a:solidFill>
                <a:latin typeface="Noto Sans CJK KR"/>
              </a:defRPr>
            </a:pPr>
            <a:r>
              <a:t>수소 등 연료 → 연료전지 → 모터</a:t>
            </a:r>
          </a:p>
        </p:txBody>
      </p:sp>
      <p:sp>
        <p:nvSpPr>
          <p:cNvPr id="15" name="TextBox 14"/>
          <p:cNvSpPr txBox="1"/>
          <p:nvPr/>
        </p:nvSpPr>
        <p:spPr>
          <a:xfrm>
            <a:off x="731520" y="5806440"/>
            <a:ext cx="4114800" cy="640080"/>
          </a:xfrm>
          <a:prstGeom prst="rect">
            <a:avLst/>
          </a:prstGeom>
          <a:noFill/>
        </p:spPr>
        <p:txBody>
          <a:bodyPr wrap="square" lIns="0" rIns="0" tIns="0" bIns="0">
            <a:spAutoFit/>
          </a:bodyPr>
          <a:lstStyle/>
          <a:p>
            <a:pPr>
              <a:spcAft>
                <a:spcPts val="1000"/>
              </a:spcAft>
              <a:defRPr sz="2300" b="1">
                <a:solidFill>
                  <a:srgbClr val="48D4DE"/>
                </a:solidFill>
                <a:latin typeface="Noto Sans CJK KR"/>
              </a:defRPr>
            </a:pPr>
            <a:r>
              <a:t>LNG 추진</a:t>
            </a:r>
          </a:p>
        </p:txBody>
      </p:sp>
      <p:sp>
        <p:nvSpPr>
          <p:cNvPr id="16" name="TextBox 15"/>
          <p:cNvSpPr txBox="1"/>
          <p:nvPr/>
        </p:nvSpPr>
        <p:spPr>
          <a:xfrm>
            <a:off x="5394960" y="5806440"/>
            <a:ext cx="8229600" cy="777240"/>
          </a:xfrm>
          <a:prstGeom prst="rect">
            <a:avLst/>
          </a:prstGeom>
          <a:noFill/>
        </p:spPr>
        <p:txBody>
          <a:bodyPr wrap="square" lIns="0" rIns="0" tIns="0" bIns="0">
            <a:spAutoFit/>
          </a:bodyPr>
          <a:lstStyle/>
          <a:p>
            <a:pPr>
              <a:spcAft>
                <a:spcPts val="1000"/>
              </a:spcAft>
              <a:defRPr sz="2200" b="0">
                <a:solidFill>
                  <a:srgbClr val="EFF4F8"/>
                </a:solidFill>
                <a:latin typeface="Noto Sans CJK KR"/>
              </a:defRPr>
            </a:pPr>
            <a:r>
              <a:t>LNG → 가스엔진 → 추진기</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A1420"/>
        </a:solidFill>
        <a:effectLst/>
      </p:bgPr>
    </p:bg>
    <p:spTree>
      <p:nvGrpSpPr>
        <p:cNvPr id="1" name=""/>
        <p:cNvGrpSpPr/>
        <p:nvPr/>
      </p:nvGrpSpPr>
      <p:grpSpPr/>
      <p:pic>
        <p:nvPicPr>
          <p:cNvPr id="16" name="Picture 15" descr="exec-f3ed2d79-5757-4445-a055-ec161376c4e6.png"/>
          <p:cNvPicPr>
            <a:picLocks noChangeAspect="1"/>
          </p:cNvPicPr>
          <p:nvPr/>
        </p:nvPicPr>
        <p:blipFill>
          <a:blip r:embed="rId3"/>
          <a:stretch>
            <a:fillRect/>
          </a:stretch>
        </p:blipFill>
        <p:spPr>
          <a:xfrm>
            <a:off x="0" y="0"/>
            <a:ext cx="14630400" cy="8229600"/>
          </a:xfrm>
          <a:prstGeom prst="rect">
            <a:avLst/>
          </a:prstGeom>
        </p:spPr>
      </p:pic>
      <p:sp>
        <p:nvSpPr>
          <p:cNvPr id="2" name="TextBox 1"/>
          <p:cNvSpPr txBox="1"/>
          <p:nvPr/>
        </p:nvSpPr>
        <p:spPr>
          <a:xfrm>
            <a:off x="731520" y="411480"/>
            <a:ext cx="12801600" cy="274320"/>
          </a:xfrm>
          <a:prstGeom prst="rect">
            <a:avLst/>
          </a:prstGeom>
          <a:noFill/>
        </p:spPr>
        <p:txBody>
          <a:bodyPr wrap="square" lIns="0" rIns="0" tIns="0" bIns="0">
            <a:spAutoFit/>
          </a:bodyPr>
          <a:lstStyle/>
          <a:p>
            <a:pPr>
              <a:spcAft>
                <a:spcPts val="1000"/>
              </a:spcAft>
              <a:defRPr sz="1100" b="0">
                <a:solidFill>
                  <a:srgbClr val="48D4DE"/>
                </a:solidFill>
                <a:latin typeface="Noto Sans CJK KR"/>
              </a:defRPr>
            </a:pPr>
            <a:r>
              <a:t>HYBRID SYSTEM / OPERATING MODES</a:t>
            </a:r>
          </a:p>
        </p:txBody>
      </p:sp>
      <p:sp>
        <p:nvSpPr>
          <p:cNvPr id="3" name="TextBox 2"/>
          <p:cNvSpPr txBox="1"/>
          <p:nvPr/>
        </p:nvSpPr>
        <p:spPr>
          <a:xfrm>
            <a:off x="731520" y="960120"/>
            <a:ext cx="13167360" cy="1097280"/>
          </a:xfrm>
          <a:prstGeom prst="rect">
            <a:avLst/>
          </a:prstGeom>
          <a:noFill/>
        </p:spPr>
        <p:txBody>
          <a:bodyPr wrap="square" lIns="0" rIns="0" tIns="0" bIns="0">
            <a:spAutoFit/>
          </a:bodyPr>
          <a:lstStyle/>
          <a:p>
            <a:pPr>
              <a:spcAft>
                <a:spcPts val="1000"/>
              </a:spcAft>
              <a:defRPr sz="3400" b="1">
                <a:solidFill>
                  <a:srgbClr val="EFF4F8"/>
                </a:solidFill>
                <a:latin typeface="Noto Sans CJK KR"/>
              </a:defRPr>
            </a:pPr>
            <a:r>
              <a:t>하나의 하이브리드 시스템, 네 가지 운항모드</a:t>
            </a:r>
          </a:p>
        </p:txBody>
      </p:sp>
      <p:sp>
        <p:nvSpPr>
          <p:cNvPr id="4" name="Rectangle 3"/>
          <p:cNvSpPr/>
          <p:nvPr/>
        </p:nvSpPr>
        <p:spPr>
          <a:xfrm>
            <a:off x="731520" y="7635240"/>
            <a:ext cx="13167360" cy="10972"/>
          </a:xfrm>
          <a:prstGeom prst="rect">
            <a:avLst/>
          </a:prstGeom>
          <a:solidFill>
            <a:srgbClr val="2940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7790688"/>
            <a:ext cx="6400800" cy="182880"/>
          </a:xfrm>
          <a:prstGeom prst="rect">
            <a:avLst/>
          </a:prstGeom>
          <a:noFill/>
        </p:spPr>
        <p:txBody>
          <a:bodyPr wrap="square" lIns="0" rIns="0" tIns="0" bIns="0">
            <a:spAutoFit/>
          </a:bodyPr>
          <a:lstStyle/>
          <a:p>
            <a:pPr>
              <a:spcAft>
                <a:spcPts val="1000"/>
              </a:spcAft>
              <a:defRPr sz="900" b="0">
                <a:solidFill>
                  <a:srgbClr val="8FA5B8"/>
                </a:solidFill>
                <a:latin typeface="Noto Sans CJK KR"/>
              </a:defRPr>
            </a:pPr>
            <a:r>
              <a:t>MASTERVOLT KOREA  /  INTEGRATED VESSEL SOLUTIONS</a:t>
            </a:r>
          </a:p>
        </p:txBody>
      </p:sp>
      <p:sp>
        <p:nvSpPr>
          <p:cNvPr id="6" name="TextBox 5"/>
          <p:cNvSpPr txBox="1"/>
          <p:nvPr/>
        </p:nvSpPr>
        <p:spPr>
          <a:xfrm>
            <a:off x="13167360" y="7754112"/>
            <a:ext cx="731520" cy="274320"/>
          </a:xfrm>
          <a:prstGeom prst="rect">
            <a:avLst/>
          </a:prstGeom>
          <a:noFill/>
        </p:spPr>
        <p:txBody>
          <a:bodyPr wrap="square" lIns="0" rIns="0" tIns="0" bIns="0">
            <a:spAutoFit/>
          </a:bodyPr>
          <a:lstStyle/>
          <a:p>
            <a:pPr>
              <a:spcAft>
                <a:spcPts val="1000"/>
              </a:spcAft>
              <a:defRPr sz="1100" b="0">
                <a:solidFill>
                  <a:srgbClr val="8FA5B8"/>
                </a:solidFill>
                <a:latin typeface="Noto Sans CJK KR"/>
              </a:defRPr>
            </a:pPr>
            <a:r>
              <a:t>15</a:t>
            </a:r>
          </a:p>
        </p:txBody>
      </p:sp>
      <p:sp>
        <p:nvSpPr>
          <p:cNvPr id="7" name="TextBox 6"/>
          <p:cNvSpPr txBox="1"/>
          <p:nvPr/>
        </p:nvSpPr>
        <p:spPr>
          <a:xfrm>
            <a:off x="731520" y="2514600"/>
            <a:ext cx="6217920" cy="548640"/>
          </a:xfrm>
          <a:prstGeom prst="rect">
            <a:avLst/>
          </a:prstGeom>
          <a:noFill/>
        </p:spPr>
        <p:txBody>
          <a:bodyPr wrap="square" lIns="0" rIns="0" tIns="0" bIns="0">
            <a:spAutoFit/>
          </a:bodyPr>
          <a:lstStyle/>
          <a:p>
            <a:pPr>
              <a:spcAft>
                <a:spcPts val="1000"/>
              </a:spcAft>
              <a:defRPr sz="2600" b="1">
                <a:solidFill>
                  <a:srgbClr val="48D4DE"/>
                </a:solidFill>
                <a:latin typeface="Noto Sans CJK KR"/>
              </a:defRPr>
            </a:pPr>
            <a:r>
              <a:t>ENGINE</a:t>
            </a:r>
          </a:p>
        </p:txBody>
      </p:sp>
      <p:sp>
        <p:nvSpPr>
          <p:cNvPr id="8" name="TextBox 7"/>
          <p:cNvSpPr txBox="1"/>
          <p:nvPr/>
        </p:nvSpPr>
        <p:spPr>
          <a:xfrm>
            <a:off x="731520" y="3291840"/>
            <a:ext cx="6217920" cy="914400"/>
          </a:xfrm>
          <a:prstGeom prst="rect">
            <a:avLst/>
          </a:prstGeom>
          <a:noFill/>
        </p:spPr>
        <p:txBody>
          <a:bodyPr wrap="square" lIns="0" rIns="0" tIns="0" bIns="0">
            <a:spAutoFit/>
          </a:bodyPr>
          <a:lstStyle/>
          <a:p>
            <a:pPr>
              <a:spcAft>
                <a:spcPts val="1000"/>
              </a:spcAft>
              <a:defRPr sz="2300" b="0">
                <a:solidFill>
                  <a:srgbClr val="EFF4F8"/>
                </a:solidFill>
                <a:latin typeface="Noto Sans CJK KR"/>
              </a:defRPr>
            </a:pPr>
            <a:r>
              <a:t>엔진 단독 구동</a:t>
            </a:r>
          </a:p>
        </p:txBody>
      </p:sp>
      <p:sp>
        <p:nvSpPr>
          <p:cNvPr id="9" name="TextBox 8"/>
          <p:cNvSpPr txBox="1"/>
          <p:nvPr/>
        </p:nvSpPr>
        <p:spPr>
          <a:xfrm>
            <a:off x="731520" y="4343400"/>
            <a:ext cx="6217920" cy="548640"/>
          </a:xfrm>
          <a:prstGeom prst="rect">
            <a:avLst/>
          </a:prstGeom>
          <a:noFill/>
        </p:spPr>
        <p:txBody>
          <a:bodyPr wrap="square" lIns="0" rIns="0" tIns="0" bIns="0">
            <a:spAutoFit/>
          </a:bodyPr>
          <a:lstStyle/>
          <a:p>
            <a:pPr>
              <a:spcAft>
                <a:spcPts val="1000"/>
              </a:spcAft>
              <a:defRPr sz="2600" b="1">
                <a:solidFill>
                  <a:srgbClr val="48D4DE"/>
                </a:solidFill>
                <a:latin typeface="Noto Sans CJK KR"/>
              </a:defRPr>
            </a:pPr>
            <a:r>
              <a:t>ELECTRIC</a:t>
            </a:r>
          </a:p>
        </p:txBody>
      </p:sp>
      <p:sp>
        <p:nvSpPr>
          <p:cNvPr id="10" name="TextBox 9"/>
          <p:cNvSpPr txBox="1"/>
          <p:nvPr/>
        </p:nvSpPr>
        <p:spPr>
          <a:xfrm>
            <a:off x="731520" y="5120640"/>
            <a:ext cx="6217920" cy="914400"/>
          </a:xfrm>
          <a:prstGeom prst="rect">
            <a:avLst/>
          </a:prstGeom>
          <a:noFill/>
        </p:spPr>
        <p:txBody>
          <a:bodyPr wrap="square" lIns="0" rIns="0" tIns="0" bIns="0">
            <a:spAutoFit/>
          </a:bodyPr>
          <a:lstStyle/>
          <a:p>
            <a:pPr>
              <a:spcAft>
                <a:spcPts val="1000"/>
              </a:spcAft>
              <a:defRPr sz="2300" b="0">
                <a:solidFill>
                  <a:srgbClr val="EFF4F8"/>
                </a:solidFill>
                <a:latin typeface="Noto Sans CJK KR"/>
              </a:defRPr>
            </a:pPr>
            <a:r>
              <a:t>배터리를 이용한 순수 전기 운항</a:t>
            </a:r>
          </a:p>
        </p:txBody>
      </p:sp>
      <p:sp>
        <p:nvSpPr>
          <p:cNvPr id="11" name="TextBox 10"/>
          <p:cNvSpPr txBox="1"/>
          <p:nvPr/>
        </p:nvSpPr>
        <p:spPr>
          <a:xfrm>
            <a:off x="7315200" y="2514600"/>
            <a:ext cx="6217920" cy="548640"/>
          </a:xfrm>
          <a:prstGeom prst="rect">
            <a:avLst/>
          </a:prstGeom>
          <a:noFill/>
        </p:spPr>
        <p:txBody>
          <a:bodyPr wrap="square" lIns="0" rIns="0" tIns="0" bIns="0">
            <a:spAutoFit/>
          </a:bodyPr>
          <a:lstStyle/>
          <a:p>
            <a:pPr>
              <a:spcAft>
                <a:spcPts val="1000"/>
              </a:spcAft>
              <a:defRPr sz="2600" b="1">
                <a:solidFill>
                  <a:srgbClr val="48D4DE"/>
                </a:solidFill>
                <a:latin typeface="Noto Sans CJK KR"/>
              </a:defRPr>
            </a:pPr>
            <a:r>
              <a:t>GENERATION</a:t>
            </a:r>
          </a:p>
        </p:txBody>
      </p:sp>
      <p:sp>
        <p:nvSpPr>
          <p:cNvPr id="12" name="TextBox 11"/>
          <p:cNvSpPr txBox="1"/>
          <p:nvPr/>
        </p:nvSpPr>
        <p:spPr>
          <a:xfrm>
            <a:off x="7315200" y="3291840"/>
            <a:ext cx="6217920" cy="914400"/>
          </a:xfrm>
          <a:prstGeom prst="rect">
            <a:avLst/>
          </a:prstGeom>
          <a:noFill/>
        </p:spPr>
        <p:txBody>
          <a:bodyPr wrap="square" lIns="0" rIns="0" tIns="0" bIns="0">
            <a:spAutoFit/>
          </a:bodyPr>
          <a:lstStyle/>
          <a:p>
            <a:pPr>
              <a:spcAft>
                <a:spcPts val="1000"/>
              </a:spcAft>
              <a:defRPr sz="2300" b="0">
                <a:solidFill>
                  <a:srgbClr val="EFF4F8"/>
                </a:solidFill>
                <a:latin typeface="Noto Sans CJK KR"/>
              </a:defRPr>
            </a:pPr>
            <a:r>
              <a:t>엔진 구동 중 전기기계를 발전기로 사용</a:t>
            </a:r>
          </a:p>
        </p:txBody>
      </p:sp>
      <p:sp>
        <p:nvSpPr>
          <p:cNvPr id="13" name="TextBox 12"/>
          <p:cNvSpPr txBox="1"/>
          <p:nvPr/>
        </p:nvSpPr>
        <p:spPr>
          <a:xfrm>
            <a:off x="7315200" y="4343400"/>
            <a:ext cx="6217920" cy="548640"/>
          </a:xfrm>
          <a:prstGeom prst="rect">
            <a:avLst/>
          </a:prstGeom>
          <a:noFill/>
        </p:spPr>
        <p:txBody>
          <a:bodyPr wrap="square" lIns="0" rIns="0" tIns="0" bIns="0">
            <a:spAutoFit/>
          </a:bodyPr>
          <a:lstStyle/>
          <a:p>
            <a:pPr>
              <a:spcAft>
                <a:spcPts val="1000"/>
              </a:spcAft>
              <a:defRPr sz="2600" b="1">
                <a:solidFill>
                  <a:srgbClr val="48D4DE"/>
                </a:solidFill>
                <a:latin typeface="Noto Sans CJK KR"/>
              </a:defRPr>
            </a:pPr>
            <a:r>
              <a:t>BOOSTER</a:t>
            </a:r>
          </a:p>
        </p:txBody>
      </p:sp>
      <p:sp>
        <p:nvSpPr>
          <p:cNvPr id="14" name="TextBox 13"/>
          <p:cNvSpPr txBox="1"/>
          <p:nvPr/>
        </p:nvSpPr>
        <p:spPr>
          <a:xfrm>
            <a:off x="7315200" y="5120640"/>
            <a:ext cx="6217920" cy="914400"/>
          </a:xfrm>
          <a:prstGeom prst="rect">
            <a:avLst/>
          </a:prstGeom>
          <a:noFill/>
        </p:spPr>
        <p:txBody>
          <a:bodyPr wrap="square" lIns="0" rIns="0" tIns="0" bIns="0">
            <a:spAutoFit/>
          </a:bodyPr>
          <a:lstStyle/>
          <a:p>
            <a:pPr>
              <a:spcAft>
                <a:spcPts val="1000"/>
              </a:spcAft>
              <a:defRPr sz="2300" b="0">
                <a:solidFill>
                  <a:srgbClr val="EFF4F8"/>
                </a:solidFill>
                <a:latin typeface="Noto Sans CJK KR"/>
              </a:defRPr>
            </a:pPr>
            <a:r>
              <a:t>엔진 + 전기모터 동시 구동</a:t>
            </a:r>
          </a:p>
        </p:txBody>
      </p:sp>
      <p:sp>
        <p:nvSpPr>
          <p:cNvPr id="15" name="TextBox 14"/>
          <p:cNvSpPr txBox="1"/>
          <p:nvPr/>
        </p:nvSpPr>
        <p:spPr>
          <a:xfrm>
            <a:off x="731520" y="6720840"/>
            <a:ext cx="13167360" cy="548640"/>
          </a:xfrm>
          <a:prstGeom prst="rect">
            <a:avLst/>
          </a:prstGeom>
          <a:noFill/>
        </p:spPr>
        <p:txBody>
          <a:bodyPr wrap="square" lIns="0" rIns="0" tIns="0" bIns="0">
            <a:spAutoFit/>
          </a:bodyPr>
          <a:lstStyle/>
          <a:p>
            <a:pPr>
              <a:spcAft>
                <a:spcPts val="1000"/>
              </a:spcAft>
              <a:defRPr sz="1900" b="0">
                <a:solidFill>
                  <a:srgbClr val="8FA5B8"/>
                </a:solidFill>
                <a:latin typeface="Noto Sans CJK KR"/>
              </a:defRPr>
            </a:pPr>
            <a:r>
              <a:t>통합 컨트롤 레버 / 모드 전환 인터페이스 / 비상 안전 인터페이스</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A1420"/>
        </a:solidFill>
        <a:effectLst/>
      </p:bgPr>
    </p:bg>
    <p:spTree>
      <p:nvGrpSpPr>
        <p:cNvPr id="1" name=""/>
        <p:cNvGrpSpPr/>
        <p:nvPr/>
      </p:nvGrpSpPr>
      <p:grpSpPr/>
      <p:pic>
        <p:nvPicPr>
          <p:cNvPr id="11" name="Picture 10" descr="exec-fae999e9-0842-410f-a6f4-c68e7321650f.png"/>
          <p:cNvPicPr>
            <a:picLocks noChangeAspect="1"/>
          </p:cNvPicPr>
          <p:nvPr/>
        </p:nvPicPr>
        <p:blipFill>
          <a:blip r:embed="rId3"/>
          <a:stretch>
            <a:fillRect/>
          </a:stretch>
        </p:blipFill>
        <p:spPr>
          <a:xfrm>
            <a:off x="0" y="0"/>
            <a:ext cx="14630400" cy="8229600"/>
          </a:xfrm>
          <a:prstGeom prst="rect">
            <a:avLst/>
          </a:prstGeom>
        </p:spPr>
      </p:pic>
      <p:sp>
        <p:nvSpPr>
          <p:cNvPr id="2" name="TextBox 1"/>
          <p:cNvSpPr txBox="1"/>
          <p:nvPr/>
        </p:nvSpPr>
        <p:spPr>
          <a:xfrm>
            <a:off x="731520" y="411480"/>
            <a:ext cx="12801600" cy="274320"/>
          </a:xfrm>
          <a:prstGeom prst="rect">
            <a:avLst/>
          </a:prstGeom>
          <a:noFill/>
        </p:spPr>
        <p:txBody>
          <a:bodyPr wrap="square" lIns="0" rIns="0" tIns="0" bIns="0">
            <a:spAutoFit/>
          </a:bodyPr>
          <a:lstStyle/>
          <a:p>
            <a:pPr>
              <a:spcAft>
                <a:spcPts val="1000"/>
              </a:spcAft>
              <a:defRPr sz="1100" b="0">
                <a:solidFill>
                  <a:srgbClr val="48D4DE"/>
                </a:solidFill>
                <a:latin typeface="Noto Sans CJK KR"/>
              </a:defRPr>
            </a:pPr>
            <a:r>
              <a:t>HYBRID SYSTEM / HM SERIES</a:t>
            </a:r>
          </a:p>
        </p:txBody>
      </p:sp>
      <p:sp>
        <p:nvSpPr>
          <p:cNvPr id="3" name="TextBox 2"/>
          <p:cNvSpPr txBox="1"/>
          <p:nvPr/>
        </p:nvSpPr>
        <p:spPr>
          <a:xfrm>
            <a:off x="731520" y="960120"/>
            <a:ext cx="13167360" cy="1097280"/>
          </a:xfrm>
          <a:prstGeom prst="rect">
            <a:avLst/>
          </a:prstGeom>
          <a:noFill/>
        </p:spPr>
        <p:txBody>
          <a:bodyPr wrap="square" lIns="0" rIns="0" tIns="0" bIns="0">
            <a:spAutoFit/>
          </a:bodyPr>
          <a:lstStyle/>
          <a:p>
            <a:pPr>
              <a:spcAft>
                <a:spcPts val="1000"/>
              </a:spcAft>
              <a:defRPr sz="3400" b="1">
                <a:solidFill>
                  <a:srgbClr val="EFF4F8"/>
                </a:solidFill>
                <a:latin typeface="Noto Sans CJK KR"/>
              </a:defRPr>
            </a:pPr>
            <a:r>
              <a:t>HM 모듈의 기계식 하이브리드 통합</a:t>
            </a:r>
          </a:p>
        </p:txBody>
      </p:sp>
      <p:sp>
        <p:nvSpPr>
          <p:cNvPr id="4" name="Rectangle 3"/>
          <p:cNvSpPr/>
          <p:nvPr/>
        </p:nvSpPr>
        <p:spPr>
          <a:xfrm>
            <a:off x="731520" y="7635240"/>
            <a:ext cx="13167360" cy="10972"/>
          </a:xfrm>
          <a:prstGeom prst="rect">
            <a:avLst/>
          </a:prstGeom>
          <a:solidFill>
            <a:srgbClr val="2940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7790688"/>
            <a:ext cx="6400800" cy="182880"/>
          </a:xfrm>
          <a:prstGeom prst="rect">
            <a:avLst/>
          </a:prstGeom>
          <a:noFill/>
        </p:spPr>
        <p:txBody>
          <a:bodyPr wrap="square" lIns="0" rIns="0" tIns="0" bIns="0">
            <a:spAutoFit/>
          </a:bodyPr>
          <a:lstStyle/>
          <a:p>
            <a:pPr>
              <a:spcAft>
                <a:spcPts val="1000"/>
              </a:spcAft>
              <a:defRPr sz="900" b="0">
                <a:solidFill>
                  <a:srgbClr val="8FA5B8"/>
                </a:solidFill>
                <a:latin typeface="Noto Sans CJK KR"/>
              </a:defRPr>
            </a:pPr>
            <a:r>
              <a:t>MASTERVOLT KOREA  /  INTEGRATED VESSEL SOLUTIONS</a:t>
            </a:r>
          </a:p>
        </p:txBody>
      </p:sp>
      <p:sp>
        <p:nvSpPr>
          <p:cNvPr id="6" name="TextBox 5"/>
          <p:cNvSpPr txBox="1"/>
          <p:nvPr/>
        </p:nvSpPr>
        <p:spPr>
          <a:xfrm>
            <a:off x="13167360" y="7754112"/>
            <a:ext cx="731520" cy="274320"/>
          </a:xfrm>
          <a:prstGeom prst="rect">
            <a:avLst/>
          </a:prstGeom>
          <a:noFill/>
        </p:spPr>
        <p:txBody>
          <a:bodyPr wrap="square" lIns="0" rIns="0" tIns="0" bIns="0">
            <a:spAutoFit/>
          </a:bodyPr>
          <a:lstStyle/>
          <a:p>
            <a:pPr>
              <a:spcAft>
                <a:spcPts val="1000"/>
              </a:spcAft>
              <a:defRPr sz="1100" b="0">
                <a:solidFill>
                  <a:srgbClr val="8FA5B8"/>
                </a:solidFill>
                <a:latin typeface="Noto Sans CJK KR"/>
              </a:defRPr>
            </a:pPr>
            <a:r>
              <a:t>16</a:t>
            </a:r>
          </a:p>
        </p:txBody>
      </p:sp>
      <p:sp>
        <p:nvSpPr>
          <p:cNvPr id="7" name="TextBox 6"/>
          <p:cNvSpPr txBox="1"/>
          <p:nvPr/>
        </p:nvSpPr>
        <p:spPr>
          <a:xfrm>
            <a:off x="731520" y="2377440"/>
            <a:ext cx="7315200" cy="640080"/>
          </a:xfrm>
          <a:prstGeom prst="rect">
            <a:avLst/>
          </a:prstGeom>
          <a:noFill/>
        </p:spPr>
        <p:txBody>
          <a:bodyPr wrap="square" lIns="0" rIns="0" tIns="0" bIns="0">
            <a:spAutoFit/>
          </a:bodyPr>
          <a:lstStyle/>
          <a:p>
            <a:pPr>
              <a:spcAft>
                <a:spcPts val="1000"/>
              </a:spcAft>
              <a:defRPr sz="2700" b="1">
                <a:solidFill>
                  <a:srgbClr val="48D4DE"/>
                </a:solidFill>
                <a:latin typeface="Noto Sans CJK KR"/>
              </a:defRPr>
            </a:pPr>
            <a:r>
              <a:t>MOTOR ↔ GENERATOR</a:t>
            </a:r>
          </a:p>
        </p:txBody>
      </p:sp>
      <p:sp>
        <p:nvSpPr>
          <p:cNvPr id="8" name="TextBox 7"/>
          <p:cNvSpPr txBox="1"/>
          <p:nvPr/>
        </p:nvSpPr>
        <p:spPr>
          <a:xfrm>
            <a:off x="731520" y="3337560"/>
            <a:ext cx="6400800" cy="1645920"/>
          </a:xfrm>
          <a:prstGeom prst="rect">
            <a:avLst/>
          </a:prstGeom>
          <a:noFill/>
        </p:spPr>
        <p:txBody>
          <a:bodyPr wrap="square" lIns="0" rIns="0" tIns="0" bIns="0">
            <a:spAutoFit/>
          </a:bodyPr>
          <a:lstStyle/>
          <a:p>
            <a:pPr>
              <a:spcAft>
                <a:spcPts val="1000"/>
              </a:spcAft>
              <a:defRPr sz="2600" b="0">
                <a:solidFill>
                  <a:srgbClr val="EFF4F8"/>
                </a:solidFill>
                <a:latin typeface="Noto Sans CJK KR"/>
              </a:defRPr>
            </a:pPr>
            <a:r>
              <a:t>전기모드: 모터로 추진</a:t>
            </a:r>
          </a:p>
          <a:p>
            <a:pPr>
              <a:spcAft>
                <a:spcPts val="1000"/>
              </a:spcAft>
              <a:defRPr sz="2600" b="0">
                <a:solidFill>
                  <a:srgbClr val="EFF4F8"/>
                </a:solidFill>
                <a:latin typeface="Noto Sans CJK KR"/>
              </a:defRPr>
            </a:pPr>
            <a:r>
              <a:t>발전모드: 배터리 충전</a:t>
            </a:r>
          </a:p>
        </p:txBody>
      </p:sp>
      <p:sp>
        <p:nvSpPr>
          <p:cNvPr id="9" name="TextBox 8"/>
          <p:cNvSpPr txBox="1"/>
          <p:nvPr/>
        </p:nvSpPr>
        <p:spPr>
          <a:xfrm>
            <a:off x="731520" y="5120640"/>
            <a:ext cx="6400800" cy="1371600"/>
          </a:xfrm>
          <a:prstGeom prst="rect">
            <a:avLst/>
          </a:prstGeom>
          <a:noFill/>
        </p:spPr>
        <p:txBody>
          <a:bodyPr wrap="square" lIns="0" rIns="0" tIns="0" bIns="0">
            <a:spAutoFit/>
          </a:bodyPr>
          <a:lstStyle/>
          <a:p>
            <a:pPr>
              <a:spcAft>
                <a:spcPts val="1000"/>
              </a:spcAft>
              <a:defRPr sz="2100" b="0">
                <a:solidFill>
                  <a:srgbClr val="8FA5B8"/>
                </a:solidFill>
                <a:latin typeface="Noto Sans CJK KR"/>
              </a:defRPr>
            </a:pPr>
            <a:r>
              <a:t>SAE 표준 인터페이스 기반 결합</a:t>
            </a:r>
          </a:p>
          <a:p>
            <a:pPr>
              <a:spcAft>
                <a:spcPts val="1000"/>
              </a:spcAft>
              <a:defRPr sz="2100" b="0">
                <a:solidFill>
                  <a:srgbClr val="8FA5B8"/>
                </a:solidFill>
                <a:latin typeface="Noto Sans CJK KR"/>
              </a:defRPr>
            </a:pPr>
            <a:r>
              <a:t>엔진·감속기와의 적합성 검토</a:t>
            </a:r>
          </a:p>
        </p:txBody>
      </p:sp>
      <p:sp>
        <p:nvSpPr>
          <p:cNvPr id="10" name="TextBox 9"/>
          <p:cNvSpPr txBox="1"/>
          <p:nvPr/>
        </p:nvSpPr>
        <p:spPr>
          <a:xfrm>
            <a:off x="731520" y="6766560"/>
            <a:ext cx="13167360" cy="548640"/>
          </a:xfrm>
          <a:prstGeom prst="rect">
            <a:avLst/>
          </a:prstGeom>
          <a:noFill/>
        </p:spPr>
        <p:txBody>
          <a:bodyPr wrap="square" lIns="0" rIns="0" tIns="0" bIns="0">
            <a:spAutoFit/>
          </a:bodyPr>
          <a:lstStyle/>
          <a:p>
            <a:pPr>
              <a:spcAft>
                <a:spcPts val="1000"/>
              </a:spcAft>
              <a:defRPr sz="1700" b="0">
                <a:solidFill>
                  <a:srgbClr val="48D4DE"/>
                </a:solidFill>
                <a:latin typeface="Noto Sans CJK KR"/>
              </a:defRPr>
            </a:pPr>
            <a:r>
              <a:t>제품군 최대 구성 / 엔진 1,190 kW · 전기유닛 100 kW · 4헤드 전기출력 400 kW</a:t>
            </a:r>
          </a:p>
        </p:txBody>
      </p:sp>
      <p:sp>
        <p:nvSpPr>
          <p:cNvPr id="12" name="TextBox 11"/>
          <p:cNvSpPr txBox="1"/>
          <p:nvPr/>
        </p:nvSpPr>
        <p:spPr>
          <a:xfrm>
            <a:off x="10149840" y="7342631"/>
            <a:ext cx="3657600" cy="228600"/>
          </a:xfrm>
          <a:prstGeom prst="rect">
            <a:avLst/>
          </a:prstGeom>
          <a:noFill/>
        </p:spPr>
        <p:txBody>
          <a:bodyPr wrap="square" lIns="0" rIns="0" tIns="0" bIns="0">
            <a:spAutoFit/>
          </a:bodyPr>
          <a:lstStyle/>
          <a:p>
            <a:pPr>
              <a:spcAft>
                <a:spcPts val="1000"/>
              </a:spcAft>
              <a:defRPr sz="900" b="0">
                <a:solidFill>
                  <a:srgbClr val="8FA5B8"/>
                </a:solidFill>
                <a:latin typeface="Noto Sans CJK KR"/>
              </a:defRPr>
            </a:pPr>
            <a:r>
              <a:t>AI-GENERATED CONCEPT VISUAL</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A1420"/>
        </a:solidFill>
        <a:effectLst/>
      </p:bgPr>
    </p:bg>
    <p:spTree>
      <p:nvGrpSpPr>
        <p:cNvPr id="1" name=""/>
        <p:cNvGrpSpPr/>
        <p:nvPr/>
      </p:nvGrpSpPr>
      <p:grpSpPr/>
      <p:pic>
        <p:nvPicPr>
          <p:cNvPr id="14" name="Picture 13" descr="exec-f3ed2d79-5757-4445-a055-ec161376c4e6.png"/>
          <p:cNvPicPr>
            <a:picLocks noChangeAspect="1"/>
          </p:cNvPicPr>
          <p:nvPr/>
        </p:nvPicPr>
        <p:blipFill>
          <a:blip r:embed="rId3"/>
          <a:stretch>
            <a:fillRect/>
          </a:stretch>
        </p:blipFill>
        <p:spPr>
          <a:xfrm>
            <a:off x="0" y="0"/>
            <a:ext cx="14630400" cy="8229600"/>
          </a:xfrm>
          <a:prstGeom prst="rect">
            <a:avLst/>
          </a:prstGeom>
        </p:spPr>
      </p:pic>
      <p:sp>
        <p:nvSpPr>
          <p:cNvPr id="2" name="TextBox 1"/>
          <p:cNvSpPr txBox="1"/>
          <p:nvPr/>
        </p:nvSpPr>
        <p:spPr>
          <a:xfrm>
            <a:off x="731520" y="411480"/>
            <a:ext cx="12801600" cy="274320"/>
          </a:xfrm>
          <a:prstGeom prst="rect">
            <a:avLst/>
          </a:prstGeom>
          <a:noFill/>
        </p:spPr>
        <p:txBody>
          <a:bodyPr wrap="square" lIns="0" rIns="0" tIns="0" bIns="0">
            <a:spAutoFit/>
          </a:bodyPr>
          <a:lstStyle/>
          <a:p>
            <a:pPr>
              <a:spcAft>
                <a:spcPts val="1000"/>
              </a:spcAft>
              <a:defRPr sz="1100" b="0">
                <a:solidFill>
                  <a:srgbClr val="48D4DE"/>
                </a:solidFill>
                <a:latin typeface="Noto Sans CJK KR"/>
              </a:defRPr>
            </a:pPr>
            <a:r>
              <a:t>HYBRID SYSTEM / POWER &amp; CONTROL</a:t>
            </a:r>
          </a:p>
        </p:txBody>
      </p:sp>
      <p:sp>
        <p:nvSpPr>
          <p:cNvPr id="3" name="TextBox 2"/>
          <p:cNvSpPr txBox="1"/>
          <p:nvPr/>
        </p:nvSpPr>
        <p:spPr>
          <a:xfrm>
            <a:off x="731520" y="960120"/>
            <a:ext cx="13167360" cy="1097280"/>
          </a:xfrm>
          <a:prstGeom prst="rect">
            <a:avLst/>
          </a:prstGeom>
          <a:noFill/>
        </p:spPr>
        <p:txBody>
          <a:bodyPr wrap="square" lIns="0" rIns="0" tIns="0" bIns="0">
            <a:spAutoFit/>
          </a:bodyPr>
          <a:lstStyle/>
          <a:p>
            <a:pPr>
              <a:spcAft>
                <a:spcPts val="1000"/>
              </a:spcAft>
              <a:defRPr sz="3400" b="1">
                <a:solidFill>
                  <a:srgbClr val="EFF4F8"/>
                </a:solidFill>
                <a:latin typeface="Noto Sans CJK KR"/>
              </a:defRPr>
            </a:pPr>
            <a:r>
              <a:t>배터리·전력변환·제어를 통합한다</a:t>
            </a:r>
          </a:p>
        </p:txBody>
      </p:sp>
      <p:sp>
        <p:nvSpPr>
          <p:cNvPr id="4" name="Rectangle 3"/>
          <p:cNvSpPr/>
          <p:nvPr/>
        </p:nvSpPr>
        <p:spPr>
          <a:xfrm>
            <a:off x="731520" y="7635240"/>
            <a:ext cx="13167360" cy="10972"/>
          </a:xfrm>
          <a:prstGeom prst="rect">
            <a:avLst/>
          </a:prstGeom>
          <a:solidFill>
            <a:srgbClr val="2940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7790688"/>
            <a:ext cx="6400800" cy="182880"/>
          </a:xfrm>
          <a:prstGeom prst="rect">
            <a:avLst/>
          </a:prstGeom>
          <a:noFill/>
        </p:spPr>
        <p:txBody>
          <a:bodyPr wrap="square" lIns="0" rIns="0" tIns="0" bIns="0">
            <a:spAutoFit/>
          </a:bodyPr>
          <a:lstStyle/>
          <a:p>
            <a:pPr>
              <a:spcAft>
                <a:spcPts val="1000"/>
              </a:spcAft>
              <a:defRPr sz="900" b="0">
                <a:solidFill>
                  <a:srgbClr val="8FA5B8"/>
                </a:solidFill>
                <a:latin typeface="Noto Sans CJK KR"/>
              </a:defRPr>
            </a:pPr>
            <a:r>
              <a:t>MASTERVOLT KOREA  /  INTEGRATED VESSEL SOLUTIONS</a:t>
            </a:r>
          </a:p>
        </p:txBody>
      </p:sp>
      <p:sp>
        <p:nvSpPr>
          <p:cNvPr id="6" name="TextBox 5"/>
          <p:cNvSpPr txBox="1"/>
          <p:nvPr/>
        </p:nvSpPr>
        <p:spPr>
          <a:xfrm>
            <a:off x="13167360" y="7754112"/>
            <a:ext cx="731520" cy="274320"/>
          </a:xfrm>
          <a:prstGeom prst="rect">
            <a:avLst/>
          </a:prstGeom>
          <a:noFill/>
        </p:spPr>
        <p:txBody>
          <a:bodyPr wrap="square" lIns="0" rIns="0" tIns="0" bIns="0">
            <a:spAutoFit/>
          </a:bodyPr>
          <a:lstStyle/>
          <a:p>
            <a:pPr>
              <a:spcAft>
                <a:spcPts val="1000"/>
              </a:spcAft>
              <a:defRPr sz="1100" b="0">
                <a:solidFill>
                  <a:srgbClr val="8FA5B8"/>
                </a:solidFill>
                <a:latin typeface="Noto Sans CJK KR"/>
              </a:defRPr>
            </a:pPr>
            <a:r>
              <a:t>17</a:t>
            </a:r>
          </a:p>
        </p:txBody>
      </p:sp>
      <p:sp>
        <p:nvSpPr>
          <p:cNvPr id="7" name="TextBox 6"/>
          <p:cNvSpPr txBox="1"/>
          <p:nvPr/>
        </p:nvSpPr>
        <p:spPr>
          <a:xfrm>
            <a:off x="731520" y="2423160"/>
            <a:ext cx="4206240" cy="548640"/>
          </a:xfrm>
          <a:prstGeom prst="rect">
            <a:avLst/>
          </a:prstGeom>
          <a:noFill/>
        </p:spPr>
        <p:txBody>
          <a:bodyPr wrap="square" lIns="0" rIns="0" tIns="0" bIns="0">
            <a:spAutoFit/>
          </a:bodyPr>
          <a:lstStyle/>
          <a:p>
            <a:pPr>
              <a:spcAft>
                <a:spcPts val="1000"/>
              </a:spcAft>
              <a:defRPr sz="2300" b="1">
                <a:solidFill>
                  <a:srgbClr val="48D4DE"/>
                </a:solidFill>
                <a:latin typeface="Noto Sans CJK KR"/>
              </a:defRPr>
            </a:pPr>
            <a:r>
              <a:t>ENERGY</a:t>
            </a:r>
          </a:p>
        </p:txBody>
      </p:sp>
      <p:sp>
        <p:nvSpPr>
          <p:cNvPr id="8" name="TextBox 7"/>
          <p:cNvSpPr txBox="1"/>
          <p:nvPr/>
        </p:nvSpPr>
        <p:spPr>
          <a:xfrm>
            <a:off x="731520" y="3246120"/>
            <a:ext cx="4206240" cy="2286000"/>
          </a:xfrm>
          <a:prstGeom prst="rect">
            <a:avLst/>
          </a:prstGeom>
          <a:noFill/>
        </p:spPr>
        <p:txBody>
          <a:bodyPr wrap="square" lIns="0" rIns="0" tIns="0" bIns="0">
            <a:spAutoFit/>
          </a:bodyPr>
          <a:lstStyle/>
          <a:p>
            <a:pPr>
              <a:spcAft>
                <a:spcPts val="1000"/>
              </a:spcAft>
              <a:defRPr sz="2200" b="0">
                <a:solidFill>
                  <a:srgbClr val="EFF4F8"/>
                </a:solidFill>
                <a:latin typeface="Noto Sans CJK KR"/>
              </a:defRPr>
            </a:pPr>
            <a:r>
              <a:t>LFP 배터리 · BMS</a:t>
            </a:r>
          </a:p>
          <a:p>
            <a:pPr>
              <a:spcAft>
                <a:spcPts val="1000"/>
              </a:spcAft>
              <a:defRPr sz="2200" b="0">
                <a:solidFill>
                  <a:srgbClr val="EFF4F8"/>
                </a:solidFill>
                <a:latin typeface="Noto Sans CJK KR"/>
              </a:defRPr>
            </a:pPr>
            <a:r>
              <a:t>충전기 · 육상전원</a:t>
            </a:r>
          </a:p>
          <a:p>
            <a:pPr>
              <a:spcAft>
                <a:spcPts val="1000"/>
              </a:spcAft>
              <a:defRPr sz="2200" b="0">
                <a:solidFill>
                  <a:srgbClr val="EFF4F8"/>
                </a:solidFill>
                <a:latin typeface="Noto Sans CJK KR"/>
              </a:defRPr>
            </a:pPr>
            <a:r>
              <a:t>발전기 · 전력변환장치</a:t>
            </a:r>
          </a:p>
        </p:txBody>
      </p:sp>
      <p:sp>
        <p:nvSpPr>
          <p:cNvPr id="9" name="TextBox 8"/>
          <p:cNvSpPr txBox="1"/>
          <p:nvPr/>
        </p:nvSpPr>
        <p:spPr>
          <a:xfrm>
            <a:off x="5212080" y="2423160"/>
            <a:ext cx="4206240" cy="548640"/>
          </a:xfrm>
          <a:prstGeom prst="rect">
            <a:avLst/>
          </a:prstGeom>
          <a:noFill/>
        </p:spPr>
        <p:txBody>
          <a:bodyPr wrap="square" lIns="0" rIns="0" tIns="0" bIns="0">
            <a:spAutoFit/>
          </a:bodyPr>
          <a:lstStyle/>
          <a:p>
            <a:pPr>
              <a:spcAft>
                <a:spcPts val="1000"/>
              </a:spcAft>
              <a:defRPr sz="2300" b="1">
                <a:solidFill>
                  <a:srgbClr val="48D4DE"/>
                </a:solidFill>
                <a:latin typeface="Noto Sans CJK KR"/>
              </a:defRPr>
            </a:pPr>
            <a:r>
              <a:t>PROPULSION</a:t>
            </a:r>
          </a:p>
        </p:txBody>
      </p:sp>
      <p:sp>
        <p:nvSpPr>
          <p:cNvPr id="10" name="TextBox 9"/>
          <p:cNvSpPr txBox="1"/>
          <p:nvPr/>
        </p:nvSpPr>
        <p:spPr>
          <a:xfrm>
            <a:off x="5212080" y="3246120"/>
            <a:ext cx="4206240" cy="2743200"/>
          </a:xfrm>
          <a:prstGeom prst="rect">
            <a:avLst/>
          </a:prstGeom>
          <a:noFill/>
        </p:spPr>
        <p:txBody>
          <a:bodyPr wrap="square" lIns="0" rIns="0" tIns="0" bIns="0">
            <a:spAutoFit/>
          </a:bodyPr>
          <a:lstStyle/>
          <a:p>
            <a:pPr>
              <a:spcAft>
                <a:spcPts val="1000"/>
              </a:spcAft>
              <a:defRPr sz="2100" b="0">
                <a:solidFill>
                  <a:srgbClr val="EFF4F8"/>
                </a:solidFill>
                <a:latin typeface="Noto Sans CJK KR"/>
              </a:defRPr>
            </a:pPr>
            <a:r>
              <a:t>PMSM 전기모터</a:t>
            </a:r>
          </a:p>
          <a:p>
            <a:pPr>
              <a:spcAft>
                <a:spcPts val="1000"/>
              </a:spcAft>
              <a:defRPr sz="2100" b="0">
                <a:solidFill>
                  <a:srgbClr val="EFF4F8"/>
                </a:solidFill>
                <a:latin typeface="Noto Sans CJK KR"/>
              </a:defRPr>
            </a:pPr>
            <a:r>
              <a:t>하이브리드 모듈·감속기</a:t>
            </a:r>
          </a:p>
          <a:p>
            <a:pPr>
              <a:spcAft>
                <a:spcPts val="1000"/>
              </a:spcAft>
              <a:defRPr sz="2100" b="0">
                <a:solidFill>
                  <a:srgbClr val="EFF4F8"/>
                </a:solidFill>
                <a:latin typeface="Noto Sans CJK KR"/>
              </a:defRPr>
            </a:pPr>
            <a:r>
              <a:t>워터제트·FPP·스턴드라이브</a:t>
            </a:r>
          </a:p>
          <a:p>
            <a:pPr>
              <a:spcAft>
                <a:spcPts val="1000"/>
              </a:spcAft>
              <a:defRPr sz="2100" b="0">
                <a:solidFill>
                  <a:srgbClr val="EFF4F8"/>
                </a:solidFill>
                <a:latin typeface="Noto Sans CJK KR"/>
              </a:defRPr>
            </a:pPr>
            <a:r>
              <a:t>전방위 추진기</a:t>
            </a:r>
          </a:p>
        </p:txBody>
      </p:sp>
      <p:sp>
        <p:nvSpPr>
          <p:cNvPr id="11" name="TextBox 10"/>
          <p:cNvSpPr txBox="1"/>
          <p:nvPr/>
        </p:nvSpPr>
        <p:spPr>
          <a:xfrm>
            <a:off x="9692640" y="2423160"/>
            <a:ext cx="4206240" cy="548640"/>
          </a:xfrm>
          <a:prstGeom prst="rect">
            <a:avLst/>
          </a:prstGeom>
          <a:noFill/>
        </p:spPr>
        <p:txBody>
          <a:bodyPr wrap="square" lIns="0" rIns="0" tIns="0" bIns="0">
            <a:spAutoFit/>
          </a:bodyPr>
          <a:lstStyle/>
          <a:p>
            <a:pPr>
              <a:spcAft>
                <a:spcPts val="1000"/>
              </a:spcAft>
              <a:defRPr sz="2300" b="1">
                <a:solidFill>
                  <a:srgbClr val="48D4DE"/>
                </a:solidFill>
                <a:latin typeface="Noto Sans CJK KR"/>
              </a:defRPr>
            </a:pPr>
            <a:r>
              <a:t>CONTROL</a:t>
            </a:r>
          </a:p>
        </p:txBody>
      </p:sp>
      <p:sp>
        <p:nvSpPr>
          <p:cNvPr id="12" name="TextBox 11"/>
          <p:cNvSpPr txBox="1"/>
          <p:nvPr/>
        </p:nvSpPr>
        <p:spPr>
          <a:xfrm>
            <a:off x="9692640" y="3246120"/>
            <a:ext cx="4206240" cy="2743200"/>
          </a:xfrm>
          <a:prstGeom prst="rect">
            <a:avLst/>
          </a:prstGeom>
          <a:noFill/>
        </p:spPr>
        <p:txBody>
          <a:bodyPr wrap="square" lIns="0" rIns="0" tIns="0" bIns="0">
            <a:spAutoFit/>
          </a:bodyPr>
          <a:lstStyle/>
          <a:p>
            <a:pPr>
              <a:spcAft>
                <a:spcPts val="1000"/>
              </a:spcAft>
              <a:defRPr sz="2100" b="0">
                <a:solidFill>
                  <a:srgbClr val="EFF4F8"/>
                </a:solidFill>
                <a:latin typeface="Noto Sans CJK KR"/>
              </a:defRPr>
            </a:pPr>
            <a:r>
              <a:t>배전·제어 판넬</a:t>
            </a:r>
          </a:p>
          <a:p>
            <a:pPr>
              <a:spcAft>
                <a:spcPts val="1000"/>
              </a:spcAft>
              <a:defRPr sz="2100" b="0">
                <a:solidFill>
                  <a:srgbClr val="EFF4F8"/>
                </a:solidFill>
                <a:latin typeface="Noto Sans CJK KR"/>
              </a:defRPr>
            </a:pPr>
            <a:r>
              <a:t>디스플레이 · 컨트롤 레버</a:t>
            </a:r>
          </a:p>
          <a:p>
            <a:pPr>
              <a:spcAft>
                <a:spcPts val="1000"/>
              </a:spcAft>
              <a:defRPr sz="2100" b="0">
                <a:solidFill>
                  <a:srgbClr val="EFF4F8"/>
                </a:solidFill>
                <a:latin typeface="Noto Sans CJK KR"/>
              </a:defRPr>
            </a:pPr>
            <a:r>
              <a:t>센서 · 비상 에어팩</a:t>
            </a:r>
          </a:p>
          <a:p>
            <a:pPr>
              <a:spcAft>
                <a:spcPts val="1000"/>
              </a:spcAft>
              <a:defRPr sz="2100" b="0">
                <a:solidFill>
                  <a:srgbClr val="EFF4F8"/>
                </a:solidFill>
                <a:latin typeface="Noto Sans CJK KR"/>
              </a:defRPr>
            </a:pPr>
            <a:r>
              <a:t>NMEA2000 · MasterBus</a:t>
            </a:r>
          </a:p>
        </p:txBody>
      </p:sp>
      <p:sp>
        <p:nvSpPr>
          <p:cNvPr id="13" name="TextBox 12"/>
          <p:cNvSpPr txBox="1"/>
          <p:nvPr/>
        </p:nvSpPr>
        <p:spPr>
          <a:xfrm>
            <a:off x="731520" y="6675120"/>
            <a:ext cx="13167360" cy="548640"/>
          </a:xfrm>
          <a:prstGeom prst="rect">
            <a:avLst/>
          </a:prstGeom>
          <a:noFill/>
        </p:spPr>
        <p:txBody>
          <a:bodyPr wrap="square" lIns="0" rIns="0" tIns="0" bIns="0">
            <a:spAutoFit/>
          </a:bodyPr>
          <a:lstStyle/>
          <a:p>
            <a:pPr>
              <a:spcAft>
                <a:spcPts val="1000"/>
              </a:spcAft>
              <a:defRPr sz="2300" b="0">
                <a:solidFill>
                  <a:srgbClr val="8FA5B8"/>
                </a:solidFill>
                <a:latin typeface="Noto Sans CJK KR"/>
              </a:defRPr>
            </a:pPr>
            <a:r>
              <a:t>셀 전압·전류·온도와 충·방전 상태를 모니터링</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0A1420"/>
        </a:solidFill>
        <a:effectLst/>
      </p:bgPr>
    </p:bg>
    <p:spTree>
      <p:nvGrpSpPr>
        <p:cNvPr id="1" name=""/>
        <p:cNvGrpSpPr/>
        <p:nvPr/>
      </p:nvGrpSpPr>
      <p:grpSpPr/>
      <p:pic>
        <p:nvPicPr>
          <p:cNvPr id="14" name="Picture 13" descr="exec-f3ed2d79-5757-4445-a055-ec161376c4e6.png"/>
          <p:cNvPicPr>
            <a:picLocks noChangeAspect="1"/>
          </p:cNvPicPr>
          <p:nvPr/>
        </p:nvPicPr>
        <p:blipFill>
          <a:blip r:embed="rId3"/>
          <a:stretch>
            <a:fillRect/>
          </a:stretch>
        </p:blipFill>
        <p:spPr>
          <a:xfrm>
            <a:off x="0" y="0"/>
            <a:ext cx="14630400" cy="8229600"/>
          </a:xfrm>
          <a:prstGeom prst="rect">
            <a:avLst/>
          </a:prstGeom>
        </p:spPr>
      </p:pic>
      <p:sp>
        <p:nvSpPr>
          <p:cNvPr id="2" name="TextBox 1"/>
          <p:cNvSpPr txBox="1"/>
          <p:nvPr/>
        </p:nvSpPr>
        <p:spPr>
          <a:xfrm>
            <a:off x="731520" y="411480"/>
            <a:ext cx="12801600" cy="274320"/>
          </a:xfrm>
          <a:prstGeom prst="rect">
            <a:avLst/>
          </a:prstGeom>
          <a:noFill/>
        </p:spPr>
        <p:txBody>
          <a:bodyPr wrap="square" lIns="0" rIns="0" tIns="0" bIns="0">
            <a:spAutoFit/>
          </a:bodyPr>
          <a:lstStyle/>
          <a:p>
            <a:pPr>
              <a:spcAft>
                <a:spcPts val="1000"/>
              </a:spcAft>
              <a:defRPr sz="1100" b="0">
                <a:solidFill>
                  <a:srgbClr val="48D4DE"/>
                </a:solidFill>
                <a:latin typeface="Noto Sans CJK KR"/>
              </a:defRPr>
            </a:pPr>
            <a:r>
              <a:t>HYBRID SYSTEM / DELIVERY REFERENCES</a:t>
            </a:r>
          </a:p>
        </p:txBody>
      </p:sp>
      <p:sp>
        <p:nvSpPr>
          <p:cNvPr id="3" name="TextBox 2"/>
          <p:cNvSpPr txBox="1"/>
          <p:nvPr/>
        </p:nvSpPr>
        <p:spPr>
          <a:xfrm>
            <a:off x="731520" y="960120"/>
            <a:ext cx="13167360" cy="1097280"/>
          </a:xfrm>
          <a:prstGeom prst="rect">
            <a:avLst/>
          </a:prstGeom>
          <a:noFill/>
        </p:spPr>
        <p:txBody>
          <a:bodyPr wrap="square" lIns="0" rIns="0" tIns="0" bIns="0">
            <a:spAutoFit/>
          </a:bodyPr>
          <a:lstStyle/>
          <a:p>
            <a:pPr>
              <a:spcAft>
                <a:spcPts val="1000"/>
              </a:spcAft>
              <a:defRPr sz="3400" b="1">
                <a:solidFill>
                  <a:srgbClr val="EFF4F8"/>
                </a:solidFill>
                <a:latin typeface="Noto Sans CJK KR"/>
              </a:defRPr>
            </a:pPr>
            <a:r>
              <a:t>국내 준공 사례: 항만순찰선과 통선</a:t>
            </a:r>
          </a:p>
        </p:txBody>
      </p:sp>
      <p:sp>
        <p:nvSpPr>
          <p:cNvPr id="4" name="Rectangle 3"/>
          <p:cNvSpPr/>
          <p:nvPr/>
        </p:nvSpPr>
        <p:spPr>
          <a:xfrm>
            <a:off x="731520" y="7635240"/>
            <a:ext cx="13167360" cy="10972"/>
          </a:xfrm>
          <a:prstGeom prst="rect">
            <a:avLst/>
          </a:prstGeom>
          <a:solidFill>
            <a:srgbClr val="2940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7790688"/>
            <a:ext cx="6400800" cy="182880"/>
          </a:xfrm>
          <a:prstGeom prst="rect">
            <a:avLst/>
          </a:prstGeom>
          <a:noFill/>
        </p:spPr>
        <p:txBody>
          <a:bodyPr wrap="square" lIns="0" rIns="0" tIns="0" bIns="0">
            <a:spAutoFit/>
          </a:bodyPr>
          <a:lstStyle/>
          <a:p>
            <a:pPr>
              <a:spcAft>
                <a:spcPts val="1000"/>
              </a:spcAft>
              <a:defRPr sz="900" b="0">
                <a:solidFill>
                  <a:srgbClr val="8FA5B8"/>
                </a:solidFill>
                <a:latin typeface="Noto Sans CJK KR"/>
              </a:defRPr>
            </a:pPr>
            <a:r>
              <a:t>MASTERVOLT KOREA  /  INTEGRATED VESSEL SOLUTIONS</a:t>
            </a:r>
          </a:p>
        </p:txBody>
      </p:sp>
      <p:sp>
        <p:nvSpPr>
          <p:cNvPr id="6" name="TextBox 5"/>
          <p:cNvSpPr txBox="1"/>
          <p:nvPr/>
        </p:nvSpPr>
        <p:spPr>
          <a:xfrm>
            <a:off x="13167360" y="7754112"/>
            <a:ext cx="731520" cy="274320"/>
          </a:xfrm>
          <a:prstGeom prst="rect">
            <a:avLst/>
          </a:prstGeom>
          <a:noFill/>
        </p:spPr>
        <p:txBody>
          <a:bodyPr wrap="square" lIns="0" rIns="0" tIns="0" bIns="0">
            <a:spAutoFit/>
          </a:bodyPr>
          <a:lstStyle/>
          <a:p>
            <a:pPr>
              <a:spcAft>
                <a:spcPts val="1000"/>
              </a:spcAft>
              <a:defRPr sz="1100" b="0">
                <a:solidFill>
                  <a:srgbClr val="8FA5B8"/>
                </a:solidFill>
                <a:latin typeface="Noto Sans CJK KR"/>
              </a:defRPr>
            </a:pPr>
            <a:r>
              <a:t>18</a:t>
            </a:r>
          </a:p>
        </p:txBody>
      </p:sp>
      <p:sp>
        <p:nvSpPr>
          <p:cNvPr id="7" name="TextBox 6"/>
          <p:cNvSpPr txBox="1"/>
          <p:nvPr/>
        </p:nvSpPr>
        <p:spPr>
          <a:xfrm>
            <a:off x="731520" y="2468880"/>
            <a:ext cx="4114800" cy="640080"/>
          </a:xfrm>
          <a:prstGeom prst="rect">
            <a:avLst/>
          </a:prstGeom>
          <a:noFill/>
        </p:spPr>
        <p:txBody>
          <a:bodyPr wrap="square" lIns="0" rIns="0" tIns="0" bIns="0">
            <a:spAutoFit/>
          </a:bodyPr>
          <a:lstStyle/>
          <a:p>
            <a:pPr>
              <a:spcAft>
                <a:spcPts val="1000"/>
              </a:spcAft>
              <a:defRPr sz="3000" b="1">
                <a:solidFill>
                  <a:srgbClr val="48D4DE"/>
                </a:solidFill>
                <a:latin typeface="Noto Sans CJK KR"/>
              </a:defRPr>
            </a:pPr>
            <a:r>
              <a:t>해양3호</a:t>
            </a:r>
          </a:p>
        </p:txBody>
      </p:sp>
      <p:sp>
        <p:nvSpPr>
          <p:cNvPr id="8" name="TextBox 7"/>
          <p:cNvSpPr txBox="1"/>
          <p:nvPr/>
        </p:nvSpPr>
        <p:spPr>
          <a:xfrm>
            <a:off x="731520" y="3566160"/>
            <a:ext cx="4114800" cy="3200400"/>
          </a:xfrm>
          <a:prstGeom prst="rect">
            <a:avLst/>
          </a:prstGeom>
          <a:noFill/>
        </p:spPr>
        <p:txBody>
          <a:bodyPr wrap="square" lIns="0" rIns="0" tIns="0" bIns="0">
            <a:spAutoFit/>
          </a:bodyPr>
          <a:lstStyle/>
          <a:p>
            <a:pPr>
              <a:spcAft>
                <a:spcPts val="1000"/>
              </a:spcAft>
              <a:defRPr sz="2100" b="0">
                <a:solidFill>
                  <a:srgbClr val="EFF4F8"/>
                </a:solidFill>
                <a:latin typeface="Noto Sans CJK KR"/>
              </a:defRPr>
            </a:pPr>
            <a:r>
              <a:t>26.13 m / 48톤</a:t>
            </a:r>
          </a:p>
          <a:p>
            <a:pPr>
              <a:spcAft>
                <a:spcPts val="1000"/>
              </a:spcAft>
              <a:defRPr sz="2100" b="0">
                <a:solidFill>
                  <a:srgbClr val="EFF4F8"/>
                </a:solidFill>
                <a:latin typeface="Noto Sans CJK KR"/>
              </a:defRPr>
            </a:pPr>
            <a:r>
              <a:t>HM6300-150 × 2</a:t>
            </a:r>
          </a:p>
          <a:p>
            <a:pPr>
              <a:spcAft>
                <a:spcPts val="1000"/>
              </a:spcAft>
              <a:defRPr sz="2100" b="0">
                <a:solidFill>
                  <a:srgbClr val="EFF4F8"/>
                </a:solidFill>
                <a:latin typeface="Noto Sans CJK KR"/>
              </a:defRPr>
            </a:pPr>
            <a:r>
              <a:t>PMSM 75 kW × 4</a:t>
            </a:r>
          </a:p>
          <a:p>
            <a:pPr>
              <a:spcAft>
                <a:spcPts val="1000"/>
              </a:spcAft>
              <a:defRPr sz="2100" b="0">
                <a:solidFill>
                  <a:srgbClr val="EFF4F8"/>
                </a:solidFill>
                <a:latin typeface="Noto Sans CJK KR"/>
              </a:defRPr>
            </a:pPr>
            <a:r>
              <a:t>288 Vdc · 800 Ah</a:t>
            </a:r>
          </a:p>
          <a:p>
            <a:pPr>
              <a:spcAft>
                <a:spcPts val="1000"/>
              </a:spcAft>
              <a:defRPr sz="2100" b="0">
                <a:solidFill>
                  <a:srgbClr val="EFF4F8"/>
                </a:solidFill>
                <a:latin typeface="Noto Sans CJK KR"/>
              </a:defRPr>
            </a:pPr>
            <a:r>
              <a:t>전기선속 8 knot / 워터제트</a:t>
            </a:r>
          </a:p>
        </p:txBody>
      </p:sp>
      <p:sp>
        <p:nvSpPr>
          <p:cNvPr id="9" name="TextBox 8"/>
          <p:cNvSpPr txBox="1"/>
          <p:nvPr/>
        </p:nvSpPr>
        <p:spPr>
          <a:xfrm>
            <a:off x="5212080" y="2468880"/>
            <a:ext cx="4114800" cy="640080"/>
          </a:xfrm>
          <a:prstGeom prst="rect">
            <a:avLst/>
          </a:prstGeom>
          <a:noFill/>
        </p:spPr>
        <p:txBody>
          <a:bodyPr wrap="square" lIns="0" rIns="0" tIns="0" bIns="0">
            <a:spAutoFit/>
          </a:bodyPr>
          <a:lstStyle/>
          <a:p>
            <a:pPr>
              <a:spcAft>
                <a:spcPts val="1000"/>
              </a:spcAft>
              <a:defRPr sz="3000" b="1">
                <a:solidFill>
                  <a:srgbClr val="48D4DE"/>
                </a:solidFill>
                <a:latin typeface="Noto Sans CJK KR"/>
              </a:defRPr>
            </a:pPr>
            <a:r>
              <a:t>해양1호</a:t>
            </a:r>
          </a:p>
        </p:txBody>
      </p:sp>
      <p:sp>
        <p:nvSpPr>
          <p:cNvPr id="10" name="TextBox 9"/>
          <p:cNvSpPr txBox="1"/>
          <p:nvPr/>
        </p:nvSpPr>
        <p:spPr>
          <a:xfrm>
            <a:off x="5212080" y="3566160"/>
            <a:ext cx="4114800" cy="3200400"/>
          </a:xfrm>
          <a:prstGeom prst="rect">
            <a:avLst/>
          </a:prstGeom>
          <a:noFill/>
        </p:spPr>
        <p:txBody>
          <a:bodyPr wrap="square" lIns="0" rIns="0" tIns="0" bIns="0">
            <a:spAutoFit/>
          </a:bodyPr>
          <a:lstStyle/>
          <a:p>
            <a:pPr>
              <a:spcAft>
                <a:spcPts val="1000"/>
              </a:spcAft>
              <a:defRPr sz="2100" b="0">
                <a:solidFill>
                  <a:srgbClr val="EFF4F8"/>
                </a:solidFill>
                <a:latin typeface="Noto Sans CJK KR"/>
              </a:defRPr>
            </a:pPr>
            <a:r>
              <a:t>26.13 m / 48톤</a:t>
            </a:r>
          </a:p>
          <a:p>
            <a:pPr>
              <a:spcAft>
                <a:spcPts val="1000"/>
              </a:spcAft>
              <a:defRPr sz="2100" b="0">
                <a:solidFill>
                  <a:srgbClr val="EFF4F8"/>
                </a:solidFill>
                <a:latin typeface="Noto Sans CJK KR"/>
              </a:defRPr>
            </a:pPr>
            <a:r>
              <a:t>HM6300-150 × 2</a:t>
            </a:r>
          </a:p>
          <a:p>
            <a:pPr>
              <a:spcAft>
                <a:spcPts val="1000"/>
              </a:spcAft>
              <a:defRPr sz="2100" b="0">
                <a:solidFill>
                  <a:srgbClr val="EFF4F8"/>
                </a:solidFill>
                <a:latin typeface="Noto Sans CJK KR"/>
              </a:defRPr>
            </a:pPr>
            <a:r>
              <a:t>PMSM 75 kW × 4</a:t>
            </a:r>
          </a:p>
          <a:p>
            <a:pPr>
              <a:spcAft>
                <a:spcPts val="1000"/>
              </a:spcAft>
              <a:defRPr sz="2100" b="0">
                <a:solidFill>
                  <a:srgbClr val="EFF4F8"/>
                </a:solidFill>
                <a:latin typeface="Noto Sans CJK KR"/>
              </a:defRPr>
            </a:pPr>
            <a:r>
              <a:t>288 Vdc · 800 Ah</a:t>
            </a:r>
          </a:p>
          <a:p>
            <a:pPr>
              <a:spcAft>
                <a:spcPts val="1000"/>
              </a:spcAft>
              <a:defRPr sz="2100" b="0">
                <a:solidFill>
                  <a:srgbClr val="EFF4F8"/>
                </a:solidFill>
                <a:latin typeface="Noto Sans CJK KR"/>
              </a:defRPr>
            </a:pPr>
            <a:r>
              <a:t>전기선속 7 knot / 워터제트</a:t>
            </a:r>
          </a:p>
        </p:txBody>
      </p:sp>
      <p:sp>
        <p:nvSpPr>
          <p:cNvPr id="11" name="TextBox 10"/>
          <p:cNvSpPr txBox="1"/>
          <p:nvPr/>
        </p:nvSpPr>
        <p:spPr>
          <a:xfrm>
            <a:off x="9692640" y="2468880"/>
            <a:ext cx="4114800" cy="640080"/>
          </a:xfrm>
          <a:prstGeom prst="rect">
            <a:avLst/>
          </a:prstGeom>
          <a:noFill/>
        </p:spPr>
        <p:txBody>
          <a:bodyPr wrap="square" lIns="0" rIns="0" tIns="0" bIns="0">
            <a:spAutoFit/>
          </a:bodyPr>
          <a:lstStyle/>
          <a:p>
            <a:pPr>
              <a:spcAft>
                <a:spcPts val="1000"/>
              </a:spcAft>
              <a:defRPr sz="3000" b="1">
                <a:solidFill>
                  <a:srgbClr val="48D4DE"/>
                </a:solidFill>
                <a:latin typeface="Noto Sans CJK KR"/>
              </a:defRPr>
            </a:pPr>
            <a:r>
              <a:t>나르샤 14</a:t>
            </a:r>
          </a:p>
        </p:txBody>
      </p:sp>
      <p:sp>
        <p:nvSpPr>
          <p:cNvPr id="12" name="TextBox 11"/>
          <p:cNvSpPr txBox="1"/>
          <p:nvPr/>
        </p:nvSpPr>
        <p:spPr>
          <a:xfrm>
            <a:off x="9692640" y="3566160"/>
            <a:ext cx="4114800" cy="3200400"/>
          </a:xfrm>
          <a:prstGeom prst="rect">
            <a:avLst/>
          </a:prstGeom>
          <a:noFill/>
        </p:spPr>
        <p:txBody>
          <a:bodyPr wrap="square" lIns="0" rIns="0" tIns="0" bIns="0">
            <a:spAutoFit/>
          </a:bodyPr>
          <a:lstStyle/>
          <a:p>
            <a:pPr>
              <a:spcAft>
                <a:spcPts val="1000"/>
              </a:spcAft>
              <a:defRPr sz="2100" b="0">
                <a:solidFill>
                  <a:srgbClr val="EFF4F8"/>
                </a:solidFill>
                <a:latin typeface="Noto Sans CJK KR"/>
              </a:defRPr>
            </a:pPr>
            <a:r>
              <a:t>17.2 m / 24톤</a:t>
            </a:r>
          </a:p>
          <a:p>
            <a:pPr>
              <a:spcAft>
                <a:spcPts val="1000"/>
              </a:spcAft>
              <a:defRPr sz="2100" b="0">
                <a:solidFill>
                  <a:srgbClr val="EFF4F8"/>
                </a:solidFill>
                <a:latin typeface="Noto Sans CJK KR"/>
              </a:defRPr>
            </a:pPr>
            <a:r>
              <a:t>HM3350-150W × 1</a:t>
            </a:r>
          </a:p>
          <a:p>
            <a:pPr>
              <a:spcAft>
                <a:spcPts val="1000"/>
              </a:spcAft>
              <a:defRPr sz="2100" b="0">
                <a:solidFill>
                  <a:srgbClr val="EFF4F8"/>
                </a:solidFill>
                <a:latin typeface="Noto Sans CJK KR"/>
              </a:defRPr>
            </a:pPr>
            <a:r>
              <a:t>PMSM 75 kW × 2</a:t>
            </a:r>
          </a:p>
          <a:p>
            <a:pPr>
              <a:spcAft>
                <a:spcPts val="1000"/>
              </a:spcAft>
              <a:defRPr sz="2100" b="0">
                <a:solidFill>
                  <a:srgbClr val="EFF4F8"/>
                </a:solidFill>
                <a:latin typeface="Noto Sans CJK KR"/>
              </a:defRPr>
            </a:pPr>
            <a:r>
              <a:t>288 Vdc · 400 Ah</a:t>
            </a:r>
          </a:p>
          <a:p>
            <a:pPr>
              <a:spcAft>
                <a:spcPts val="1000"/>
              </a:spcAft>
              <a:defRPr sz="2100" b="0">
                <a:solidFill>
                  <a:srgbClr val="EFF4F8"/>
                </a:solidFill>
                <a:latin typeface="Noto Sans CJK KR"/>
              </a:defRPr>
            </a:pPr>
            <a:r>
              <a:t>전기선속 8 knot / FPP</a:t>
            </a:r>
          </a:p>
        </p:txBody>
      </p:sp>
      <p:sp>
        <p:nvSpPr>
          <p:cNvPr id="13" name="TextBox 12"/>
          <p:cNvSpPr txBox="1"/>
          <p:nvPr/>
        </p:nvSpPr>
        <p:spPr>
          <a:xfrm>
            <a:off x="731520" y="6858000"/>
            <a:ext cx="12801600" cy="457200"/>
          </a:xfrm>
          <a:prstGeom prst="rect">
            <a:avLst/>
          </a:prstGeom>
          <a:noFill/>
        </p:spPr>
        <p:txBody>
          <a:bodyPr wrap="square" lIns="0" rIns="0" tIns="0" bIns="0">
            <a:spAutoFit/>
          </a:bodyPr>
          <a:lstStyle/>
          <a:p>
            <a:pPr>
              <a:spcAft>
                <a:spcPts val="1000"/>
              </a:spcAft>
              <a:defRPr sz="1700" b="0">
                <a:solidFill>
                  <a:srgbClr val="8FA5B8"/>
                </a:solidFill>
                <a:latin typeface="Noto Sans CJK KR"/>
              </a:defRPr>
            </a:pPr>
            <a:r>
              <a:t>선급 / KOMSA · 원문 사례 사양 기준</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0A1420"/>
        </a:solidFill>
        <a:effectLst/>
      </p:bgPr>
    </p:bg>
    <p:spTree>
      <p:nvGrpSpPr>
        <p:cNvPr id="1" name=""/>
        <p:cNvGrpSpPr/>
        <p:nvPr/>
      </p:nvGrpSpPr>
      <p:grpSpPr/>
      <p:pic>
        <p:nvPicPr>
          <p:cNvPr id="11" name="Picture 10" descr="exec-f3ed2d79-5757-4445-a055-ec161376c4e6.png"/>
          <p:cNvPicPr>
            <a:picLocks noChangeAspect="1"/>
          </p:cNvPicPr>
          <p:nvPr/>
        </p:nvPicPr>
        <p:blipFill>
          <a:blip r:embed="rId3"/>
          <a:stretch>
            <a:fillRect/>
          </a:stretch>
        </p:blipFill>
        <p:spPr>
          <a:xfrm>
            <a:off x="0" y="0"/>
            <a:ext cx="14630400" cy="8229600"/>
          </a:xfrm>
          <a:prstGeom prst="rect">
            <a:avLst/>
          </a:prstGeom>
        </p:spPr>
      </p:pic>
      <p:sp>
        <p:nvSpPr>
          <p:cNvPr id="2" name="TextBox 1"/>
          <p:cNvSpPr txBox="1"/>
          <p:nvPr/>
        </p:nvSpPr>
        <p:spPr>
          <a:xfrm>
            <a:off x="731520" y="411480"/>
            <a:ext cx="12801600" cy="274320"/>
          </a:xfrm>
          <a:prstGeom prst="rect">
            <a:avLst/>
          </a:prstGeom>
          <a:noFill/>
        </p:spPr>
        <p:txBody>
          <a:bodyPr wrap="square" lIns="0" rIns="0" tIns="0" bIns="0">
            <a:spAutoFit/>
          </a:bodyPr>
          <a:lstStyle/>
          <a:p>
            <a:pPr>
              <a:spcAft>
                <a:spcPts val="1000"/>
              </a:spcAft>
              <a:defRPr sz="1100" b="0">
                <a:solidFill>
                  <a:srgbClr val="48D4DE"/>
                </a:solidFill>
                <a:latin typeface="Noto Sans CJK KR"/>
              </a:defRPr>
            </a:pPr>
            <a:r>
              <a:t>HYBRID SYSTEM / LIFECYCLE</a:t>
            </a:r>
          </a:p>
        </p:txBody>
      </p:sp>
      <p:sp>
        <p:nvSpPr>
          <p:cNvPr id="3" name="TextBox 2"/>
          <p:cNvSpPr txBox="1"/>
          <p:nvPr/>
        </p:nvSpPr>
        <p:spPr>
          <a:xfrm>
            <a:off x="731520" y="960120"/>
            <a:ext cx="13167360" cy="1097280"/>
          </a:xfrm>
          <a:prstGeom prst="rect">
            <a:avLst/>
          </a:prstGeom>
          <a:noFill/>
        </p:spPr>
        <p:txBody>
          <a:bodyPr wrap="square" lIns="0" rIns="0" tIns="0" bIns="0">
            <a:spAutoFit/>
          </a:bodyPr>
          <a:lstStyle/>
          <a:p>
            <a:pPr>
              <a:spcAft>
                <a:spcPts val="1000"/>
              </a:spcAft>
              <a:defRPr sz="3400" b="1">
                <a:solidFill>
                  <a:srgbClr val="EFF4F8"/>
                </a:solidFill>
                <a:latin typeface="Noto Sans CJK KR"/>
              </a:defRPr>
            </a:pPr>
            <a:r>
              <a:t>공장 검증부터 사후관리까지 책임을 연결한다</a:t>
            </a:r>
          </a:p>
        </p:txBody>
      </p:sp>
      <p:sp>
        <p:nvSpPr>
          <p:cNvPr id="4" name="Rectangle 3"/>
          <p:cNvSpPr/>
          <p:nvPr/>
        </p:nvSpPr>
        <p:spPr>
          <a:xfrm>
            <a:off x="731520" y="7635240"/>
            <a:ext cx="13167360" cy="10972"/>
          </a:xfrm>
          <a:prstGeom prst="rect">
            <a:avLst/>
          </a:prstGeom>
          <a:solidFill>
            <a:srgbClr val="2940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7790688"/>
            <a:ext cx="6400800" cy="182880"/>
          </a:xfrm>
          <a:prstGeom prst="rect">
            <a:avLst/>
          </a:prstGeom>
          <a:noFill/>
        </p:spPr>
        <p:txBody>
          <a:bodyPr wrap="square" lIns="0" rIns="0" tIns="0" bIns="0">
            <a:spAutoFit/>
          </a:bodyPr>
          <a:lstStyle/>
          <a:p>
            <a:pPr>
              <a:spcAft>
                <a:spcPts val="1000"/>
              </a:spcAft>
              <a:defRPr sz="900" b="0">
                <a:solidFill>
                  <a:srgbClr val="8FA5B8"/>
                </a:solidFill>
                <a:latin typeface="Noto Sans CJK KR"/>
              </a:defRPr>
            </a:pPr>
            <a:r>
              <a:t>MASTERVOLT KOREA  /  INTEGRATED VESSEL SOLUTIONS</a:t>
            </a:r>
          </a:p>
        </p:txBody>
      </p:sp>
      <p:sp>
        <p:nvSpPr>
          <p:cNvPr id="6" name="TextBox 5"/>
          <p:cNvSpPr txBox="1"/>
          <p:nvPr/>
        </p:nvSpPr>
        <p:spPr>
          <a:xfrm>
            <a:off x="13167360" y="7754112"/>
            <a:ext cx="731520" cy="274320"/>
          </a:xfrm>
          <a:prstGeom prst="rect">
            <a:avLst/>
          </a:prstGeom>
          <a:noFill/>
        </p:spPr>
        <p:txBody>
          <a:bodyPr wrap="square" lIns="0" rIns="0" tIns="0" bIns="0">
            <a:spAutoFit/>
          </a:bodyPr>
          <a:lstStyle/>
          <a:p>
            <a:pPr>
              <a:spcAft>
                <a:spcPts val="1000"/>
              </a:spcAft>
              <a:defRPr sz="1100" b="0">
                <a:solidFill>
                  <a:srgbClr val="8FA5B8"/>
                </a:solidFill>
                <a:latin typeface="Noto Sans CJK KR"/>
              </a:defRPr>
            </a:pPr>
            <a:r>
              <a:t>19</a:t>
            </a:r>
          </a:p>
        </p:txBody>
      </p:sp>
      <p:sp>
        <p:nvSpPr>
          <p:cNvPr id="7" name="TextBox 6"/>
          <p:cNvSpPr txBox="1"/>
          <p:nvPr/>
        </p:nvSpPr>
        <p:spPr>
          <a:xfrm>
            <a:off x="731520" y="2651760"/>
            <a:ext cx="5486400" cy="1463040"/>
          </a:xfrm>
          <a:prstGeom prst="rect">
            <a:avLst/>
          </a:prstGeom>
          <a:noFill/>
        </p:spPr>
        <p:txBody>
          <a:bodyPr wrap="square" lIns="0" rIns="0" tIns="0" bIns="0">
            <a:spAutoFit/>
          </a:bodyPr>
          <a:lstStyle/>
          <a:p>
            <a:pPr>
              <a:spcAft>
                <a:spcPts val="1000"/>
              </a:spcAft>
              <a:defRPr sz="8500" b="1">
                <a:solidFill>
                  <a:srgbClr val="48D4DE"/>
                </a:solidFill>
                <a:latin typeface="Noto Sans CJK KR"/>
              </a:defRPr>
            </a:pPr>
            <a:r>
              <a:t>FAT</a:t>
            </a:r>
          </a:p>
        </p:txBody>
      </p:sp>
      <p:sp>
        <p:nvSpPr>
          <p:cNvPr id="8" name="TextBox 7"/>
          <p:cNvSpPr txBox="1"/>
          <p:nvPr/>
        </p:nvSpPr>
        <p:spPr>
          <a:xfrm>
            <a:off x="731520" y="4389120"/>
            <a:ext cx="6126480" cy="914400"/>
          </a:xfrm>
          <a:prstGeom prst="rect">
            <a:avLst/>
          </a:prstGeom>
          <a:noFill/>
        </p:spPr>
        <p:txBody>
          <a:bodyPr wrap="square" lIns="0" rIns="0" tIns="0" bIns="0">
            <a:spAutoFit/>
          </a:bodyPr>
          <a:lstStyle/>
          <a:p>
            <a:pPr>
              <a:spcAft>
                <a:spcPts val="1000"/>
              </a:spcAft>
              <a:defRPr sz="2500" b="0">
                <a:solidFill>
                  <a:srgbClr val="EFF4F8"/>
                </a:solidFill>
                <a:latin typeface="Noto Sans CJK KR"/>
              </a:defRPr>
            </a:pPr>
            <a:r>
              <a:t>공장검사 단계의 시스템 검증</a:t>
            </a:r>
          </a:p>
        </p:txBody>
      </p:sp>
      <p:sp>
        <p:nvSpPr>
          <p:cNvPr id="9" name="TextBox 8"/>
          <p:cNvSpPr txBox="1"/>
          <p:nvPr/>
        </p:nvSpPr>
        <p:spPr>
          <a:xfrm>
            <a:off x="7315200" y="2697480"/>
            <a:ext cx="6400800" cy="3566160"/>
          </a:xfrm>
          <a:prstGeom prst="rect">
            <a:avLst/>
          </a:prstGeom>
          <a:noFill/>
        </p:spPr>
        <p:txBody>
          <a:bodyPr wrap="square" lIns="0" rIns="0" tIns="0" bIns="0">
            <a:spAutoFit/>
          </a:bodyPr>
          <a:lstStyle/>
          <a:p>
            <a:pPr>
              <a:spcAft>
                <a:spcPts val="1000"/>
              </a:spcAft>
              <a:defRPr sz="2500" b="0">
                <a:solidFill>
                  <a:srgbClr val="EFF4F8"/>
                </a:solidFill>
                <a:latin typeface="Noto Sans CJK KR"/>
              </a:defRPr>
            </a:pPr>
            <a:r>
              <a:t>통합 공급·시스템 책임 창구</a:t>
            </a:r>
          </a:p>
          <a:p>
            <a:pPr>
              <a:spcAft>
                <a:spcPts val="1000"/>
              </a:spcAft>
              <a:defRPr sz="2500" b="0">
                <a:solidFill>
                  <a:srgbClr val="EFF4F8"/>
                </a:solidFill>
                <a:latin typeface="Noto Sans CJK KR"/>
              </a:defRPr>
            </a:pPr>
            <a:r>
              <a:t>현장 설치 · 검사 · 시운전</a:t>
            </a:r>
          </a:p>
          <a:p>
            <a:pPr>
              <a:spcAft>
                <a:spcPts val="1000"/>
              </a:spcAft>
              <a:defRPr sz="2500" b="0">
                <a:solidFill>
                  <a:srgbClr val="EFF4F8"/>
                </a:solidFill>
                <a:latin typeface="Noto Sans CJK KR"/>
              </a:defRPr>
            </a:pPr>
            <a:r>
              <a:t>커미셔닝 · 안정화 · 운용 교육</a:t>
            </a:r>
          </a:p>
          <a:p>
            <a:pPr>
              <a:spcAft>
                <a:spcPts val="1000"/>
              </a:spcAft>
              <a:defRPr sz="2500" b="0">
                <a:solidFill>
                  <a:srgbClr val="EFF4F8"/>
                </a:solidFill>
                <a:latin typeface="Noto Sans CJK KR"/>
              </a:defRPr>
            </a:pPr>
            <a:r>
              <a:t>사후관리</a:t>
            </a:r>
          </a:p>
        </p:txBody>
      </p:sp>
      <p:sp>
        <p:nvSpPr>
          <p:cNvPr id="10" name="TextBox 9"/>
          <p:cNvSpPr txBox="1"/>
          <p:nvPr/>
        </p:nvSpPr>
        <p:spPr>
          <a:xfrm>
            <a:off x="731520" y="6858000"/>
            <a:ext cx="13167360" cy="457200"/>
          </a:xfrm>
          <a:prstGeom prst="rect">
            <a:avLst/>
          </a:prstGeom>
          <a:noFill/>
        </p:spPr>
        <p:txBody>
          <a:bodyPr wrap="square" lIns="0" rIns="0" tIns="0" bIns="0">
            <a:spAutoFit/>
          </a:bodyPr>
          <a:lstStyle/>
          <a:p>
            <a:pPr>
              <a:spcAft>
                <a:spcPts val="1000"/>
              </a:spcAft>
              <a:defRPr sz="1700" b="0">
                <a:solidFill>
                  <a:srgbClr val="8FA5B8"/>
                </a:solidFill>
                <a:latin typeface="Noto Sans CJK KR"/>
              </a:defRPr>
            </a:pPr>
            <a:r>
              <a:t>인증·특허 / 회사 자료에 제시된 범위 기준, 현행 유효성 별도 확인</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Mastervolt Korea | Integrated Vessel Solutions</dc:title>
  <dc:subject>회사 소개 및 선박 표준화 기술 검토</dc:subject>
  <dc:creator/>
  <cp:keywords/>
  <dc:description>imagegen 시각물과 편집 가능한 텍스트·표로 구성. 하이브리드 시스템 PDF 29페이지를 참고하여 재구성.</dc:description>
  <cp:lastModifiedBy>Steve Canny</cp:lastModifiedBy>
  <cp:revision>1</cp:revision>
  <dcterms:created xsi:type="dcterms:W3CDTF">2013-01-27T09:14:16Z</dcterms:created>
  <dcterms:modified xsi:type="dcterms:W3CDTF">2013-01-27T09:15:58Z</dcterms:modified>
  <cp:category/>
</cp:coreProperties>
</file>