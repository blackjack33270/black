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PDF 12–14페이지 전체 재구성. 원문 표의 공란은 임의로 보완하지 않음. 표지: AI 생성 컨셉 이미지. 실제 K-water 선박 사진 또는 검증된 설계를 나타내지 않음.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원문 12페이지 검토 방향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원문 12페이지: 총톤수, 전장, 형폭, 형심, 흘수, 승선인원 전체 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원문 12페이지: 주기관 형식·출력, 추진기 형식, 최대·운항선속, 항속거리 전체 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원문 13페이지 사업장별 운항여건 재검토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원문 13페이지 요구성능 재정립: 기존 선속 20–30 kts, 항속거리 55–185 km. 선속·항속거리 최적화(↓).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원문 13페이지 전기추진 시스템 사양 검토 6개 항목 전체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원문 13페이지 선종별 현 제원 내 적용성 평가 4개 항목 전체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원문 13페이지 선정 흐름도 전체. 적용불가능 시 주요제원·요구성능 최적화 후 요구성능 재정립으로 회귀. 최적화 후에도 불가능하면 하이브리드 검토.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원문 14페이지 상단 주요제원 전체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원문 14페이지 주기관 형식. 표의 주기관 출력·추진기 형식·최대선속·운항선속·항속거리는 모두 공란.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원문 14페이지 하단 검토 항목 4개 전체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PDF 1페이지 전체 원본. 모든 문구·사진·표·도식·로고·페이지번호 포함.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PDF 2페이지 전체 원본. 모든 문구·사진·표·도식·로고·페이지번호 포함.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PDF 3페이지 전체 원본. 모든 문구·사진·표·도식·로고·페이지번호 포함.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9" name="Picture 8" descr="exec-ea6048a9-9dda-4513-9fdd-08c3e72f4f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731520" y="411480"/>
            <a:ext cx="1280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48D4DE"/>
                </a:solidFill>
                <a:latin typeface="Noto Sans CJK KR"/>
              </a:defRPr>
            </a:pPr>
            <a:r>
              <a:t>MARINE TECHNOLOGY / TECHNICAL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31673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EFF4F8"/>
                </a:solidFill>
                <a:latin typeface="Noto Sans CJK KR"/>
              </a:defRPr>
            </a:pPr>
            <a:r>
              <a:t>K-water</a:t>
            </a:r>
          </a:p>
          <a:p>
            <a:pPr>
              <a:spcAft>
                <a:spcPts val="1000"/>
              </a:spcAft>
              <a:defRPr sz="3400" b="1">
                <a:solidFill>
                  <a:srgbClr val="EFF4F8"/>
                </a:solidFill>
                <a:latin typeface="Noto Sans CJK KR"/>
              </a:defRPr>
            </a:pPr>
            <a:r>
              <a:t>선박 표준화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635240"/>
            <a:ext cx="13167360" cy="10972"/>
          </a:xfrm>
          <a:prstGeom prst="rect">
            <a:avLst/>
          </a:prstGeom>
          <a:solidFill>
            <a:srgbClr val="29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7790688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8FA5B8"/>
                </a:solidFill>
                <a:latin typeface="Noto Sans CJK KR"/>
              </a:defRPr>
            </a:pPr>
            <a:r>
              <a:t>K-WATER  /  5 VESSEL TYPES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67360" y="775411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8FA5B8"/>
                </a:solidFill>
                <a:latin typeface="Noto Sans CJK KR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8229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800" b="0">
                <a:solidFill>
                  <a:srgbClr val="48D4DE"/>
                </a:solidFill>
                <a:latin typeface="Noto Sans CJK KR"/>
              </a:defRPr>
            </a:pPr>
            <a:r>
              <a:t>5종 표준선박의 친환경 전환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292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8FA5B8"/>
                </a:solidFill>
                <a:latin typeface="Noto Sans CJK KR"/>
              </a:defRPr>
            </a:pPr>
            <a:r>
              <a:t>주요제원 유지 · 운항여건 반영 · 추진체계 최적화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7818120"/>
            <a:ext cx="4206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FA5B8"/>
                </a:solidFill>
                <a:latin typeface="Noto Sans CJK KR"/>
              </a:defRPr>
            </a:pPr>
            <a:r>
              <a:t>CONCEPT VISUAL / AI 생성 이미지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280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48D4DE"/>
                </a:solidFill>
                <a:latin typeface="Noto Sans CJK KR"/>
              </a:defRPr>
            </a:pPr>
            <a:r>
              <a:t>K-WATER / MARINE STANDARDIZATION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31673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EFF4F8"/>
                </a:solidFill>
                <a:latin typeface="Noto Sans CJK KR"/>
              </a:defRPr>
            </a:pPr>
            <a:r>
              <a:t>주요제원을 유지하고, 요구성능을 재정립한다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635240"/>
            <a:ext cx="13167360" cy="10972"/>
          </a:xfrm>
          <a:prstGeom prst="rect">
            <a:avLst/>
          </a:prstGeom>
          <a:solidFill>
            <a:srgbClr val="29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7790688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8FA5B8"/>
                </a:solidFill>
                <a:latin typeface="Noto Sans CJK KR"/>
              </a:defRPr>
            </a:pPr>
            <a:r>
              <a:t>K-WATER  /  5 VESSEL TYPES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67360" y="775411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8FA5B8"/>
                </a:solidFill>
                <a:latin typeface="Noto Sans CJK KR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45720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200" b="1">
                <a:solidFill>
                  <a:srgbClr val="48D4DE"/>
                </a:solidFill>
                <a:latin typeface="Noto Sans CJK KR"/>
              </a:defRPr>
            </a:pPr>
            <a: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7200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EFF4F8"/>
                </a:solidFill>
                <a:latin typeface="Noto Sans CJK KR"/>
              </a:defRPr>
            </a:pPr>
            <a:r>
              <a:t>표준선박 유형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651760"/>
            <a:ext cx="68580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800" b="1">
                <a:solidFill>
                  <a:srgbClr val="EFF4F8"/>
                </a:solidFill>
                <a:latin typeface="Noto Sans CJK KR"/>
              </a:defRPr>
            </a:pPr>
            <a:r>
              <a:t>기존 표준선박의 주요제원을 최대한 유지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4297680"/>
            <a:ext cx="685800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8FA5B8"/>
                </a:solidFill>
                <a:latin typeface="Noto Sans CJK KR"/>
              </a:defRPr>
            </a:pPr>
            <a:r>
              <a:t>사업장별 실제 운항여건을 반영</a:t>
            </a:r>
          </a:p>
          <a:p>
            <a:pPr>
              <a:spcAft>
                <a:spcPts val="1000"/>
              </a:spcAft>
              <a:defRPr sz="2400" b="0">
                <a:solidFill>
                  <a:srgbClr val="8FA5B8"/>
                </a:solidFill>
                <a:latin typeface="Noto Sans CJK KR"/>
              </a:defRPr>
            </a:pPr>
            <a:r>
              <a:t>친환경 추진 적용을 위한 요구성능 재정립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280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48D4DE"/>
                </a:solidFill>
                <a:latin typeface="Noto Sans CJK KR"/>
              </a:defRPr>
            </a:pPr>
            <a:r>
              <a:t>K-WATER / MARINE STANDARDIZATION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31673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EFF4F8"/>
                </a:solidFill>
                <a:latin typeface="Noto Sans CJK KR"/>
              </a:defRPr>
            </a:pPr>
            <a:r>
              <a:t>5종 표준선박의 주요제원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635240"/>
            <a:ext cx="13167360" cy="10972"/>
          </a:xfrm>
          <a:prstGeom prst="rect">
            <a:avLst/>
          </a:prstGeom>
          <a:solidFill>
            <a:srgbClr val="29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7790688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8FA5B8"/>
                </a:solidFill>
                <a:latin typeface="Noto Sans CJK KR"/>
              </a:defRPr>
            </a:pPr>
            <a:r>
              <a:t>K-WATER  /  5 VESSEL TYPES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67360" y="775411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8FA5B8"/>
                </a:solidFill>
                <a:latin typeface="Noto Sans CJK KR"/>
              </a:defRPr>
            </a:pPr>
            <a: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46888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8D4DE"/>
                </a:solidFill>
                <a:latin typeface="Noto Sans CJK KR"/>
              </a:defRPr>
            </a:pPr>
            <a:r>
              <a:t>구분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56432" y="2468880"/>
            <a:ext cx="201167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8D4DE"/>
                </a:solidFill>
                <a:latin typeface="Noto Sans CJK KR"/>
              </a:defRPr>
            </a:pPr>
            <a:r>
              <a:t>관리선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59552" y="2468880"/>
            <a:ext cx="201167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8D4DE"/>
                </a:solidFill>
                <a:latin typeface="Noto Sans CJK KR"/>
              </a:defRPr>
            </a:pPr>
            <a:r>
              <a:t>관리선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62672" y="2468880"/>
            <a:ext cx="201167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8D4DE"/>
                </a:solidFill>
                <a:latin typeface="Noto Sans CJK KR"/>
              </a:defRPr>
            </a:pPr>
            <a:r>
              <a:t>순시선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65792" y="2468880"/>
            <a:ext cx="201167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8D4DE"/>
                </a:solidFill>
                <a:latin typeface="Noto Sans CJK KR"/>
              </a:defRPr>
            </a:pPr>
            <a:r>
              <a:t>순시선 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68912" y="2468880"/>
            <a:ext cx="201167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8D4DE"/>
                </a:solidFill>
                <a:latin typeface="Noto Sans CJK KR"/>
              </a:defRPr>
            </a:pPr>
            <a:r>
              <a:t>작업선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953512"/>
            <a:ext cx="13167360" cy="9144"/>
          </a:xfrm>
          <a:prstGeom prst="rect">
            <a:avLst/>
          </a:prstGeom>
          <a:solidFill>
            <a:srgbClr val="29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035808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8FA5B8"/>
                </a:solidFill>
                <a:latin typeface="Noto Sans CJK KR"/>
              </a:defRPr>
            </a:pPr>
            <a:r>
              <a:t>총톤수 [톤]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6432" y="3035808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EFF4F8"/>
                </a:solidFill>
                <a:latin typeface="Noto Sans CJK KR"/>
              </a:defRPr>
            </a:pPr>
            <a:r>
              <a:t>19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59552" y="3035808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EFF4F8"/>
                </a:solidFill>
                <a:latin typeface="Noto Sans CJK KR"/>
              </a:defRPr>
            </a:pPr>
            <a:r>
              <a:t>9.77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62672" y="3035808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EFF4F8"/>
                </a:solidFill>
                <a:latin typeface="Noto Sans CJK KR"/>
              </a:defRPr>
            </a:pPr>
            <a:r>
              <a:t>5.13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65792" y="3035808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EFF4F8"/>
                </a:solidFill>
                <a:latin typeface="Noto Sans CJK KR"/>
              </a:defRPr>
            </a:pPr>
            <a:r>
              <a:t>2.98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68912" y="3035808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EFF4F8"/>
                </a:solidFill>
                <a:latin typeface="Noto Sans CJK KR"/>
              </a:defRPr>
            </a:pPr>
            <a:r>
              <a:t>3.71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493008"/>
            <a:ext cx="13167360" cy="9144"/>
          </a:xfrm>
          <a:prstGeom prst="rect">
            <a:avLst/>
          </a:prstGeom>
          <a:solidFill>
            <a:srgbClr val="29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3575304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8FA5B8"/>
                </a:solidFill>
                <a:latin typeface="Noto Sans CJK KR"/>
              </a:defRPr>
            </a:pPr>
            <a:r>
              <a:t>전장 [m]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3575304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EFF4F8"/>
                </a:solidFill>
                <a:latin typeface="Noto Sans CJK KR"/>
              </a:defRPr>
            </a:pPr>
            <a:r>
              <a:t>17.00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59552" y="3575304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EFF4F8"/>
                </a:solidFill>
                <a:latin typeface="Noto Sans CJK KR"/>
              </a:defRPr>
            </a:pPr>
            <a:r>
              <a:t>14.15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62672" y="3575304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EFF4F8"/>
                </a:solidFill>
                <a:latin typeface="Noto Sans CJK KR"/>
              </a:defRPr>
            </a:pPr>
            <a:r>
              <a:t>10.04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65792" y="3575304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EFF4F8"/>
                </a:solidFill>
                <a:latin typeface="Noto Sans CJK KR"/>
              </a:defRPr>
            </a:pPr>
            <a:r>
              <a:t>7.99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68912" y="3575304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EFF4F8"/>
                </a:solidFill>
                <a:latin typeface="Noto Sans CJK KR"/>
              </a:defRPr>
            </a:pPr>
            <a:r>
              <a:t>9.1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4032504"/>
            <a:ext cx="13167360" cy="9144"/>
          </a:xfrm>
          <a:prstGeom prst="rect">
            <a:avLst/>
          </a:prstGeom>
          <a:solidFill>
            <a:srgbClr val="29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411480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8FA5B8"/>
                </a:solidFill>
                <a:latin typeface="Noto Sans CJK KR"/>
              </a:defRPr>
            </a:pPr>
            <a:r>
              <a:t>형폭 [m]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56432" y="4114800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EFF4F8"/>
                </a:solidFill>
                <a:latin typeface="Noto Sans CJK KR"/>
              </a:defRPr>
            </a:pPr>
            <a:r>
              <a:t>6.30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59552" y="4114800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EFF4F8"/>
                </a:solidFill>
                <a:latin typeface="Noto Sans CJK KR"/>
              </a:defRPr>
            </a:pPr>
            <a:r>
              <a:t>3.30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62672" y="4114800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EFF4F8"/>
                </a:solidFill>
                <a:latin typeface="Noto Sans CJK KR"/>
              </a:defRPr>
            </a:pPr>
            <a:r>
              <a:t>2.80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65792" y="4114800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EFF4F8"/>
                </a:solidFill>
                <a:latin typeface="Noto Sans CJK KR"/>
              </a:defRPr>
            </a:pPr>
            <a:r>
              <a:t>2.30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68912" y="4114800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EFF4F8"/>
                </a:solidFill>
                <a:latin typeface="Noto Sans CJK KR"/>
              </a:defRPr>
            </a:pPr>
            <a:r>
              <a:t>3.00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4572000"/>
            <a:ext cx="13167360" cy="9144"/>
          </a:xfrm>
          <a:prstGeom prst="rect">
            <a:avLst/>
          </a:prstGeom>
          <a:solidFill>
            <a:srgbClr val="29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2" y="4654296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8FA5B8"/>
                </a:solidFill>
                <a:latin typeface="Noto Sans CJK KR"/>
              </a:defRPr>
            </a:pPr>
            <a:r>
              <a:t>형심 [m]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56432" y="4654296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EFF4F8"/>
                </a:solidFill>
                <a:latin typeface="Noto Sans CJK KR"/>
              </a:defRPr>
            </a:pPr>
            <a:r>
              <a:t>1.50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59552" y="4654296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EFF4F8"/>
                </a:solidFill>
                <a:latin typeface="Noto Sans CJK KR"/>
              </a:defRPr>
            </a:pPr>
            <a:r>
              <a:t>1.00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62672" y="4654296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EFF4F8"/>
                </a:solidFill>
                <a:latin typeface="Noto Sans CJK KR"/>
              </a:defRPr>
            </a:pPr>
            <a:r>
              <a:t>0.80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65792" y="4654296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EFF4F8"/>
                </a:solidFill>
                <a:latin typeface="Noto Sans CJK KR"/>
              </a:defRPr>
            </a:pPr>
            <a:r>
              <a:t>0.70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868912" y="4654296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EFF4F8"/>
                </a:solidFill>
                <a:latin typeface="Noto Sans CJK KR"/>
              </a:defRPr>
            </a:pPr>
            <a:r>
              <a:t>0.70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" y="5111496"/>
            <a:ext cx="13167360" cy="9144"/>
          </a:xfrm>
          <a:prstGeom prst="rect">
            <a:avLst/>
          </a:prstGeom>
          <a:solidFill>
            <a:srgbClr val="29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4672" y="5193792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8FA5B8"/>
                </a:solidFill>
                <a:latin typeface="Noto Sans CJK KR"/>
              </a:defRPr>
            </a:pPr>
            <a:r>
              <a:t>흘수 [m]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56432" y="5193792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EFF4F8"/>
                </a:solidFill>
                <a:latin typeface="Noto Sans CJK KR"/>
              </a:defRPr>
            </a:pPr>
            <a:r>
              <a:t>0.80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59552" y="5193792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EFF4F8"/>
                </a:solidFill>
                <a:latin typeface="Noto Sans CJK KR"/>
              </a:defRPr>
            </a:pPr>
            <a:r>
              <a:t>0.70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62672" y="5193792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EFF4F8"/>
                </a:solidFill>
                <a:latin typeface="Noto Sans CJK KR"/>
              </a:defRPr>
            </a:pPr>
            <a:r>
              <a:t>0.55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65792" y="5193792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EFF4F8"/>
                </a:solidFill>
                <a:latin typeface="Noto Sans CJK KR"/>
              </a:defRPr>
            </a:pPr>
            <a:r>
              <a:t>0.50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868912" y="5193792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EFF4F8"/>
                </a:solidFill>
                <a:latin typeface="Noto Sans CJK KR"/>
              </a:defRPr>
            </a:pPr>
            <a:r>
              <a:t>0.45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31520" y="5650992"/>
            <a:ext cx="13167360" cy="9144"/>
          </a:xfrm>
          <a:prstGeom prst="rect">
            <a:avLst/>
          </a:prstGeom>
          <a:solidFill>
            <a:srgbClr val="29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4672" y="5733288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8FA5B8"/>
                </a:solidFill>
                <a:latin typeface="Noto Sans CJK KR"/>
              </a:defRPr>
            </a:pPr>
            <a:r>
              <a:t>승선인원 [인]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456432" y="5733288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EFF4F8"/>
                </a:solidFill>
                <a:latin typeface="Noto Sans CJK KR"/>
              </a:defRPr>
            </a:pPr>
            <a:r>
              <a:t>13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559552" y="5733288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EFF4F8"/>
                </a:solidFill>
                <a:latin typeface="Noto Sans CJK KR"/>
              </a:defRPr>
            </a:pPr>
            <a:r>
              <a:t>13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62672" y="5733288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EFF4F8"/>
                </a:solidFill>
                <a:latin typeface="Noto Sans CJK KR"/>
              </a:defRPr>
            </a:pPr>
            <a:r>
              <a:t>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765792" y="5733288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EFF4F8"/>
                </a:solidFill>
                <a:latin typeface="Noto Sans CJK KR"/>
              </a:defRPr>
            </a:pPr>
            <a:r>
              <a:t>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868912" y="5733288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EFF4F8"/>
                </a:solidFill>
                <a:latin typeface="Noto Sans CJK KR"/>
              </a:defRPr>
            </a:pPr>
            <a:r>
              <a:t>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2960" y="68122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48D4DE"/>
                </a:solidFill>
                <a:latin typeface="Noto Sans CJK KR"/>
              </a:defRPr>
            </a:pPr>
            <a:r>
              <a:t>공통 선체재질  /  AL alloy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280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48D4DE"/>
                </a:solidFill>
                <a:latin typeface="Noto Sans CJK KR"/>
              </a:defRPr>
            </a:pPr>
            <a:r>
              <a:t>K-WATER / MARINE STANDARDIZATION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31673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EFF4F8"/>
                </a:solidFill>
                <a:latin typeface="Noto Sans CJK KR"/>
              </a:defRPr>
            </a:pPr>
            <a:r>
              <a:t>기존 추진체계와 운항성능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635240"/>
            <a:ext cx="13167360" cy="10972"/>
          </a:xfrm>
          <a:prstGeom prst="rect">
            <a:avLst/>
          </a:prstGeom>
          <a:solidFill>
            <a:srgbClr val="29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7790688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8FA5B8"/>
                </a:solidFill>
                <a:latin typeface="Noto Sans CJK KR"/>
              </a:defRPr>
            </a:pPr>
            <a:r>
              <a:t>K-WATER  /  5 VESSEL TYPES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67360" y="775411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8FA5B8"/>
                </a:solidFill>
                <a:latin typeface="Noto Sans CJK KR"/>
              </a:defRPr>
            </a:pPr>
            <a: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46888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8D4DE"/>
                </a:solidFill>
                <a:latin typeface="Noto Sans CJK KR"/>
              </a:defRPr>
            </a:pPr>
            <a:r>
              <a:t>구분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56432" y="2468880"/>
            <a:ext cx="201167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8D4DE"/>
                </a:solidFill>
                <a:latin typeface="Noto Sans CJK KR"/>
              </a:defRPr>
            </a:pPr>
            <a:r>
              <a:t>관리선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59552" y="2468880"/>
            <a:ext cx="201167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8D4DE"/>
                </a:solidFill>
                <a:latin typeface="Noto Sans CJK KR"/>
              </a:defRPr>
            </a:pPr>
            <a:r>
              <a:t>관리선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62672" y="2468880"/>
            <a:ext cx="201167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8D4DE"/>
                </a:solidFill>
                <a:latin typeface="Noto Sans CJK KR"/>
              </a:defRPr>
            </a:pPr>
            <a:r>
              <a:t>순시선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65792" y="2468880"/>
            <a:ext cx="201167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8D4DE"/>
                </a:solidFill>
                <a:latin typeface="Noto Sans CJK KR"/>
              </a:defRPr>
            </a:pPr>
            <a:r>
              <a:t>순시선 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68912" y="2468880"/>
            <a:ext cx="201167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8D4DE"/>
                </a:solidFill>
                <a:latin typeface="Noto Sans CJK KR"/>
              </a:defRPr>
            </a:pPr>
            <a:r>
              <a:t>작업선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953512"/>
            <a:ext cx="13167360" cy="9144"/>
          </a:xfrm>
          <a:prstGeom prst="rect">
            <a:avLst/>
          </a:prstGeom>
          <a:solidFill>
            <a:srgbClr val="29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035808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8FA5B8"/>
                </a:solidFill>
                <a:latin typeface="Noto Sans CJK KR"/>
              </a:defRPr>
            </a:pPr>
            <a:r>
              <a:t>주기관 형식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6432" y="3035808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EFF4F8"/>
                </a:solidFill>
                <a:latin typeface="Noto Sans CJK KR"/>
              </a:defRPr>
            </a:pPr>
            <a:r>
              <a:t>선내기(디젤)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59552" y="3035808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EFF4F8"/>
                </a:solidFill>
                <a:latin typeface="Noto Sans CJK KR"/>
              </a:defRPr>
            </a:pPr>
            <a:r>
              <a:t>선내기(디젤)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62672" y="3035808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EFF4F8"/>
                </a:solidFill>
                <a:latin typeface="Noto Sans CJK KR"/>
              </a:defRPr>
            </a:pPr>
            <a:r>
              <a:t>선외기(가솔린)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65792" y="3035808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EFF4F8"/>
                </a:solidFill>
                <a:latin typeface="Noto Sans CJK KR"/>
              </a:defRPr>
            </a:pPr>
            <a:r>
              <a:t>선외기(가솔린)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68912" y="3035808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EFF4F8"/>
                </a:solidFill>
                <a:latin typeface="Noto Sans CJK KR"/>
              </a:defRPr>
            </a:pPr>
            <a:r>
              <a:t>선외기(가솔린)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493008"/>
            <a:ext cx="13167360" cy="9144"/>
          </a:xfrm>
          <a:prstGeom prst="rect">
            <a:avLst/>
          </a:prstGeom>
          <a:solidFill>
            <a:srgbClr val="29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3575304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8FA5B8"/>
                </a:solidFill>
                <a:latin typeface="Noto Sans CJK KR"/>
              </a:defRPr>
            </a:pPr>
            <a:r>
              <a:t>주기관 출력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3575304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EFF4F8"/>
                </a:solidFill>
                <a:latin typeface="Noto Sans CJK KR"/>
              </a:defRPr>
            </a:pPr>
            <a:r>
              <a:t>700마력 × 2기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59552" y="3575304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EFF4F8"/>
                </a:solidFill>
                <a:latin typeface="Noto Sans CJK KR"/>
              </a:defRPr>
            </a:pPr>
            <a:r>
              <a:t>440마력 × 2기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62672" y="3575304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EFF4F8"/>
                </a:solidFill>
                <a:latin typeface="Noto Sans CJK KR"/>
              </a:defRPr>
            </a:pPr>
            <a:r>
              <a:t>200마력 × 2기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65792" y="3575304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EFF4F8"/>
                </a:solidFill>
                <a:latin typeface="Noto Sans CJK KR"/>
              </a:defRPr>
            </a:pPr>
            <a:r>
              <a:t>200마력 × 1기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68912" y="3575304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EFF4F8"/>
                </a:solidFill>
                <a:latin typeface="Noto Sans CJK KR"/>
              </a:defRPr>
            </a:pPr>
            <a:r>
              <a:t>200마력 × 1기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4032504"/>
            <a:ext cx="13167360" cy="9144"/>
          </a:xfrm>
          <a:prstGeom prst="rect">
            <a:avLst/>
          </a:prstGeom>
          <a:solidFill>
            <a:srgbClr val="29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411480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8FA5B8"/>
                </a:solidFill>
                <a:latin typeface="Noto Sans CJK KR"/>
              </a:defRPr>
            </a:pPr>
            <a:r>
              <a:t>추진기 형식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56432" y="4114800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EFF4F8"/>
                </a:solidFill>
                <a:latin typeface="Noto Sans CJK KR"/>
              </a:defRPr>
            </a:pPr>
            <a:r>
              <a:t>워터제트 × 2기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59552" y="4114800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EFF4F8"/>
                </a:solidFill>
                <a:latin typeface="Noto Sans CJK KR"/>
              </a:defRPr>
            </a:pPr>
            <a:r>
              <a:t>스턴드라이브 × 2기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62672" y="4114800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EFF4F8"/>
                </a:solidFill>
                <a:latin typeface="Noto Sans CJK KR"/>
              </a:defRPr>
            </a:pPr>
            <a:r>
              <a:t>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65792" y="4114800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EFF4F8"/>
                </a:solidFill>
                <a:latin typeface="Noto Sans CJK KR"/>
              </a:defRPr>
            </a:pPr>
            <a:r>
              <a:t>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68912" y="4114800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EFF4F8"/>
                </a:solidFill>
                <a:latin typeface="Noto Sans CJK KR"/>
              </a:defRPr>
            </a:pPr>
            <a:r>
              <a:t>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4572000"/>
            <a:ext cx="13167360" cy="9144"/>
          </a:xfrm>
          <a:prstGeom prst="rect">
            <a:avLst/>
          </a:prstGeom>
          <a:solidFill>
            <a:srgbClr val="29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2" y="4654296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8FA5B8"/>
                </a:solidFill>
                <a:latin typeface="Noto Sans CJK KR"/>
              </a:defRPr>
            </a:pPr>
            <a:r>
              <a:t>최대선속 [kts]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56432" y="4654296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EFF4F8"/>
                </a:solidFill>
                <a:latin typeface="Noto Sans CJK KR"/>
              </a:defRPr>
            </a:pPr>
            <a:r>
              <a:t>25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59552" y="4654296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EFF4F8"/>
                </a:solidFill>
                <a:latin typeface="Noto Sans CJK KR"/>
              </a:defRPr>
            </a:pPr>
            <a:r>
              <a:t>25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62672" y="4654296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EFF4F8"/>
                </a:solidFill>
                <a:latin typeface="Noto Sans CJK KR"/>
              </a:defRPr>
            </a:pPr>
            <a:r>
              <a:t>30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65792" y="4654296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EFF4F8"/>
                </a:solidFill>
                <a:latin typeface="Noto Sans CJK KR"/>
              </a:defRPr>
            </a:pPr>
            <a:r>
              <a:t>30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868912" y="4654296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EFF4F8"/>
                </a:solidFill>
                <a:latin typeface="Noto Sans CJK KR"/>
              </a:defRPr>
            </a:pPr>
            <a:r>
              <a:t>20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" y="5111496"/>
            <a:ext cx="13167360" cy="9144"/>
          </a:xfrm>
          <a:prstGeom prst="rect">
            <a:avLst/>
          </a:prstGeom>
          <a:solidFill>
            <a:srgbClr val="29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4672" y="5193792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8FA5B8"/>
                </a:solidFill>
                <a:latin typeface="Noto Sans CJK KR"/>
              </a:defRPr>
            </a:pPr>
            <a:r>
              <a:t>운항선속 [kts]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56432" y="5193792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EFF4F8"/>
                </a:solidFill>
                <a:latin typeface="Noto Sans CJK KR"/>
              </a:defRPr>
            </a:pPr>
            <a:r>
              <a:t>20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59552" y="5193792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EFF4F8"/>
                </a:solidFill>
                <a:latin typeface="Noto Sans CJK KR"/>
              </a:defRPr>
            </a:pPr>
            <a:r>
              <a:t>20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62672" y="5193792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EFF4F8"/>
                </a:solidFill>
                <a:latin typeface="Noto Sans CJK KR"/>
              </a:defRPr>
            </a:pPr>
            <a:r>
              <a:t>25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65792" y="5193792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EFF4F8"/>
                </a:solidFill>
                <a:latin typeface="Noto Sans CJK KR"/>
              </a:defRPr>
            </a:pPr>
            <a:r>
              <a:t>25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868912" y="5193792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EFF4F8"/>
                </a:solidFill>
                <a:latin typeface="Noto Sans CJK KR"/>
              </a:defRPr>
            </a:pPr>
            <a:r>
              <a:t>15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31520" y="5650992"/>
            <a:ext cx="13167360" cy="9144"/>
          </a:xfrm>
          <a:prstGeom prst="rect">
            <a:avLst/>
          </a:prstGeom>
          <a:solidFill>
            <a:srgbClr val="29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4672" y="5733288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8FA5B8"/>
                </a:solidFill>
                <a:latin typeface="Noto Sans CJK KR"/>
              </a:defRPr>
            </a:pPr>
            <a:r>
              <a:t>항속거리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456432" y="5733288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EFF4F8"/>
                </a:solidFill>
                <a:latin typeface="Noto Sans CJK KR"/>
              </a:defRPr>
            </a:pPr>
            <a:r>
              <a:t>150km (80NM)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559552" y="5733288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EFF4F8"/>
                </a:solidFill>
                <a:latin typeface="Noto Sans CJK KR"/>
              </a:defRPr>
            </a:pPr>
            <a:r>
              <a:t>150km (80NM)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62672" y="5733288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EFF4F8"/>
                </a:solidFill>
                <a:latin typeface="Noto Sans CJK KR"/>
              </a:defRPr>
            </a:pPr>
            <a:r>
              <a:t>185km (100NM)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765792" y="5733288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EFF4F8"/>
                </a:solidFill>
                <a:latin typeface="Noto Sans CJK KR"/>
              </a:defRPr>
            </a:pPr>
            <a:r>
              <a:t>185km (100NM)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868912" y="5733288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EFF4F8"/>
                </a:solidFill>
                <a:latin typeface="Noto Sans CJK KR"/>
              </a:defRPr>
            </a:pPr>
            <a:r>
              <a:t>55km (30NM)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280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48D4DE"/>
                </a:solidFill>
                <a:latin typeface="Noto Sans CJK KR"/>
              </a:defRPr>
            </a:pPr>
            <a:r>
              <a:t>K-WATER / MARINE STANDARDIZATION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31673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EFF4F8"/>
                </a:solidFill>
                <a:latin typeface="Noto Sans CJK KR"/>
              </a:defRPr>
            </a:pPr>
            <a:r>
              <a:t>운항여건이 추진방식 선정의 기준이다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635240"/>
            <a:ext cx="13167360" cy="10972"/>
          </a:xfrm>
          <a:prstGeom prst="rect">
            <a:avLst/>
          </a:prstGeom>
          <a:solidFill>
            <a:srgbClr val="29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7790688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8FA5B8"/>
                </a:solidFill>
                <a:latin typeface="Noto Sans CJK KR"/>
              </a:defRPr>
            </a:pPr>
            <a:r>
              <a:t>K-WATER  /  5 VESSEL TYPES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67360" y="775411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8FA5B8"/>
                </a:solidFill>
                <a:latin typeface="Noto Sans CJK KR"/>
              </a:defRPr>
            </a:pPr>
            <a: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800" b="0">
                <a:solidFill>
                  <a:srgbClr val="48D4DE"/>
                </a:solidFill>
                <a:latin typeface="Noto Sans CJK KR"/>
              </a:defRPr>
            </a:pPr>
            <a:r>
              <a:t>운항조건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548640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900" b="0">
                <a:solidFill>
                  <a:srgbClr val="EFF4F8"/>
                </a:solidFill>
                <a:latin typeface="Noto Sans CJK KR"/>
              </a:defRPr>
            </a:pPr>
            <a:r>
              <a:t>항속거리</a:t>
            </a:r>
          </a:p>
          <a:p>
            <a:pPr>
              <a:spcAft>
                <a:spcPts val="1000"/>
              </a:spcAft>
              <a:defRPr sz="2900" b="0">
                <a:solidFill>
                  <a:srgbClr val="EFF4F8"/>
                </a:solidFill>
                <a:latin typeface="Noto Sans CJK KR"/>
              </a:defRPr>
            </a:pPr>
            <a:r>
              <a:t>운항시간</a:t>
            </a:r>
          </a:p>
          <a:p>
            <a:pPr>
              <a:spcAft>
                <a:spcPts val="1000"/>
              </a:spcAft>
              <a:defRPr sz="2900" b="0">
                <a:solidFill>
                  <a:srgbClr val="EFF4F8"/>
                </a:solidFill>
                <a:latin typeface="Noto Sans CJK KR"/>
              </a:defRPr>
            </a:pPr>
            <a:r>
              <a:t>운항속력</a:t>
            </a:r>
          </a:p>
          <a:p>
            <a:pPr>
              <a:spcAft>
                <a:spcPts val="1000"/>
              </a:spcAft>
              <a:defRPr sz="2900" b="0">
                <a:solidFill>
                  <a:srgbClr val="EFF4F8"/>
                </a:solidFill>
                <a:latin typeface="Noto Sans CJK KR"/>
              </a:defRPr>
            </a:pPr>
            <a:r>
              <a:t>운항빈도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2560320"/>
            <a:ext cx="6400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800" b="0">
                <a:solidFill>
                  <a:srgbClr val="48D4DE"/>
                </a:solidFill>
                <a:latin typeface="Noto Sans CJK KR"/>
              </a:defRPr>
            </a:pPr>
            <a:r>
              <a:t>충전 인프라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3383280"/>
            <a:ext cx="6400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900" b="0">
                <a:solidFill>
                  <a:srgbClr val="EFF4F8"/>
                </a:solidFill>
                <a:latin typeface="Noto Sans CJK KR"/>
              </a:defRPr>
            </a:pPr>
            <a:r>
              <a:t>충전시설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5303520"/>
            <a:ext cx="6400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8FA5B8"/>
                </a:solidFill>
                <a:latin typeface="Noto Sans CJK KR"/>
              </a:defRPr>
            </a:pPr>
            <a:r>
              <a:t>사업장별 운항여건 재검토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280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48D4DE"/>
                </a:solidFill>
                <a:latin typeface="Noto Sans CJK KR"/>
              </a:defRPr>
            </a:pPr>
            <a:r>
              <a:t>K-WATER / MARINE STANDARDIZATION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31673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EFF4F8"/>
                </a:solidFill>
                <a:latin typeface="Noto Sans CJK KR"/>
              </a:defRPr>
            </a:pPr>
            <a:r>
              <a:t>전기추진 적용조건을 최적화한다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635240"/>
            <a:ext cx="13167360" cy="10972"/>
          </a:xfrm>
          <a:prstGeom prst="rect">
            <a:avLst/>
          </a:prstGeom>
          <a:solidFill>
            <a:srgbClr val="29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7790688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8FA5B8"/>
                </a:solidFill>
                <a:latin typeface="Noto Sans CJK KR"/>
              </a:defRPr>
            </a:pPr>
            <a:r>
              <a:t>K-WATER  /  5 VESSEL TYPES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67360" y="775411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8FA5B8"/>
                </a:solidFill>
                <a:latin typeface="Noto Sans CJK KR"/>
              </a:defRPr>
            </a:pPr>
            <a: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64008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7600" b="1">
                <a:solidFill>
                  <a:srgbClr val="48D4DE"/>
                </a:solidFill>
                <a:latin typeface="Noto Sans CJK KR"/>
              </a:defRPr>
            </a:pPr>
            <a:r>
              <a:t>20–30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114800"/>
            <a:ext cx="6400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8FA5B8"/>
                </a:solidFill>
                <a:latin typeface="Noto Sans CJK KR"/>
              </a:defRPr>
            </a:pPr>
            <a:r>
              <a:t>kts  /  기존 요구 선속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2560320"/>
            <a:ext cx="64008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7600" b="1">
                <a:solidFill>
                  <a:srgbClr val="48D4DE"/>
                </a:solidFill>
                <a:latin typeface="Noto Sans CJK KR"/>
              </a:defRPr>
            </a:pPr>
            <a:r>
              <a:t>55–185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4114800"/>
            <a:ext cx="6400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8FA5B8"/>
                </a:solidFill>
                <a:latin typeface="Noto Sans CJK KR"/>
              </a:defRPr>
            </a:pPr>
            <a:r>
              <a:t>km  /  기존 요구 항속거리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760720"/>
            <a:ext cx="12801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800" b="0">
                <a:solidFill>
                  <a:srgbClr val="EFF4F8"/>
                </a:solidFill>
                <a:latin typeface="Noto Sans CJK KR"/>
              </a:defRPr>
            </a:pPr>
            <a:r>
              <a:t>선속 최적화 ↓     /     항속거리 최적화 ↓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280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48D4DE"/>
                </a:solidFill>
                <a:latin typeface="Noto Sans CJK KR"/>
              </a:defRPr>
            </a:pPr>
            <a:r>
              <a:t>K-WATER / MARINE STANDARDIZATION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31673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EFF4F8"/>
                </a:solidFill>
                <a:latin typeface="Noto Sans CJK KR"/>
              </a:defRPr>
            </a:pPr>
            <a:r>
              <a:t>운항 에너지에서 배터리 사양까지 산정한다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635240"/>
            <a:ext cx="13167360" cy="10972"/>
          </a:xfrm>
          <a:prstGeom prst="rect">
            <a:avLst/>
          </a:prstGeom>
          <a:solidFill>
            <a:srgbClr val="29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7790688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8FA5B8"/>
                </a:solidFill>
                <a:latin typeface="Noto Sans CJK KR"/>
              </a:defRPr>
            </a:pPr>
            <a:r>
              <a:t>K-WATER  /  5 VESSEL TYPES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67360" y="775411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8FA5B8"/>
                </a:solidFill>
                <a:latin typeface="Noto Sans CJK KR"/>
              </a:defRPr>
            </a:pPr>
            <a: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914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48D4DE"/>
                </a:solidFill>
                <a:latin typeface="Noto Sans CJK KR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560320"/>
            <a:ext cx="57607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EFF4F8"/>
                </a:solidFill>
                <a:latin typeface="Noto Sans CJK KR"/>
              </a:defRPr>
            </a:pPr>
            <a:r>
              <a:t>추진출력 산정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840479"/>
            <a:ext cx="914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48D4DE"/>
                </a:solidFill>
                <a:latin typeface="Noto Sans CJK KR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3840479"/>
            <a:ext cx="57607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EFF4F8"/>
                </a:solidFill>
                <a:latin typeface="Noto Sans CJK KR"/>
              </a:defRPr>
            </a:pPr>
            <a:r>
              <a:t>추진전동기 용량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20640"/>
            <a:ext cx="914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48D4DE"/>
                </a:solidFill>
                <a:latin typeface="Noto Sans CJK KR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5120640"/>
            <a:ext cx="57607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EFF4F8"/>
                </a:solidFill>
                <a:latin typeface="Noto Sans CJK KR"/>
              </a:defRPr>
            </a:pPr>
            <a:r>
              <a:t>운항 에너지 소요량 계산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2560320"/>
            <a:ext cx="914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48D4DE"/>
                </a:solidFill>
                <a:latin typeface="Noto Sans CJK KR"/>
              </a:defRPr>
            </a:pPr>
            <a: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560320"/>
            <a:ext cx="57607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EFF4F8"/>
                </a:solidFill>
                <a:latin typeface="Noto Sans CJK KR"/>
              </a:defRPr>
            </a:pPr>
            <a:r>
              <a:t>배터리 용량 산정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3840479"/>
            <a:ext cx="914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48D4DE"/>
                </a:solidFill>
                <a:latin typeface="Noto Sans CJK KR"/>
              </a:defRPr>
            </a:pPr>
            <a: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3840479"/>
            <a:ext cx="57607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EFF4F8"/>
                </a:solidFill>
                <a:latin typeface="Noto Sans CJK KR"/>
              </a:defRPr>
            </a:pPr>
            <a:r>
              <a:t>충전시간 산정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5120640"/>
            <a:ext cx="914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48D4DE"/>
                </a:solidFill>
                <a:latin typeface="Noto Sans CJK KR"/>
              </a:defRPr>
            </a:pPr>
            <a:r>
              <a:t>06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5120640"/>
            <a:ext cx="57607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EFF4F8"/>
                </a:solidFill>
                <a:latin typeface="Noto Sans CJK KR"/>
              </a:defRPr>
            </a:pPr>
            <a:r>
              <a:t>배터리 중량 및 체적 검토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280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48D4DE"/>
                </a:solidFill>
                <a:latin typeface="Noto Sans CJK KR"/>
              </a:defRPr>
            </a:pPr>
            <a:r>
              <a:t>K-WATER / MARINE STANDARDIZATION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31673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EFF4F8"/>
                </a:solidFill>
                <a:latin typeface="Noto Sans CJK KR"/>
              </a:defRPr>
            </a:pPr>
            <a:r>
              <a:t>현 제원 내 전기추진 적용성을 평가한다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635240"/>
            <a:ext cx="13167360" cy="10972"/>
          </a:xfrm>
          <a:prstGeom prst="rect">
            <a:avLst/>
          </a:prstGeom>
          <a:solidFill>
            <a:srgbClr val="29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7790688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8FA5B8"/>
                </a:solidFill>
                <a:latin typeface="Noto Sans CJK KR"/>
              </a:defRPr>
            </a:pPr>
            <a:r>
              <a:t>K-WATER  /  5 VESSEL TYPES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67360" y="775411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8FA5B8"/>
                </a:solidFill>
                <a:latin typeface="Noto Sans CJK KR"/>
              </a:defRPr>
            </a:pPr>
            <a: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914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48D4DE"/>
                </a:solidFill>
                <a:latin typeface="Noto Sans CJK KR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5603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900" b="0">
                <a:solidFill>
                  <a:srgbClr val="EFF4F8"/>
                </a:solidFill>
                <a:latin typeface="Noto Sans CJK KR"/>
              </a:defRPr>
            </a:pPr>
            <a:r>
              <a:t>배터리 탑재공간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310127"/>
            <a:ext cx="13167360" cy="10972"/>
          </a:xfrm>
          <a:prstGeom prst="rect">
            <a:avLst/>
          </a:prstGeom>
          <a:solidFill>
            <a:srgbClr val="29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593591"/>
            <a:ext cx="914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48D4DE"/>
                </a:solidFill>
                <a:latin typeface="Noto Sans CJK KR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593591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900" b="0">
                <a:solidFill>
                  <a:srgbClr val="EFF4F8"/>
                </a:solidFill>
                <a:latin typeface="Noto Sans CJK KR"/>
              </a:defRPr>
            </a:pPr>
            <a:r>
              <a:t>전기추진 선박기준 검토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343400"/>
            <a:ext cx="13167360" cy="10972"/>
          </a:xfrm>
          <a:prstGeom prst="rect">
            <a:avLst/>
          </a:prstGeom>
          <a:solidFill>
            <a:srgbClr val="29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626864"/>
            <a:ext cx="914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48D4DE"/>
                </a:solidFill>
                <a:latin typeface="Noto Sans CJK KR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626864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900" b="0">
                <a:solidFill>
                  <a:srgbClr val="EFF4F8"/>
                </a:solidFill>
                <a:latin typeface="Noto Sans CJK KR"/>
              </a:defRPr>
            </a:pPr>
            <a:r>
              <a:t>중량 및 복원성 검토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376672"/>
            <a:ext cx="13167360" cy="10972"/>
          </a:xfrm>
          <a:prstGeom prst="rect">
            <a:avLst/>
          </a:prstGeom>
          <a:solidFill>
            <a:srgbClr val="29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660136"/>
            <a:ext cx="914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48D4DE"/>
                </a:solidFill>
                <a:latin typeface="Noto Sans CJK KR"/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5660136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900" b="0">
                <a:solidFill>
                  <a:srgbClr val="EFF4F8"/>
                </a:solidFill>
                <a:latin typeface="Noto Sans CJK KR"/>
              </a:defRPr>
            </a:pPr>
            <a:r>
              <a:t>일반배치 검토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6409944"/>
            <a:ext cx="13167360" cy="10972"/>
          </a:xfrm>
          <a:prstGeom prst="rect">
            <a:avLst/>
          </a:prstGeom>
          <a:solidFill>
            <a:srgbClr val="29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280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48D4DE"/>
                </a:solidFill>
                <a:latin typeface="Noto Sans CJK KR"/>
              </a:defRPr>
            </a:pPr>
            <a:r>
              <a:t>K-WATER / MARINE STANDARDIZATION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31673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EFF4F8"/>
                </a:solidFill>
                <a:latin typeface="Noto Sans CJK KR"/>
              </a:defRPr>
            </a:pPr>
            <a:r>
              <a:t>전기추진을 우선 검토한다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635240"/>
            <a:ext cx="13167360" cy="10972"/>
          </a:xfrm>
          <a:prstGeom prst="rect">
            <a:avLst/>
          </a:prstGeom>
          <a:solidFill>
            <a:srgbClr val="29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7790688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8FA5B8"/>
                </a:solidFill>
                <a:latin typeface="Noto Sans CJK KR"/>
              </a:defRPr>
            </a:pPr>
            <a:r>
              <a:t>K-WATER  /  5 VESSEL TYPES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67360" y="775411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8FA5B8"/>
                </a:solidFill>
                <a:latin typeface="Noto Sans CJK KR"/>
              </a:defRPr>
            </a:pPr>
            <a: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48D4DE"/>
                </a:solidFill>
                <a:latin typeface="Noto Sans CJK KR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63240"/>
            <a:ext cx="2971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EFF4F8"/>
                </a:solidFill>
                <a:latin typeface="Noto Sans CJK KR"/>
              </a:defRPr>
            </a:pPr>
            <a:r>
              <a:t>운항여건</a:t>
            </a:r>
          </a:p>
          <a:p>
            <a:pPr>
              <a:spcAft>
                <a:spcPts val="1000"/>
              </a:spcAft>
              <a:defRPr sz="2300" b="0">
                <a:solidFill>
                  <a:srgbClr val="EFF4F8"/>
                </a:solidFill>
                <a:latin typeface="Noto Sans CJK KR"/>
              </a:defRPr>
            </a:pPr>
            <a:r>
              <a:t>확인 및 검토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39" y="310896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600" b="0">
                <a:solidFill>
                  <a:srgbClr val="48D4DE"/>
                </a:solidFill>
                <a:latin typeface="Noto Sans CJK KR"/>
              </a:defRPr>
            </a:pPr>
            <a: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9080" y="246888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48D4DE"/>
                </a:solidFill>
                <a:latin typeface="Noto Sans CJK KR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9080" y="3063240"/>
            <a:ext cx="2971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EFF4F8"/>
                </a:solidFill>
                <a:latin typeface="Noto Sans CJK KR"/>
              </a:defRPr>
            </a:pPr>
            <a:r>
              <a:t>요구성능</a:t>
            </a:r>
          </a:p>
          <a:p>
            <a:pPr>
              <a:spcAft>
                <a:spcPts val="1000"/>
              </a:spcAft>
              <a:defRPr sz="2300" b="0">
                <a:solidFill>
                  <a:srgbClr val="EFF4F8"/>
                </a:solidFill>
                <a:latin typeface="Noto Sans CJK KR"/>
              </a:defRPr>
            </a:pPr>
            <a:r>
              <a:t>재정립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310896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600" b="0">
                <a:solidFill>
                  <a:srgbClr val="48D4DE"/>
                </a:solidFill>
                <a:latin typeface="Noto Sans CJK KR"/>
              </a:defRPr>
            </a:pPr>
            <a: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48D4DE"/>
                </a:solidFill>
                <a:latin typeface="Noto Sans CJK KR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3063240"/>
            <a:ext cx="2971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EFF4F8"/>
                </a:solidFill>
                <a:latin typeface="Noto Sans CJK KR"/>
              </a:defRPr>
            </a:pPr>
            <a:r>
              <a:t>전기추진 시스템</a:t>
            </a:r>
          </a:p>
          <a:p>
            <a:pPr>
              <a:spcAft>
                <a:spcPts val="1000"/>
              </a:spcAft>
              <a:defRPr sz="2300" b="0">
                <a:solidFill>
                  <a:srgbClr val="EFF4F8"/>
                </a:solidFill>
                <a:latin typeface="Noto Sans CJK KR"/>
              </a:defRPr>
            </a:pPr>
            <a:r>
              <a:t>사양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95559" y="310896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600" b="0">
                <a:solidFill>
                  <a:srgbClr val="48D4DE"/>
                </a:solidFill>
                <a:latin typeface="Noto Sans CJK KR"/>
              </a:defRPr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44200" y="246888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48D4DE"/>
                </a:solidFill>
                <a:latin typeface="Noto Sans CJK KR"/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44200" y="3063240"/>
            <a:ext cx="2971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EFF4F8"/>
                </a:solidFill>
                <a:latin typeface="Noto Sans CJK KR"/>
              </a:defRPr>
            </a:pPr>
            <a:r>
              <a:t>현재 표준선박</a:t>
            </a:r>
          </a:p>
          <a:p>
            <a:pPr>
              <a:spcAft>
                <a:spcPts val="1000"/>
              </a:spcAft>
              <a:defRPr sz="2300" b="0">
                <a:solidFill>
                  <a:srgbClr val="EFF4F8"/>
                </a:solidFill>
                <a:latin typeface="Noto Sans CJK KR"/>
              </a:defRPr>
            </a:pPr>
            <a:r>
              <a:t>제원 내 적용성 검토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663440"/>
            <a:ext cx="13167360" cy="13716"/>
          </a:xfrm>
          <a:prstGeom prst="rect">
            <a:avLst/>
          </a:prstGeom>
          <a:solidFill>
            <a:srgbClr val="29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02920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8FA5B8"/>
                </a:solidFill>
                <a:latin typeface="Noto Sans CJK KR"/>
              </a:defRPr>
            </a:pPr>
            <a:r>
              <a:t>적용가능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623560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48D4DE"/>
                </a:solidFill>
                <a:latin typeface="Noto Sans CJK KR"/>
              </a:defRPr>
            </a:pPr>
            <a:r>
              <a:t>전기 추진방식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502920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8FA5B8"/>
                </a:solidFill>
                <a:latin typeface="Noto Sans CJK KR"/>
              </a:defRPr>
            </a:pPr>
            <a:r>
              <a:t>적용불가능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5577840"/>
            <a:ext cx="6400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EFF4F8"/>
                </a:solidFill>
                <a:latin typeface="Noto Sans CJK KR"/>
              </a:defRPr>
            </a:pPr>
            <a:r>
              <a:t>주요제원·요구성능 최적화 → 재검토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6492240"/>
            <a:ext cx="6400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48D4DE"/>
                </a:solidFill>
                <a:latin typeface="Noto Sans CJK KR"/>
              </a:defRPr>
            </a:pPr>
            <a:r>
              <a:t>최적화 후에도 불가능 → 하이브리드 추진방식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280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48D4DE"/>
                </a:solidFill>
                <a:latin typeface="Noto Sans CJK KR"/>
              </a:defRPr>
            </a:pPr>
            <a:r>
              <a:t>K-WATER / MARINE STANDARDIZATION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31673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EFF4F8"/>
                </a:solidFill>
                <a:latin typeface="Noto Sans CJK KR"/>
              </a:defRPr>
            </a:pPr>
            <a:r>
              <a:t>친환경 표준규격도 주요제원을 최대한 유지한다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635240"/>
            <a:ext cx="13167360" cy="10972"/>
          </a:xfrm>
          <a:prstGeom prst="rect">
            <a:avLst/>
          </a:prstGeom>
          <a:solidFill>
            <a:srgbClr val="29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7790688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8FA5B8"/>
                </a:solidFill>
                <a:latin typeface="Noto Sans CJK KR"/>
              </a:defRPr>
            </a:pPr>
            <a:r>
              <a:t>K-WATER  /  5 VESSEL TYPES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67360" y="775411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8FA5B8"/>
                </a:solidFill>
                <a:latin typeface="Noto Sans CJK KR"/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46888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8D4DE"/>
                </a:solidFill>
                <a:latin typeface="Noto Sans CJK KR"/>
              </a:defRPr>
            </a:pPr>
            <a:r>
              <a:t>구분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56432" y="2468880"/>
            <a:ext cx="201167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8D4DE"/>
                </a:solidFill>
                <a:latin typeface="Noto Sans CJK KR"/>
              </a:defRPr>
            </a:pPr>
            <a:r>
              <a:t>관리선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59552" y="2468880"/>
            <a:ext cx="201167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8D4DE"/>
                </a:solidFill>
                <a:latin typeface="Noto Sans CJK KR"/>
              </a:defRPr>
            </a:pPr>
            <a:r>
              <a:t>관리선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62672" y="2468880"/>
            <a:ext cx="201167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8D4DE"/>
                </a:solidFill>
                <a:latin typeface="Noto Sans CJK KR"/>
              </a:defRPr>
            </a:pPr>
            <a:r>
              <a:t>순시선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65792" y="2468880"/>
            <a:ext cx="201167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8D4DE"/>
                </a:solidFill>
                <a:latin typeface="Noto Sans CJK KR"/>
              </a:defRPr>
            </a:pPr>
            <a:r>
              <a:t>순시선 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68912" y="2468880"/>
            <a:ext cx="201167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8D4DE"/>
                </a:solidFill>
                <a:latin typeface="Noto Sans CJK KR"/>
              </a:defRPr>
            </a:pPr>
            <a:r>
              <a:t>작업선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953512"/>
            <a:ext cx="13167360" cy="9144"/>
          </a:xfrm>
          <a:prstGeom prst="rect">
            <a:avLst/>
          </a:prstGeom>
          <a:solidFill>
            <a:srgbClr val="29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035808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8FA5B8"/>
                </a:solidFill>
                <a:latin typeface="Noto Sans CJK KR"/>
              </a:defRPr>
            </a:pPr>
            <a:r>
              <a:t>총톤수 [톤]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6432" y="3035808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EFF4F8"/>
                </a:solidFill>
                <a:latin typeface="Noto Sans CJK KR"/>
              </a:defRPr>
            </a:pPr>
            <a:r>
              <a:t>19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59552" y="3035808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EFF4F8"/>
                </a:solidFill>
                <a:latin typeface="Noto Sans CJK KR"/>
              </a:defRPr>
            </a:pPr>
            <a:r>
              <a:t>9.77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62672" y="3035808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EFF4F8"/>
                </a:solidFill>
                <a:latin typeface="Noto Sans CJK KR"/>
              </a:defRPr>
            </a:pPr>
            <a:r>
              <a:t>5.13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65792" y="3035808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EFF4F8"/>
                </a:solidFill>
                <a:latin typeface="Noto Sans CJK KR"/>
              </a:defRPr>
            </a:pPr>
            <a:r>
              <a:t>2.98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68912" y="3035808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EFF4F8"/>
                </a:solidFill>
                <a:latin typeface="Noto Sans CJK KR"/>
              </a:defRPr>
            </a:pPr>
            <a:r>
              <a:t>3.71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493008"/>
            <a:ext cx="13167360" cy="9144"/>
          </a:xfrm>
          <a:prstGeom prst="rect">
            <a:avLst/>
          </a:prstGeom>
          <a:solidFill>
            <a:srgbClr val="29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3575304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8FA5B8"/>
                </a:solidFill>
                <a:latin typeface="Noto Sans CJK KR"/>
              </a:defRPr>
            </a:pPr>
            <a:r>
              <a:t>전장 [m]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3575304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EFF4F8"/>
                </a:solidFill>
                <a:latin typeface="Noto Sans CJK KR"/>
              </a:defRPr>
            </a:pPr>
            <a:r>
              <a:t>17.00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59552" y="3575304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EFF4F8"/>
                </a:solidFill>
                <a:latin typeface="Noto Sans CJK KR"/>
              </a:defRPr>
            </a:pPr>
            <a:r>
              <a:t>14.15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62672" y="3575304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EFF4F8"/>
                </a:solidFill>
                <a:latin typeface="Noto Sans CJK KR"/>
              </a:defRPr>
            </a:pPr>
            <a:r>
              <a:t>10.04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65792" y="3575304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EFF4F8"/>
                </a:solidFill>
                <a:latin typeface="Noto Sans CJK KR"/>
              </a:defRPr>
            </a:pPr>
            <a:r>
              <a:t>7.99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68912" y="3575304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EFF4F8"/>
                </a:solidFill>
                <a:latin typeface="Noto Sans CJK KR"/>
              </a:defRPr>
            </a:pPr>
            <a:r>
              <a:t>9.1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4032504"/>
            <a:ext cx="13167360" cy="9144"/>
          </a:xfrm>
          <a:prstGeom prst="rect">
            <a:avLst/>
          </a:prstGeom>
          <a:solidFill>
            <a:srgbClr val="29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411480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8FA5B8"/>
                </a:solidFill>
                <a:latin typeface="Noto Sans CJK KR"/>
              </a:defRPr>
            </a:pPr>
            <a:r>
              <a:t>형폭 [m]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56432" y="4114800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EFF4F8"/>
                </a:solidFill>
                <a:latin typeface="Noto Sans CJK KR"/>
              </a:defRPr>
            </a:pPr>
            <a:r>
              <a:t>6.30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59552" y="4114800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EFF4F8"/>
                </a:solidFill>
                <a:latin typeface="Noto Sans CJK KR"/>
              </a:defRPr>
            </a:pPr>
            <a:r>
              <a:t>3.30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62672" y="4114800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EFF4F8"/>
                </a:solidFill>
                <a:latin typeface="Noto Sans CJK KR"/>
              </a:defRPr>
            </a:pPr>
            <a:r>
              <a:t>2.80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65792" y="4114800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EFF4F8"/>
                </a:solidFill>
                <a:latin typeface="Noto Sans CJK KR"/>
              </a:defRPr>
            </a:pPr>
            <a:r>
              <a:t>2.30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68912" y="4114800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EFF4F8"/>
                </a:solidFill>
                <a:latin typeface="Noto Sans CJK KR"/>
              </a:defRPr>
            </a:pPr>
            <a:r>
              <a:t>3.00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4572000"/>
            <a:ext cx="13167360" cy="9144"/>
          </a:xfrm>
          <a:prstGeom prst="rect">
            <a:avLst/>
          </a:prstGeom>
          <a:solidFill>
            <a:srgbClr val="29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2" y="4654296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8FA5B8"/>
                </a:solidFill>
                <a:latin typeface="Noto Sans CJK KR"/>
              </a:defRPr>
            </a:pPr>
            <a:r>
              <a:t>형심 [m]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56432" y="4654296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EFF4F8"/>
                </a:solidFill>
                <a:latin typeface="Noto Sans CJK KR"/>
              </a:defRPr>
            </a:pPr>
            <a:r>
              <a:t>1.50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59552" y="4654296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EFF4F8"/>
                </a:solidFill>
                <a:latin typeface="Noto Sans CJK KR"/>
              </a:defRPr>
            </a:pPr>
            <a:r>
              <a:t>1.00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62672" y="4654296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EFF4F8"/>
                </a:solidFill>
                <a:latin typeface="Noto Sans CJK KR"/>
              </a:defRPr>
            </a:pPr>
            <a:r>
              <a:t>0.80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65792" y="4654296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EFF4F8"/>
                </a:solidFill>
                <a:latin typeface="Noto Sans CJK KR"/>
              </a:defRPr>
            </a:pPr>
            <a:r>
              <a:t>0.70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868912" y="4654296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EFF4F8"/>
                </a:solidFill>
                <a:latin typeface="Noto Sans CJK KR"/>
              </a:defRPr>
            </a:pPr>
            <a:r>
              <a:t>0.70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" y="5111496"/>
            <a:ext cx="13167360" cy="9144"/>
          </a:xfrm>
          <a:prstGeom prst="rect">
            <a:avLst/>
          </a:prstGeom>
          <a:solidFill>
            <a:srgbClr val="29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4672" y="5193792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8FA5B8"/>
                </a:solidFill>
                <a:latin typeface="Noto Sans CJK KR"/>
              </a:defRPr>
            </a:pPr>
            <a:r>
              <a:t>흘수 [m]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56432" y="5193792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EFF4F8"/>
                </a:solidFill>
                <a:latin typeface="Noto Sans CJK KR"/>
              </a:defRPr>
            </a:pPr>
            <a:r>
              <a:t>0.80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59552" y="5193792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EFF4F8"/>
                </a:solidFill>
                <a:latin typeface="Noto Sans CJK KR"/>
              </a:defRPr>
            </a:pPr>
            <a:r>
              <a:t>0.70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62672" y="5193792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EFF4F8"/>
                </a:solidFill>
                <a:latin typeface="Noto Sans CJK KR"/>
              </a:defRPr>
            </a:pPr>
            <a:r>
              <a:t>0.55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65792" y="5193792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EFF4F8"/>
                </a:solidFill>
                <a:latin typeface="Noto Sans CJK KR"/>
              </a:defRPr>
            </a:pPr>
            <a:r>
              <a:t>0.50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868912" y="5193792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EFF4F8"/>
                </a:solidFill>
                <a:latin typeface="Noto Sans CJK KR"/>
              </a:defRPr>
            </a:pPr>
            <a:r>
              <a:t>0.45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31520" y="5650992"/>
            <a:ext cx="13167360" cy="9144"/>
          </a:xfrm>
          <a:prstGeom prst="rect">
            <a:avLst/>
          </a:prstGeom>
          <a:solidFill>
            <a:srgbClr val="29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4672" y="5733288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8FA5B8"/>
                </a:solidFill>
                <a:latin typeface="Noto Sans CJK KR"/>
              </a:defRPr>
            </a:pPr>
            <a:r>
              <a:t>승선인원 [인]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456432" y="5733288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EFF4F8"/>
                </a:solidFill>
                <a:latin typeface="Noto Sans CJK KR"/>
              </a:defRPr>
            </a:pPr>
            <a:r>
              <a:t>13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559552" y="5733288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EFF4F8"/>
                </a:solidFill>
                <a:latin typeface="Noto Sans CJK KR"/>
              </a:defRPr>
            </a:pPr>
            <a:r>
              <a:t>13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62672" y="5733288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EFF4F8"/>
                </a:solidFill>
                <a:latin typeface="Noto Sans CJK KR"/>
              </a:defRPr>
            </a:pPr>
            <a:r>
              <a:t>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765792" y="5733288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EFF4F8"/>
                </a:solidFill>
                <a:latin typeface="Noto Sans CJK KR"/>
              </a:defRPr>
            </a:pPr>
            <a:r>
              <a:t>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868912" y="5733288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EFF4F8"/>
                </a:solidFill>
                <a:latin typeface="Noto Sans CJK KR"/>
              </a:defRPr>
            </a:pPr>
            <a:r>
              <a:t>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2960" y="6812280"/>
            <a:ext cx="12801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48D4DE"/>
                </a:solidFill>
                <a:latin typeface="Noto Sans CJK KR"/>
              </a:defRPr>
            </a:pPr>
            <a:r>
              <a:t>선체재질  /  알루미늄 합금 (AL alloy)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280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48D4DE"/>
                </a:solidFill>
                <a:latin typeface="Noto Sans CJK KR"/>
              </a:defRPr>
            </a:pPr>
            <a:r>
              <a:t>K-WATER / MARINE STANDARDIZATION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31673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EFF4F8"/>
                </a:solidFill>
                <a:latin typeface="Noto Sans CJK KR"/>
              </a:defRPr>
            </a:pPr>
            <a:r>
              <a:t>선종별 친환경 추진방식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635240"/>
            <a:ext cx="13167360" cy="10972"/>
          </a:xfrm>
          <a:prstGeom prst="rect">
            <a:avLst/>
          </a:prstGeom>
          <a:solidFill>
            <a:srgbClr val="29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7790688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8FA5B8"/>
                </a:solidFill>
                <a:latin typeface="Noto Sans CJK KR"/>
              </a:defRPr>
            </a:pPr>
            <a:r>
              <a:t>K-WATER  /  5 VESSEL TYPES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67360" y="775411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8FA5B8"/>
                </a:solidFill>
                <a:latin typeface="Noto Sans CJK KR"/>
              </a:defRPr>
            </a:pPr>
            <a: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EFF4F8"/>
                </a:solidFill>
                <a:latin typeface="Noto Sans CJK KR"/>
              </a:defRPr>
            </a:pPr>
            <a:r>
              <a:t>관리선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24688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500" b="1">
                <a:solidFill>
                  <a:srgbClr val="48D4DE"/>
                </a:solidFill>
                <a:latin typeface="Noto Sans CJK KR"/>
              </a:defRPr>
            </a:pPr>
            <a:r>
              <a:t>전기추진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01568" y="2651760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EFF4F8"/>
                </a:solidFill>
                <a:latin typeface="Noto Sans CJK KR"/>
              </a:defRPr>
            </a:pPr>
            <a:r>
              <a:t>관리선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01568" y="3657600"/>
            <a:ext cx="24688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500" b="1">
                <a:solidFill>
                  <a:srgbClr val="48D4DE"/>
                </a:solidFill>
                <a:latin typeface="Noto Sans CJK KR"/>
              </a:defRPr>
            </a:pPr>
            <a:r>
              <a:t>하이브리드</a:t>
            </a:r>
          </a:p>
          <a:p>
            <a:pPr>
              <a:spcAft>
                <a:spcPts val="1000"/>
              </a:spcAft>
              <a:defRPr sz="2500" b="1">
                <a:solidFill>
                  <a:srgbClr val="48D4DE"/>
                </a:solidFill>
                <a:latin typeface="Noto Sans CJK KR"/>
              </a:defRPr>
            </a:pPr>
            <a:r>
              <a:t>추진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71616" y="2651760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EFF4F8"/>
                </a:solidFill>
                <a:latin typeface="Noto Sans CJK KR"/>
              </a:defRPr>
            </a:pPr>
            <a:r>
              <a:t>순시선 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71616" y="3657600"/>
            <a:ext cx="24688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500" b="1">
                <a:solidFill>
                  <a:srgbClr val="48D4DE"/>
                </a:solidFill>
                <a:latin typeface="Noto Sans CJK KR"/>
              </a:defRPr>
            </a:pPr>
            <a:r>
              <a:t>하이브리드</a:t>
            </a:r>
          </a:p>
          <a:p>
            <a:pPr>
              <a:spcAft>
                <a:spcPts val="1000"/>
              </a:spcAft>
              <a:defRPr sz="2500" b="1">
                <a:solidFill>
                  <a:srgbClr val="48D4DE"/>
                </a:solidFill>
                <a:latin typeface="Noto Sans CJK KR"/>
              </a:defRPr>
            </a:pPr>
            <a:r>
              <a:t>추진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1664" y="2651760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EFF4F8"/>
                </a:solidFill>
                <a:latin typeface="Noto Sans CJK KR"/>
              </a:defRPr>
            </a:pPr>
            <a:r>
              <a:t>순시선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41664" y="3657600"/>
            <a:ext cx="24688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500" b="1">
                <a:solidFill>
                  <a:srgbClr val="48D4DE"/>
                </a:solidFill>
                <a:latin typeface="Noto Sans CJK KR"/>
              </a:defRPr>
            </a:pPr>
            <a:r>
              <a:t>전기추진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11712" y="2651760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EFF4F8"/>
                </a:solidFill>
                <a:latin typeface="Noto Sans CJK KR"/>
              </a:defRPr>
            </a:pPr>
            <a:r>
              <a:t>작업선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11712" y="3657600"/>
            <a:ext cx="24688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500" b="1">
                <a:solidFill>
                  <a:srgbClr val="48D4DE"/>
                </a:solidFill>
                <a:latin typeface="Noto Sans CJK KR"/>
              </a:defRPr>
            </a:pPr>
            <a:r>
              <a:t>전기추진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943600"/>
            <a:ext cx="13167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EFF4F8"/>
                </a:solidFill>
                <a:latin typeface="Noto Sans CJK KR"/>
              </a:defRPr>
            </a:pPr>
            <a:r>
              <a:t>추진성능·시스템 사양은 운항여건과 추진체계를 고려해 최적화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812280"/>
            <a:ext cx="13167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8FA5B8"/>
                </a:solidFill>
                <a:latin typeface="Noto Sans CJK KR"/>
              </a:defRPr>
            </a:pPr>
            <a:r>
              <a:t>원문 공란: 주기관 출력 / 추진기 형식 / 최대선속 / 운항선속 / 항속거리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280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48D4DE"/>
                </a:solidFill>
                <a:latin typeface="Noto Sans CJK KR"/>
              </a:defRPr>
            </a:pPr>
            <a:r>
              <a:t>K-WATER / MARINE STANDARDIZATION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31673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EFF4F8"/>
                </a:solidFill>
                <a:latin typeface="Noto Sans CJK KR"/>
              </a:defRPr>
            </a:pPr>
            <a:r>
              <a:t>표준규격 도출의 검토 범위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635240"/>
            <a:ext cx="13167360" cy="10972"/>
          </a:xfrm>
          <a:prstGeom prst="rect">
            <a:avLst/>
          </a:prstGeom>
          <a:solidFill>
            <a:srgbClr val="29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7790688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8FA5B8"/>
                </a:solidFill>
                <a:latin typeface="Noto Sans CJK KR"/>
              </a:defRPr>
            </a:pPr>
            <a:r>
              <a:t>K-WATER  /  5 VESSEL TYPES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67360" y="775411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8FA5B8"/>
                </a:solidFill>
                <a:latin typeface="Noto Sans CJK KR"/>
              </a:defRPr>
            </a:pPr>
            <a: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31720"/>
            <a:ext cx="42976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48D4DE"/>
                </a:solidFill>
                <a:latin typeface="Noto Sans CJK KR"/>
              </a:defRPr>
            </a:pPr>
            <a:r>
              <a:t>운항여건 및 요구성능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0" y="2331720"/>
            <a:ext cx="841248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EFF4F8"/>
                </a:solidFill>
                <a:latin typeface="Noto Sans CJK KR"/>
              </a:defRPr>
            </a:pPr>
            <a:r>
              <a:t>사업장별 운항거리·운항시간·운항속력 등 기존 조사자료 활용</a:t>
            </a:r>
          </a:p>
          <a:p>
            <a:pPr>
              <a:spcAft>
                <a:spcPts val="1000"/>
              </a:spcAft>
              <a:defRPr sz="1900" b="0">
                <a:solidFill>
                  <a:srgbClr val="EFF4F8"/>
                </a:solidFill>
                <a:latin typeface="Noto Sans CJK KR"/>
              </a:defRPr>
            </a:pPr>
            <a:r>
              <a:t>선종별 요구성능 검토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20439"/>
            <a:ext cx="42976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48D4DE"/>
                </a:solidFill>
                <a:latin typeface="Noto Sans CJK KR"/>
              </a:defRPr>
            </a:pPr>
            <a:r>
              <a:t>주요제원 및 요구성능 적정성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60" y="3520439"/>
            <a:ext cx="841248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EFF4F8"/>
                </a:solidFill>
                <a:latin typeface="Noto Sans CJK KR"/>
              </a:defRPr>
            </a:pPr>
            <a:r>
              <a:t>기존 표준선박 전장·형폭·형심 등 검토</a:t>
            </a:r>
          </a:p>
          <a:p>
            <a:pPr>
              <a:spcAft>
                <a:spcPts val="1000"/>
              </a:spcAft>
              <a:defRPr sz="1900" b="0">
                <a:solidFill>
                  <a:srgbClr val="EFF4F8"/>
                </a:solidFill>
                <a:latin typeface="Noto Sans CJK KR"/>
              </a:defRPr>
            </a:pPr>
            <a:r>
              <a:t>선속·항속거리·승선인원 등 적정성 검토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709160"/>
            <a:ext cx="42976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48D4DE"/>
                </a:solidFill>
                <a:latin typeface="Noto Sans CJK KR"/>
              </a:defRPr>
            </a:pPr>
            <a:r>
              <a:t>전기추진 시스템 사양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4709160"/>
            <a:ext cx="841248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EFF4F8"/>
                </a:solidFill>
                <a:latin typeface="Noto Sans CJK KR"/>
              </a:defRPr>
            </a:pPr>
            <a:r>
              <a:t>선종별 요구성능을 충족하는 추진전동기·배터리 용량·추진기 검토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897880"/>
            <a:ext cx="42976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48D4DE"/>
                </a:solidFill>
                <a:latin typeface="Noto Sans CJK KR"/>
              </a:defRPr>
            </a:pPr>
            <a:r>
              <a:t>최적화 및 추진방식 결정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5897880"/>
            <a:ext cx="841248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EFF4F8"/>
                </a:solidFill>
                <a:latin typeface="Noto Sans CJK KR"/>
              </a:defRPr>
            </a:pPr>
            <a:r>
              <a:t>배터리 탑재공간·중량·요구성능을 고려한 주요제원 최적화</a:t>
            </a:r>
          </a:p>
          <a:p>
            <a:pPr>
              <a:spcAft>
                <a:spcPts val="1000"/>
              </a:spcAft>
              <a:defRPr sz="1900" b="0">
                <a:solidFill>
                  <a:srgbClr val="EFF4F8"/>
                </a:solidFill>
                <a:latin typeface="Noto Sans CJK KR"/>
              </a:defRPr>
            </a:pPr>
            <a:r>
              <a:t>전기추진 적용성 검토 / 적용 곤란 시 하이브리드 추진방식 검토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280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48D4DE"/>
                </a:solidFill>
                <a:latin typeface="Noto Sans CJK KR"/>
              </a:defRPr>
            </a:pPr>
            <a:r>
              <a:t>APPENDIX / SOURCE DOCUMENT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31673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EFF4F8"/>
                </a:solidFill>
                <a:latin typeface="Noto Sans CJK KR"/>
              </a:defRPr>
            </a:pPr>
            <a:r>
              <a:t>원문 보존 / 12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635240"/>
            <a:ext cx="13167360" cy="10972"/>
          </a:xfrm>
          <a:prstGeom prst="rect">
            <a:avLst/>
          </a:prstGeom>
          <a:solidFill>
            <a:srgbClr val="29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7790688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8FA5B8"/>
                </a:solidFill>
                <a:latin typeface="Noto Sans CJK KR"/>
              </a:defRPr>
            </a:pPr>
            <a:r>
              <a:t>K-WATER  /  5 VESSEL TYPES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67360" y="775411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8FA5B8"/>
                </a:solidFill>
                <a:latin typeface="Noto Sans CJK KR"/>
              </a:defRPr>
            </a:pPr>
            <a:r>
              <a:t>13</a:t>
            </a:r>
          </a:p>
        </p:txBody>
      </p:sp>
      <p:pic>
        <p:nvPicPr>
          <p:cNvPr id="7" name="Picture 6" descr="original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4899" y="1965960"/>
            <a:ext cx="7760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280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48D4DE"/>
                </a:solidFill>
                <a:latin typeface="Noto Sans CJK KR"/>
              </a:defRPr>
            </a:pPr>
            <a:r>
              <a:t>APPENDIX / SOURCE DOCUMENT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31673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EFF4F8"/>
                </a:solidFill>
                <a:latin typeface="Noto Sans CJK KR"/>
              </a:defRPr>
            </a:pPr>
            <a:r>
              <a:t>원문 보존 / 13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635240"/>
            <a:ext cx="13167360" cy="10972"/>
          </a:xfrm>
          <a:prstGeom prst="rect">
            <a:avLst/>
          </a:prstGeom>
          <a:solidFill>
            <a:srgbClr val="29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7790688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8FA5B8"/>
                </a:solidFill>
                <a:latin typeface="Noto Sans CJK KR"/>
              </a:defRPr>
            </a:pPr>
            <a:r>
              <a:t>K-WATER  /  5 VESSEL TYPES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67360" y="775411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8FA5B8"/>
                </a:solidFill>
                <a:latin typeface="Noto Sans CJK KR"/>
              </a:defRPr>
            </a:pPr>
            <a:r>
              <a:t>14</a:t>
            </a:r>
          </a:p>
        </p:txBody>
      </p:sp>
      <p:pic>
        <p:nvPicPr>
          <p:cNvPr id="7" name="Picture 6" descr="original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4899" y="1965960"/>
            <a:ext cx="7760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280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48D4DE"/>
                </a:solidFill>
                <a:latin typeface="Noto Sans CJK KR"/>
              </a:defRPr>
            </a:pPr>
            <a:r>
              <a:t>APPENDIX / SOURCE DOCUMENT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31673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EFF4F8"/>
                </a:solidFill>
                <a:latin typeface="Noto Sans CJK KR"/>
              </a:defRPr>
            </a:pPr>
            <a:r>
              <a:t>원문 보존 / 14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635240"/>
            <a:ext cx="13167360" cy="10972"/>
          </a:xfrm>
          <a:prstGeom prst="rect">
            <a:avLst/>
          </a:prstGeom>
          <a:solidFill>
            <a:srgbClr val="29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7790688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8FA5B8"/>
                </a:solidFill>
                <a:latin typeface="Noto Sans CJK KR"/>
              </a:defRPr>
            </a:pPr>
            <a:r>
              <a:t>K-WATER  /  5 VESSEL TYPES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67360" y="775411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8FA5B8"/>
                </a:solidFill>
                <a:latin typeface="Noto Sans CJK KR"/>
              </a:defRPr>
            </a:pPr>
            <a:r>
              <a:t>15</a:t>
            </a:r>
          </a:p>
        </p:txBody>
      </p:sp>
      <p:pic>
        <p:nvPicPr>
          <p:cNvPr id="7" name="Picture 6" descr="original-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4899" y="1965960"/>
            <a:ext cx="7760600" cy="5486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K-water | Marine Technology · 선박 표준화 5종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