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1–2페이지 기반. 표지의 선박은 imagegen 생성 컨셉 이미지이며 실제 납품 실적 사진이 아님.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2페이지의 3개 핵심 역량. 수치는 회사 자료 기준이며 수행 범위·기준일 별도 확인 필요.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2페이지 전체 핵심 기능. 군용 버전의 50+ knot, AI, autonomous, silent mission 문구는 회사 자료에 제시된 역량이며 아래 표준선박의 보장 성능이 아님. AI 통합 전기 시스템: Mission Electronics, Mission Awareness, Autonomous Systems. 상태 구분 Critical / Important / Standard / Warning. Rapid Response Mode Control: Day Standby / Day Response / Night Standby / Night Response.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회사 PDF 1페이지. 인물 경력 세부는 발표자 노트에 보존. 한글 성명은 확인되지 않아 원문 영문 표기 사용. CEO: 18+ years special mission vessels, SI, QC/QA; government vessel design and delivery; partnerships and business development. Youngchan Hong: 18+ years shipbuilding PM, class, QC/QA; government vessel lead engineer; global partner technical lead. James Han: 20+ years global naval PM; marine engineering and special mission vessels; naval design collaboration. Jongho Kim: 18+ years marine electrical systems and production; certified electrical/energy systems specialist; naval power integration. Juhwan Kim: 20+ years corporate management; professor finance and marine insurance; strategy, finance, program management. Sangeon Park: software development, PM and testing; operations/business support; SCM and enterprise systems. Michael Park: global operations/project delivery; supply chain/B2B; NZ licensed marine construction PM. John Kecsmar: 30+ years high speed craft/naval programs; UK MCA high speed craft advisory group; CEng, RINA and Lloyds tech committee. Gerhard Kutt: 30+ years maritime power/mission systems; government/defense technical advisory; high speed craft and advanced propulsion. Lee Soonhyung: national electrical/energy authority; chair of national committees; power systems and ESS certification advisory.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선박 표준화 자료 12페이지. 회사의 수행 실적으로 제시하지 않고 참고 기술 검토안으로 소개.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12페이지 및 14페이지: 주요제원 전체. 14페이지에서도 같은 값의 유지 원칙을 제시.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12페이지 전체 추진·성능 표. 전환 후 성능이 아닌 기존 기준.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운항여건 재검토 및 요구성능 재정립. 20–30 kts는 요구성능 도식 기준이며 기존 운항선속 15–25 kts와 구분.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전기추진 시스템 사양 검토 전체 6개 항목. 장비 이미지가 있을 경우 AI 생성 컨셉이며 제품 사양의 증거가 아님.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선종별 현 제원 내 적용성 평가 전체 4개 항목.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13페이지 전체 선정 흐름. 적용불가 시 주요제원·요구성능 최적화 후 요구성능 재정립에 회귀. 최적화 후에도 불가능하면 하이브리드 검토.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14페이지. 확정 설계가 아닌 원문 검토안. 주기관 출력·추진기 형식·최대선속·운항선속·항속거리 값은 원문 공란이며 임의 입력하지 않음. 주요제원은 6장 표와 동일하게 최대한 유지.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KRE 자료 14페이지 하단 4개 항목 전체. 참고 기술 검토 범위이며 회사의 계약상 수행 범위 또는 실적을 확정하지 않음.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13–15페이지. 병렬·직렬·순수 전기·연료전지·LNG 방식. 원문의 대표 구조를 개념적으로 재구성.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8·16–17페이지. 모드전환 가능 RPM 조건은 해당 HM 시스템 설명이며 모든 시스템에 일반화하지 않음. Dead-ship 방지는 원문의 설계 목표이지 무고장 보장이 아님.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8페이지 제품군 설명. 엔진 최대 1190kW, 하이브리드 유닛 최대 100kW, 4헤드 전기출력 400kW는 제품군 수준 설명이며 표준선박 적용 용량이 아님. SAE 결합은 모델별 적합성 확인 필요.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6–10·18·28페이지. 구성품 표의 258kWh 배터리 및 75kW 모터는 참고 구성 예시이며 표준선박 확정 사양 아님. 배터리 차저 11kWh 표기는 전력/에너지 단위 확인 필요. 배터리 냉각·디젤발전기 용량·중량 공란은 미확정.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24–25페이지 사례별 표기. 회사 자료 기준. 고객명 변경이나 선박 자체 건조 실적 주장 없이 시스템 사례로 제시. 자료상의 전기선속은 해당 사례에 한정.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PDF 5·11·27–28페이지. ISO9001:2015 DNV, INNOBIZ, 특허 및 기자재 형식승인은 원문 제시 사항이며 현행 유효 범위 별도 확인. 정기검사비 약1000만원 대 약300만원, 1/3 수준은 비교범위·시점 불명확하여 보장 비용으로 본문에 사용하지 않음. 슬라이드 배경 시각물: imagegen 제작. 기술 텍스트와 숫자는 원문 기준 편집 가능 요소로 유지. 사용자 제공 공식 로고 적용. imagegen 다크 배경 처리. 상세 설명은 노트에 보존. 본문은 표·도식·그림 중심으로 간소화.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9" name="Picture 8" descr="exec-427941c9-3bd3-4207-a99b-c20ace016fa5.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MASTERVOLT KOREA</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INTEGRATED VESSEL SOLUTIONS</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01</a:t>
            </a:r>
          </a:p>
        </p:txBody>
      </p:sp>
      <p:sp>
        <p:nvSpPr>
          <p:cNvPr id="7" name="TextBox 6"/>
          <p:cNvSpPr txBox="1"/>
          <p:nvPr/>
        </p:nvSpPr>
        <p:spPr>
          <a:xfrm>
            <a:off x="731520" y="3017520"/>
            <a:ext cx="7315200" cy="914400"/>
          </a:xfrm>
          <a:prstGeom prst="rect">
            <a:avLst/>
          </a:prstGeom>
          <a:noFill/>
        </p:spPr>
        <p:txBody>
          <a:bodyPr wrap="square" lIns="0" rIns="0" tIns="0" bIns="0">
            <a:spAutoFit/>
          </a:bodyPr>
          <a:lstStyle/>
          <a:p>
            <a:pPr>
              <a:spcAft>
                <a:spcPts val="1000"/>
              </a:spcAft>
              <a:defRPr sz="4100" b="1">
                <a:solidFill>
                  <a:srgbClr val="48D4DE"/>
                </a:solidFill>
                <a:latin typeface="Noto Sans CJK KR"/>
              </a:defRPr>
            </a:pPr>
            <a:r>
              <a:t>추진 · 전력 · 제어</a:t>
            </a:r>
          </a:p>
        </p:txBody>
      </p:sp>
      <p:sp>
        <p:nvSpPr>
          <p:cNvPr id="8" name="TextBox 7"/>
          <p:cNvSpPr txBox="1"/>
          <p:nvPr/>
        </p:nvSpPr>
        <p:spPr>
          <a:xfrm>
            <a:off x="731520" y="4572000"/>
            <a:ext cx="6400800" cy="731520"/>
          </a:xfrm>
          <a:prstGeom prst="rect">
            <a:avLst/>
          </a:prstGeom>
          <a:noFill/>
        </p:spPr>
        <p:txBody>
          <a:bodyPr wrap="square" lIns="0" rIns="0" tIns="0" bIns="0">
            <a:spAutoFit/>
          </a:bodyPr>
          <a:lstStyle/>
          <a:p>
            <a:pPr>
              <a:spcAft>
                <a:spcPts val="1000"/>
              </a:spcAft>
              <a:defRPr sz="2500" b="0">
                <a:solidFill>
                  <a:srgbClr val="EFF4F8"/>
                </a:solidFill>
                <a:latin typeface="Noto Sans CJK KR"/>
              </a:defRPr>
            </a:pPr>
            <a:r>
              <a:t>설계 / 해석 / 통합</a:t>
            </a:r>
          </a:p>
        </p:txBody>
      </p:sp>
      <p:pic>
        <p:nvPicPr>
          <p:cNvPr id="10"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
        <p:nvSpPr>
          <p:cNvPr id="11" name="TextBox 10"/>
          <p:cNvSpPr txBox="1"/>
          <p:nvPr/>
        </p:nvSpPr>
        <p:spPr>
          <a:xfrm>
            <a:off x="731520" y="7379208"/>
            <a:ext cx="5486400" cy="201168"/>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 CONCEPT VISUAL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9" name="Picture 18"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COMPANY / OVERVIEW</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MASTERVOLT KOREA</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02</a:t>
            </a:r>
          </a:p>
        </p:txBody>
      </p:sp>
      <p:sp>
        <p:nvSpPr>
          <p:cNvPr id="7" name="TextBox 6"/>
          <p:cNvSpPr txBox="1"/>
          <p:nvPr/>
        </p:nvSpPr>
        <p:spPr>
          <a:xfrm>
            <a:off x="731520" y="2651760"/>
            <a:ext cx="5486400" cy="1280160"/>
          </a:xfrm>
          <a:prstGeom prst="rect">
            <a:avLst/>
          </a:prstGeom>
          <a:noFill/>
        </p:spPr>
        <p:txBody>
          <a:bodyPr wrap="square" lIns="0" rIns="0" tIns="0" bIns="0">
            <a:spAutoFit/>
          </a:bodyPr>
          <a:lstStyle/>
          <a:p>
            <a:pPr>
              <a:spcAft>
                <a:spcPts val="1000"/>
              </a:spcAft>
              <a:defRPr sz="8600" b="1">
                <a:solidFill>
                  <a:srgbClr val="48D4DE"/>
                </a:solidFill>
                <a:latin typeface="Noto Sans CJK KR"/>
              </a:defRPr>
            </a:pPr>
            <a:r>
              <a:t>2016</a:t>
            </a:r>
          </a:p>
        </p:txBody>
      </p:sp>
      <p:sp>
        <p:nvSpPr>
          <p:cNvPr id="8" name="TextBox 7"/>
          <p:cNvSpPr txBox="1"/>
          <p:nvPr/>
        </p:nvSpPr>
        <p:spPr>
          <a:xfrm>
            <a:off x="822960" y="4114800"/>
            <a:ext cx="5486400" cy="548640"/>
          </a:xfrm>
          <a:prstGeom prst="rect">
            <a:avLst/>
          </a:prstGeom>
          <a:noFill/>
        </p:spPr>
        <p:txBody>
          <a:bodyPr wrap="square" lIns="0" rIns="0" tIns="0" bIns="0">
            <a:spAutoFit/>
          </a:bodyPr>
          <a:lstStyle/>
          <a:p>
            <a:pPr>
              <a:spcAft>
                <a:spcPts val="1000"/>
              </a:spcAft>
              <a:defRPr sz="2400" b="0">
                <a:solidFill>
                  <a:srgbClr val="8FA5B8"/>
                </a:solidFill>
                <a:latin typeface="Noto Sans CJK KR"/>
              </a:defRPr>
            </a:pPr>
            <a:r>
              <a:t>10.01 설립</a:t>
            </a:r>
          </a:p>
        </p:txBody>
      </p:sp>
      <p:sp>
        <p:nvSpPr>
          <p:cNvPr id="9" name="TextBox 8"/>
          <p:cNvSpPr txBox="1"/>
          <p:nvPr/>
        </p:nvSpPr>
        <p:spPr>
          <a:xfrm>
            <a:off x="7315200" y="3108960"/>
            <a:ext cx="6400800" cy="914400"/>
          </a:xfrm>
          <a:prstGeom prst="rect">
            <a:avLst/>
          </a:prstGeom>
          <a:noFill/>
        </p:spPr>
        <p:txBody>
          <a:bodyPr wrap="square" lIns="0" rIns="0" tIns="0" bIns="0">
            <a:spAutoFit/>
          </a:bodyPr>
          <a:lstStyle/>
          <a:p>
            <a:pPr>
              <a:spcAft>
                <a:spcPts val="1000"/>
              </a:spcAft>
              <a:defRPr sz="4000" b="1">
                <a:solidFill>
                  <a:srgbClr val="EFF4F8"/>
                </a:solidFill>
                <a:latin typeface="Noto Sans CJK KR"/>
              </a:defRPr>
            </a:pPr>
            <a:r>
              <a:t>영암  |  부산</a:t>
            </a:r>
          </a:p>
        </p:txBody>
      </p:sp>
      <p:sp>
        <p:nvSpPr>
          <p:cNvPr id="10" name="TextBox 9"/>
          <p:cNvSpPr txBox="1"/>
          <p:nvPr/>
        </p:nvSpPr>
        <p:spPr>
          <a:xfrm>
            <a:off x="7315200" y="4297680"/>
            <a:ext cx="6400800" cy="548640"/>
          </a:xfrm>
          <a:prstGeom prst="rect">
            <a:avLst/>
          </a:prstGeom>
          <a:noFill/>
        </p:spPr>
        <p:txBody>
          <a:bodyPr wrap="square" lIns="0" rIns="0" tIns="0" bIns="0">
            <a:spAutoFit/>
          </a:bodyPr>
          <a:lstStyle/>
          <a:p>
            <a:pPr>
              <a:spcAft>
                <a:spcPts val="1000"/>
              </a:spcAft>
              <a:defRPr sz="2400" b="0">
                <a:solidFill>
                  <a:srgbClr val="8FA5B8"/>
                </a:solidFill>
                <a:latin typeface="Noto Sans CJK KR"/>
              </a:defRPr>
            </a:pPr>
            <a:r>
              <a:t>본사·공장   |   지점</a:t>
            </a:r>
          </a:p>
        </p:txBody>
      </p:sp>
      <p:sp>
        <p:nvSpPr>
          <p:cNvPr id="11" name="Rectangle 10"/>
          <p:cNvSpPr/>
          <p:nvPr/>
        </p:nvSpPr>
        <p:spPr>
          <a:xfrm>
            <a:off x="731520" y="557784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897879"/>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전기·하이브리드</a:t>
            </a:r>
          </a:p>
        </p:txBody>
      </p:sp>
      <p:sp>
        <p:nvSpPr>
          <p:cNvPr id="13" name="TextBox 12"/>
          <p:cNvSpPr txBox="1"/>
          <p:nvPr/>
        </p:nvSpPr>
        <p:spPr>
          <a:xfrm>
            <a:off x="4855464" y="594360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4" name="Rectangle 13"/>
          <p:cNvSpPr/>
          <p:nvPr/>
        </p:nvSpPr>
        <p:spPr>
          <a:xfrm>
            <a:off x="5120640" y="557784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5897879"/>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전장 설계</a:t>
            </a:r>
          </a:p>
        </p:txBody>
      </p:sp>
      <p:sp>
        <p:nvSpPr>
          <p:cNvPr id="16" name="TextBox 15"/>
          <p:cNvSpPr txBox="1"/>
          <p:nvPr/>
        </p:nvSpPr>
        <p:spPr>
          <a:xfrm>
            <a:off x="9244584" y="594360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7" name="Rectangle 16"/>
          <p:cNvSpPr/>
          <p:nvPr/>
        </p:nvSpPr>
        <p:spPr>
          <a:xfrm>
            <a:off x="9509760" y="557784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6920" y="5897879"/>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추진 솔루션</a:t>
            </a:r>
          </a:p>
        </p:txBody>
      </p:sp>
      <p:pic>
        <p:nvPicPr>
          <p:cNvPr id="20"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1" name="Picture 10" descr="exec-f3ed2d79-5757-4445-a055-ec161376c4e6.png"/>
          <p:cNvPicPr>
            <a:picLocks noChangeAspect="1"/>
          </p:cNvPicPr>
          <p:nvPr/>
        </p:nvPicPr>
        <p:blipFill>
          <a:blip r:embed="rId4"/>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COMPANY / ENGINEERING</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설계에서 통합까지</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03</a:t>
            </a:r>
          </a:p>
        </p:txBody>
      </p:sp>
      <p:pic>
        <p:nvPicPr>
          <p:cNvPr id="7" name="Picture 6" descr="exec-28c6e441-3bb6-4b89-9ea9-f9da63a209ce.png"/>
          <p:cNvPicPr>
            <a:picLocks noChangeAspect="1"/>
          </p:cNvPicPr>
          <p:nvPr/>
        </p:nvPicPr>
        <p:blipFill>
          <a:blip r:embed="rId3"/>
          <a:stretch>
            <a:fillRect/>
          </a:stretch>
        </p:blipFill>
        <p:spPr>
          <a:xfrm>
            <a:off x="731520" y="2286000"/>
            <a:ext cx="13167360" cy="4937760"/>
          </a:xfrm>
          <a:prstGeom prst="rect">
            <a:avLst/>
          </a:prstGeom>
        </p:spPr>
      </p:pic>
      <p:sp>
        <p:nvSpPr>
          <p:cNvPr id="8" name="TextBox 7"/>
          <p:cNvSpPr txBox="1"/>
          <p:nvPr/>
        </p:nvSpPr>
        <p:spPr>
          <a:xfrm>
            <a:off x="914400" y="2468880"/>
            <a:ext cx="3657600" cy="457200"/>
          </a:xfrm>
          <a:prstGeom prst="rect">
            <a:avLst/>
          </a:prstGeom>
          <a:noFill/>
        </p:spPr>
        <p:txBody>
          <a:bodyPr wrap="square" lIns="0" rIns="0" tIns="0" bIns="0">
            <a:spAutoFit/>
          </a:bodyPr>
          <a:lstStyle/>
          <a:p>
            <a:pPr>
              <a:spcAft>
                <a:spcPts val="1000"/>
              </a:spcAft>
              <a:defRPr sz="2200" b="1">
                <a:solidFill>
                  <a:srgbClr val="48D4DE"/>
                </a:solidFill>
                <a:latin typeface="Noto Sans CJK KR"/>
              </a:defRPr>
            </a:pPr>
            <a:r>
              <a:t>추진계통</a:t>
            </a:r>
          </a:p>
        </p:txBody>
      </p:sp>
      <p:sp>
        <p:nvSpPr>
          <p:cNvPr id="9" name="TextBox 8"/>
          <p:cNvSpPr txBox="1"/>
          <p:nvPr/>
        </p:nvSpPr>
        <p:spPr>
          <a:xfrm>
            <a:off x="9601200" y="2468880"/>
            <a:ext cx="3657600" cy="457200"/>
          </a:xfrm>
          <a:prstGeom prst="rect">
            <a:avLst/>
          </a:prstGeom>
          <a:noFill/>
        </p:spPr>
        <p:txBody>
          <a:bodyPr wrap="square" lIns="0" rIns="0" tIns="0" bIns="0">
            <a:spAutoFit/>
          </a:bodyPr>
          <a:lstStyle/>
          <a:p>
            <a:pPr>
              <a:spcAft>
                <a:spcPts val="1000"/>
              </a:spcAft>
              <a:defRPr sz="2200" b="1">
                <a:solidFill>
                  <a:srgbClr val="48D4DE"/>
                </a:solidFill>
                <a:latin typeface="Noto Sans CJK KR"/>
              </a:defRPr>
            </a:pPr>
            <a:r>
              <a:t>에너지·전력</a:t>
            </a:r>
          </a:p>
        </p:txBody>
      </p:sp>
      <p:sp>
        <p:nvSpPr>
          <p:cNvPr id="10" name="TextBox 9"/>
          <p:cNvSpPr txBox="1"/>
          <p:nvPr/>
        </p:nvSpPr>
        <p:spPr>
          <a:xfrm>
            <a:off x="822960" y="7132320"/>
            <a:ext cx="12801600" cy="411480"/>
          </a:xfrm>
          <a:prstGeom prst="rect">
            <a:avLst/>
          </a:prstGeom>
          <a:noFill/>
        </p:spPr>
        <p:txBody>
          <a:bodyPr wrap="square" lIns="0" rIns="0" tIns="0" bIns="0">
            <a:spAutoFit/>
          </a:bodyPr>
          <a:lstStyle/>
          <a:p>
            <a:pPr>
              <a:spcAft>
                <a:spcPts val="1000"/>
              </a:spcAft>
              <a:defRPr sz="1900" b="0">
                <a:solidFill>
                  <a:srgbClr val="EFF4F8"/>
                </a:solidFill>
                <a:latin typeface="Noto Sans CJK KR"/>
              </a:defRPr>
            </a:pPr>
            <a:r>
              <a:t>추진 매칭 / 성능 예측 / 중량·균형 / 전력·제어 통합</a:t>
            </a:r>
          </a:p>
        </p:txBody>
      </p:sp>
      <p:pic>
        <p:nvPicPr>
          <p:cNvPr id="12" name="Mastervolt Korea logo" descr="exec-301e7b30-f476-4a9e-81ce-5aa4a653cb7f.png"/>
          <p:cNvPicPr>
            <a:picLocks noChangeAspect="1"/>
          </p:cNvPicPr>
          <p:nvPr/>
        </p:nvPicPr>
        <p:blipFill>
          <a:blip r:embed="rId5"/>
          <a:stretch>
            <a:fillRect/>
          </a:stretch>
        </p:blipFill>
        <p:spPr>
          <a:xfrm>
            <a:off x="9784080" y="45720"/>
            <a:ext cx="4114800" cy="1371600"/>
          </a:xfrm>
          <a:prstGeom prst="rect">
            <a:avLst/>
          </a:prstGeom>
        </p:spPr>
      </p:pic>
      <p:sp>
        <p:nvSpPr>
          <p:cNvPr id="13" name="TextBox 12"/>
          <p:cNvSpPr txBox="1"/>
          <p:nvPr/>
        </p:nvSpPr>
        <p:spPr>
          <a:xfrm>
            <a:off x="731520" y="7379208"/>
            <a:ext cx="5486400" cy="201168"/>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 CONCEPT VISUAL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5" name="Picture 24"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COMPANY / LEADERSHIP</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수행 조직</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04</a:t>
            </a:r>
          </a:p>
        </p:txBody>
      </p:sp>
      <p:sp>
        <p:nvSpPr>
          <p:cNvPr id="7" name="TextBox 6"/>
          <p:cNvSpPr txBox="1"/>
          <p:nvPr/>
        </p:nvSpPr>
        <p:spPr>
          <a:xfrm>
            <a:off x="731520" y="2423160"/>
            <a:ext cx="12801600" cy="731520"/>
          </a:xfrm>
          <a:prstGeom prst="rect">
            <a:avLst/>
          </a:prstGeom>
          <a:noFill/>
        </p:spPr>
        <p:txBody>
          <a:bodyPr wrap="square" lIns="0" rIns="0" tIns="0" bIns="0">
            <a:spAutoFit/>
          </a:bodyPr>
          <a:lstStyle/>
          <a:p>
            <a:pPr>
              <a:spcAft>
                <a:spcPts val="1000"/>
              </a:spcAft>
              <a:defRPr sz="3200" b="1">
                <a:solidFill>
                  <a:srgbClr val="48D4DE"/>
                </a:solidFill>
                <a:latin typeface="Noto Sans CJK KR"/>
              </a:defRPr>
            </a:pPr>
            <a:r>
              <a:t>김승옥 / Pierce Kim</a:t>
            </a:r>
          </a:p>
        </p:txBody>
      </p:sp>
      <p:sp>
        <p:nvSpPr>
          <p:cNvPr id="8" name="TextBox 7"/>
          <p:cNvSpPr txBox="1"/>
          <p:nvPr/>
        </p:nvSpPr>
        <p:spPr>
          <a:xfrm>
            <a:off x="731520" y="3200400"/>
            <a:ext cx="12801600" cy="457200"/>
          </a:xfrm>
          <a:prstGeom prst="rect">
            <a:avLst/>
          </a:prstGeom>
          <a:noFill/>
        </p:spPr>
        <p:txBody>
          <a:bodyPr wrap="square" lIns="0" rIns="0" tIns="0" bIns="0">
            <a:spAutoFit/>
          </a:bodyPr>
          <a:lstStyle/>
          <a:p>
            <a:pPr>
              <a:spcAft>
                <a:spcPts val="1000"/>
              </a:spcAft>
              <a:defRPr sz="2000" b="0">
                <a:solidFill>
                  <a:srgbClr val="8FA5B8"/>
                </a:solidFill>
                <a:latin typeface="Noto Sans CJK KR"/>
              </a:defRPr>
            </a:pPr>
            <a:r>
              <a:t>Founder &amp; CEO</a:t>
            </a:r>
          </a:p>
        </p:txBody>
      </p:sp>
      <p:sp>
        <p:nvSpPr>
          <p:cNvPr id="9" name="TextBox 8"/>
          <p:cNvSpPr txBox="1"/>
          <p:nvPr/>
        </p:nvSpPr>
        <p:spPr>
          <a:xfrm>
            <a:off x="822960" y="4251960"/>
            <a:ext cx="420624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ENGINEERING</a:t>
            </a:r>
          </a:p>
        </p:txBody>
      </p:sp>
      <p:sp>
        <p:nvSpPr>
          <p:cNvPr id="10" name="TextBox 9"/>
          <p:cNvSpPr txBox="1"/>
          <p:nvPr/>
        </p:nvSpPr>
        <p:spPr>
          <a:xfrm>
            <a:off x="5212079" y="4251960"/>
            <a:ext cx="420624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OPERATIONS</a:t>
            </a:r>
          </a:p>
        </p:txBody>
      </p:sp>
      <p:sp>
        <p:nvSpPr>
          <p:cNvPr id="11" name="TextBox 10"/>
          <p:cNvSpPr txBox="1"/>
          <p:nvPr/>
        </p:nvSpPr>
        <p:spPr>
          <a:xfrm>
            <a:off x="9601199" y="4251960"/>
            <a:ext cx="420624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GLOBAL ADVISORY</a:t>
            </a:r>
          </a:p>
        </p:txBody>
      </p:sp>
      <p:sp>
        <p:nvSpPr>
          <p:cNvPr id="12" name="Rectangle 11"/>
          <p:cNvSpPr/>
          <p:nvPr/>
        </p:nvSpPr>
        <p:spPr>
          <a:xfrm>
            <a:off x="731520" y="479145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873752"/>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Youngchan Hong</a:t>
            </a:r>
          </a:p>
        </p:txBody>
      </p:sp>
      <p:sp>
        <p:nvSpPr>
          <p:cNvPr id="14" name="TextBox 13"/>
          <p:cNvSpPr txBox="1"/>
          <p:nvPr/>
        </p:nvSpPr>
        <p:spPr>
          <a:xfrm>
            <a:off x="5212079" y="4873752"/>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Juhwan Kim</a:t>
            </a:r>
          </a:p>
        </p:txBody>
      </p:sp>
      <p:sp>
        <p:nvSpPr>
          <p:cNvPr id="15" name="TextBox 14"/>
          <p:cNvSpPr txBox="1"/>
          <p:nvPr/>
        </p:nvSpPr>
        <p:spPr>
          <a:xfrm>
            <a:off x="9601199" y="4873752"/>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John Kecsmar</a:t>
            </a:r>
          </a:p>
        </p:txBody>
      </p:sp>
      <p:sp>
        <p:nvSpPr>
          <p:cNvPr id="16" name="Rectangle 15"/>
          <p:cNvSpPr/>
          <p:nvPr/>
        </p:nvSpPr>
        <p:spPr>
          <a:xfrm>
            <a:off x="731520" y="541324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495544"/>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James Han</a:t>
            </a:r>
          </a:p>
        </p:txBody>
      </p:sp>
      <p:sp>
        <p:nvSpPr>
          <p:cNvPr id="18" name="TextBox 17"/>
          <p:cNvSpPr txBox="1"/>
          <p:nvPr/>
        </p:nvSpPr>
        <p:spPr>
          <a:xfrm>
            <a:off x="5212079" y="5495544"/>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Sangeon Park</a:t>
            </a:r>
          </a:p>
        </p:txBody>
      </p:sp>
      <p:sp>
        <p:nvSpPr>
          <p:cNvPr id="19" name="TextBox 18"/>
          <p:cNvSpPr txBox="1"/>
          <p:nvPr/>
        </p:nvSpPr>
        <p:spPr>
          <a:xfrm>
            <a:off x="9601199" y="5495544"/>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Gerhard Kutt</a:t>
            </a:r>
          </a:p>
        </p:txBody>
      </p:sp>
      <p:sp>
        <p:nvSpPr>
          <p:cNvPr id="20" name="Rectangle 19"/>
          <p:cNvSpPr/>
          <p:nvPr/>
        </p:nvSpPr>
        <p:spPr>
          <a:xfrm>
            <a:off x="731520" y="6035040"/>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6117336"/>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Jongho Kim</a:t>
            </a:r>
          </a:p>
        </p:txBody>
      </p:sp>
      <p:sp>
        <p:nvSpPr>
          <p:cNvPr id="22" name="TextBox 21"/>
          <p:cNvSpPr txBox="1"/>
          <p:nvPr/>
        </p:nvSpPr>
        <p:spPr>
          <a:xfrm>
            <a:off x="5212079" y="6117336"/>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Michael Park</a:t>
            </a:r>
          </a:p>
        </p:txBody>
      </p:sp>
      <p:sp>
        <p:nvSpPr>
          <p:cNvPr id="23" name="TextBox 22"/>
          <p:cNvSpPr txBox="1"/>
          <p:nvPr/>
        </p:nvSpPr>
        <p:spPr>
          <a:xfrm>
            <a:off x="9601199" y="6117336"/>
            <a:ext cx="4206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Lee Soonhyung</a:t>
            </a:r>
          </a:p>
        </p:txBody>
      </p:sp>
      <p:sp>
        <p:nvSpPr>
          <p:cNvPr id="24" name="Rectangle 23"/>
          <p:cNvSpPr/>
          <p:nvPr/>
        </p:nvSpPr>
        <p:spPr>
          <a:xfrm>
            <a:off x="731520" y="6656832"/>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4" name="Picture 13" descr="exec-f3ed2d79-5757-4445-a055-ec161376c4e6.png"/>
          <p:cNvPicPr>
            <a:picLocks noChangeAspect="1"/>
          </p:cNvPicPr>
          <p:nvPr/>
        </p:nvPicPr>
        <p:blipFill>
          <a:blip r:embed="rId4"/>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FIVE VESSEL TYPES</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5종 선박 표준화</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05</a:t>
            </a:r>
          </a:p>
        </p:txBody>
      </p:sp>
      <p:pic>
        <p:nvPicPr>
          <p:cNvPr id="7" name="Picture 6" descr="exec-84d44663-b73c-4912-9a47-e3b372bcebe7.png"/>
          <p:cNvPicPr>
            <a:picLocks noChangeAspect="1"/>
          </p:cNvPicPr>
          <p:nvPr/>
        </p:nvPicPr>
        <p:blipFill>
          <a:blip r:embed="rId3"/>
          <a:stretch>
            <a:fillRect/>
          </a:stretch>
        </p:blipFill>
        <p:spPr>
          <a:xfrm>
            <a:off x="731520" y="2194560"/>
            <a:ext cx="13167360" cy="4480560"/>
          </a:xfrm>
          <a:prstGeom prst="rect">
            <a:avLst/>
          </a:prstGeom>
        </p:spPr>
      </p:pic>
      <p:sp>
        <p:nvSpPr>
          <p:cNvPr id="8" name="TextBox 7"/>
          <p:cNvSpPr txBox="1"/>
          <p:nvPr/>
        </p:nvSpPr>
        <p:spPr>
          <a:xfrm>
            <a:off x="822960" y="6309360"/>
            <a:ext cx="23774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관리선 A</a:t>
            </a:r>
          </a:p>
        </p:txBody>
      </p:sp>
      <p:sp>
        <p:nvSpPr>
          <p:cNvPr id="9" name="TextBox 8"/>
          <p:cNvSpPr txBox="1"/>
          <p:nvPr/>
        </p:nvSpPr>
        <p:spPr>
          <a:xfrm>
            <a:off x="3456432" y="6309360"/>
            <a:ext cx="23774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관리선 B</a:t>
            </a:r>
          </a:p>
        </p:txBody>
      </p:sp>
      <p:sp>
        <p:nvSpPr>
          <p:cNvPr id="10" name="TextBox 9"/>
          <p:cNvSpPr txBox="1"/>
          <p:nvPr/>
        </p:nvSpPr>
        <p:spPr>
          <a:xfrm>
            <a:off x="6089904" y="6309360"/>
            <a:ext cx="23774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순시선 A</a:t>
            </a:r>
          </a:p>
        </p:txBody>
      </p:sp>
      <p:sp>
        <p:nvSpPr>
          <p:cNvPr id="11" name="TextBox 10"/>
          <p:cNvSpPr txBox="1"/>
          <p:nvPr/>
        </p:nvSpPr>
        <p:spPr>
          <a:xfrm>
            <a:off x="8723376" y="6309360"/>
            <a:ext cx="23774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순시선 B</a:t>
            </a:r>
          </a:p>
        </p:txBody>
      </p:sp>
      <p:sp>
        <p:nvSpPr>
          <p:cNvPr id="12" name="TextBox 11"/>
          <p:cNvSpPr txBox="1"/>
          <p:nvPr/>
        </p:nvSpPr>
        <p:spPr>
          <a:xfrm>
            <a:off x="11356848" y="6309360"/>
            <a:ext cx="237744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작업선</a:t>
            </a:r>
          </a:p>
        </p:txBody>
      </p:sp>
      <p:sp>
        <p:nvSpPr>
          <p:cNvPr id="13" name="TextBox 12"/>
          <p:cNvSpPr txBox="1"/>
          <p:nvPr/>
        </p:nvSpPr>
        <p:spPr>
          <a:xfrm>
            <a:off x="822960" y="7132320"/>
            <a:ext cx="12801600" cy="365760"/>
          </a:xfrm>
          <a:prstGeom prst="rect">
            <a:avLst/>
          </a:prstGeom>
          <a:noFill/>
        </p:spPr>
        <p:txBody>
          <a:bodyPr wrap="square" lIns="0" rIns="0" tIns="0" bIns="0">
            <a:spAutoFit/>
          </a:bodyPr>
          <a:lstStyle/>
          <a:p>
            <a:pPr>
              <a:spcAft>
                <a:spcPts val="1000"/>
              </a:spcAft>
              <a:defRPr sz="1800" b="0">
                <a:solidFill>
                  <a:srgbClr val="EFF4F8"/>
                </a:solidFill>
                <a:latin typeface="Noto Sans CJK KR"/>
              </a:defRPr>
            </a:pPr>
            <a:r>
              <a:t>주요제원 유지  /  운항여건 반영  /  요구성능 재정립</a:t>
            </a:r>
          </a:p>
        </p:txBody>
      </p:sp>
      <p:pic>
        <p:nvPicPr>
          <p:cNvPr id="15" name="Mastervolt Korea logo" descr="exec-301e7b30-f476-4a9e-81ce-5aa4a653cb7f.png"/>
          <p:cNvPicPr>
            <a:picLocks noChangeAspect="1"/>
          </p:cNvPicPr>
          <p:nvPr/>
        </p:nvPicPr>
        <p:blipFill>
          <a:blip r:embed="rId5"/>
          <a:stretch>
            <a:fillRect/>
          </a:stretch>
        </p:blipFill>
        <p:spPr>
          <a:xfrm>
            <a:off x="9784080" y="45720"/>
            <a:ext cx="4114800" cy="1371600"/>
          </a:xfrm>
          <a:prstGeom prst="rect">
            <a:avLst/>
          </a:prstGeom>
        </p:spPr>
      </p:pic>
      <p:sp>
        <p:nvSpPr>
          <p:cNvPr id="16" name="TextBox 15"/>
          <p:cNvSpPr txBox="1"/>
          <p:nvPr/>
        </p:nvSpPr>
        <p:spPr>
          <a:xfrm>
            <a:off x="731520" y="7379208"/>
            <a:ext cx="5486400" cy="201168"/>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 CONCEPT VISUAL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56" name="Picture 55"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BASELINE</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주요제원</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06</a:t>
            </a:r>
          </a:p>
        </p:txBody>
      </p:sp>
      <p:sp>
        <p:nvSpPr>
          <p:cNvPr id="7" name="TextBox 6"/>
          <p:cNvSpPr txBox="1"/>
          <p:nvPr/>
        </p:nvSpPr>
        <p:spPr>
          <a:xfrm>
            <a:off x="804672" y="2468880"/>
            <a:ext cx="2560320"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구분</a:t>
            </a:r>
          </a:p>
        </p:txBody>
      </p:sp>
      <p:sp>
        <p:nvSpPr>
          <p:cNvPr id="8" name="TextBox 7"/>
          <p:cNvSpPr txBox="1"/>
          <p:nvPr/>
        </p:nvSpPr>
        <p:spPr>
          <a:xfrm>
            <a:off x="345643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A</a:t>
            </a:r>
          </a:p>
        </p:txBody>
      </p:sp>
      <p:sp>
        <p:nvSpPr>
          <p:cNvPr id="9" name="TextBox 8"/>
          <p:cNvSpPr txBox="1"/>
          <p:nvPr/>
        </p:nvSpPr>
        <p:spPr>
          <a:xfrm>
            <a:off x="555955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B</a:t>
            </a:r>
          </a:p>
        </p:txBody>
      </p:sp>
      <p:sp>
        <p:nvSpPr>
          <p:cNvPr id="10" name="TextBox 9"/>
          <p:cNvSpPr txBox="1"/>
          <p:nvPr/>
        </p:nvSpPr>
        <p:spPr>
          <a:xfrm>
            <a:off x="766267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A</a:t>
            </a:r>
          </a:p>
        </p:txBody>
      </p:sp>
      <p:sp>
        <p:nvSpPr>
          <p:cNvPr id="11" name="TextBox 10"/>
          <p:cNvSpPr txBox="1"/>
          <p:nvPr/>
        </p:nvSpPr>
        <p:spPr>
          <a:xfrm>
            <a:off x="976579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B</a:t>
            </a:r>
          </a:p>
        </p:txBody>
      </p:sp>
      <p:sp>
        <p:nvSpPr>
          <p:cNvPr id="12" name="TextBox 11"/>
          <p:cNvSpPr txBox="1"/>
          <p:nvPr/>
        </p:nvSpPr>
        <p:spPr>
          <a:xfrm>
            <a:off x="1186891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작업선</a:t>
            </a:r>
          </a:p>
        </p:txBody>
      </p:sp>
      <p:sp>
        <p:nvSpPr>
          <p:cNvPr id="13" name="Rectangle 12"/>
          <p:cNvSpPr/>
          <p:nvPr/>
        </p:nvSpPr>
        <p:spPr>
          <a:xfrm>
            <a:off x="731520" y="295351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03580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총톤수 [톤]</a:t>
            </a:r>
          </a:p>
        </p:txBody>
      </p:sp>
      <p:sp>
        <p:nvSpPr>
          <p:cNvPr id="15" name="TextBox 14"/>
          <p:cNvSpPr txBox="1"/>
          <p:nvPr/>
        </p:nvSpPr>
        <p:spPr>
          <a:xfrm>
            <a:off x="345643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19</a:t>
            </a:r>
          </a:p>
        </p:txBody>
      </p:sp>
      <p:sp>
        <p:nvSpPr>
          <p:cNvPr id="16" name="TextBox 15"/>
          <p:cNvSpPr txBox="1"/>
          <p:nvPr/>
        </p:nvSpPr>
        <p:spPr>
          <a:xfrm>
            <a:off x="555955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9.77</a:t>
            </a:r>
          </a:p>
        </p:txBody>
      </p:sp>
      <p:sp>
        <p:nvSpPr>
          <p:cNvPr id="17" name="TextBox 16"/>
          <p:cNvSpPr txBox="1"/>
          <p:nvPr/>
        </p:nvSpPr>
        <p:spPr>
          <a:xfrm>
            <a:off x="766267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5.13</a:t>
            </a:r>
          </a:p>
        </p:txBody>
      </p:sp>
      <p:sp>
        <p:nvSpPr>
          <p:cNvPr id="18" name="TextBox 17"/>
          <p:cNvSpPr txBox="1"/>
          <p:nvPr/>
        </p:nvSpPr>
        <p:spPr>
          <a:xfrm>
            <a:off x="976579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2.98</a:t>
            </a:r>
          </a:p>
        </p:txBody>
      </p:sp>
      <p:sp>
        <p:nvSpPr>
          <p:cNvPr id="19" name="TextBox 18"/>
          <p:cNvSpPr txBox="1"/>
          <p:nvPr/>
        </p:nvSpPr>
        <p:spPr>
          <a:xfrm>
            <a:off x="1186891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3.71</a:t>
            </a:r>
          </a:p>
        </p:txBody>
      </p:sp>
      <p:sp>
        <p:nvSpPr>
          <p:cNvPr id="20" name="Rectangle 19"/>
          <p:cNvSpPr/>
          <p:nvPr/>
        </p:nvSpPr>
        <p:spPr>
          <a:xfrm>
            <a:off x="731520" y="3493008"/>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575304"/>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전장 [m]</a:t>
            </a:r>
          </a:p>
        </p:txBody>
      </p:sp>
      <p:sp>
        <p:nvSpPr>
          <p:cNvPr id="22" name="TextBox 21"/>
          <p:cNvSpPr txBox="1"/>
          <p:nvPr/>
        </p:nvSpPr>
        <p:spPr>
          <a:xfrm>
            <a:off x="345643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17.00</a:t>
            </a:r>
          </a:p>
        </p:txBody>
      </p:sp>
      <p:sp>
        <p:nvSpPr>
          <p:cNvPr id="23" name="TextBox 22"/>
          <p:cNvSpPr txBox="1"/>
          <p:nvPr/>
        </p:nvSpPr>
        <p:spPr>
          <a:xfrm>
            <a:off x="555955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14.15</a:t>
            </a:r>
          </a:p>
        </p:txBody>
      </p:sp>
      <p:sp>
        <p:nvSpPr>
          <p:cNvPr id="24" name="TextBox 23"/>
          <p:cNvSpPr txBox="1"/>
          <p:nvPr/>
        </p:nvSpPr>
        <p:spPr>
          <a:xfrm>
            <a:off x="766267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10.04</a:t>
            </a:r>
          </a:p>
        </p:txBody>
      </p:sp>
      <p:sp>
        <p:nvSpPr>
          <p:cNvPr id="25" name="TextBox 24"/>
          <p:cNvSpPr txBox="1"/>
          <p:nvPr/>
        </p:nvSpPr>
        <p:spPr>
          <a:xfrm>
            <a:off x="976579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7.99</a:t>
            </a:r>
          </a:p>
        </p:txBody>
      </p:sp>
      <p:sp>
        <p:nvSpPr>
          <p:cNvPr id="26" name="TextBox 25"/>
          <p:cNvSpPr txBox="1"/>
          <p:nvPr/>
        </p:nvSpPr>
        <p:spPr>
          <a:xfrm>
            <a:off x="1186891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9.1</a:t>
            </a:r>
          </a:p>
        </p:txBody>
      </p:sp>
      <p:sp>
        <p:nvSpPr>
          <p:cNvPr id="27" name="Rectangle 26"/>
          <p:cNvSpPr/>
          <p:nvPr/>
        </p:nvSpPr>
        <p:spPr>
          <a:xfrm>
            <a:off x="731520" y="4032504"/>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114800"/>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형폭 [m]</a:t>
            </a:r>
          </a:p>
        </p:txBody>
      </p:sp>
      <p:sp>
        <p:nvSpPr>
          <p:cNvPr id="29" name="TextBox 28"/>
          <p:cNvSpPr txBox="1"/>
          <p:nvPr/>
        </p:nvSpPr>
        <p:spPr>
          <a:xfrm>
            <a:off x="345643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6.30</a:t>
            </a:r>
          </a:p>
        </p:txBody>
      </p:sp>
      <p:sp>
        <p:nvSpPr>
          <p:cNvPr id="30" name="TextBox 29"/>
          <p:cNvSpPr txBox="1"/>
          <p:nvPr/>
        </p:nvSpPr>
        <p:spPr>
          <a:xfrm>
            <a:off x="555955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3.30</a:t>
            </a:r>
          </a:p>
        </p:txBody>
      </p:sp>
      <p:sp>
        <p:nvSpPr>
          <p:cNvPr id="31" name="TextBox 30"/>
          <p:cNvSpPr txBox="1"/>
          <p:nvPr/>
        </p:nvSpPr>
        <p:spPr>
          <a:xfrm>
            <a:off x="766267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2.80</a:t>
            </a:r>
          </a:p>
        </p:txBody>
      </p:sp>
      <p:sp>
        <p:nvSpPr>
          <p:cNvPr id="32" name="TextBox 31"/>
          <p:cNvSpPr txBox="1"/>
          <p:nvPr/>
        </p:nvSpPr>
        <p:spPr>
          <a:xfrm>
            <a:off x="976579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2.30</a:t>
            </a:r>
          </a:p>
        </p:txBody>
      </p:sp>
      <p:sp>
        <p:nvSpPr>
          <p:cNvPr id="33" name="TextBox 32"/>
          <p:cNvSpPr txBox="1"/>
          <p:nvPr/>
        </p:nvSpPr>
        <p:spPr>
          <a:xfrm>
            <a:off x="1186891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3.00</a:t>
            </a:r>
          </a:p>
        </p:txBody>
      </p:sp>
      <p:sp>
        <p:nvSpPr>
          <p:cNvPr id="34" name="Rectangle 33"/>
          <p:cNvSpPr/>
          <p:nvPr/>
        </p:nvSpPr>
        <p:spPr>
          <a:xfrm>
            <a:off x="731520" y="4572000"/>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654296"/>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형심 [m]</a:t>
            </a:r>
          </a:p>
        </p:txBody>
      </p:sp>
      <p:sp>
        <p:nvSpPr>
          <p:cNvPr id="36" name="TextBox 35"/>
          <p:cNvSpPr txBox="1"/>
          <p:nvPr/>
        </p:nvSpPr>
        <p:spPr>
          <a:xfrm>
            <a:off x="345643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1.50</a:t>
            </a:r>
          </a:p>
        </p:txBody>
      </p:sp>
      <p:sp>
        <p:nvSpPr>
          <p:cNvPr id="37" name="TextBox 36"/>
          <p:cNvSpPr txBox="1"/>
          <p:nvPr/>
        </p:nvSpPr>
        <p:spPr>
          <a:xfrm>
            <a:off x="555955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1.00</a:t>
            </a:r>
          </a:p>
        </p:txBody>
      </p:sp>
      <p:sp>
        <p:nvSpPr>
          <p:cNvPr id="38" name="TextBox 37"/>
          <p:cNvSpPr txBox="1"/>
          <p:nvPr/>
        </p:nvSpPr>
        <p:spPr>
          <a:xfrm>
            <a:off x="766267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0.80</a:t>
            </a:r>
          </a:p>
        </p:txBody>
      </p:sp>
      <p:sp>
        <p:nvSpPr>
          <p:cNvPr id="39" name="TextBox 38"/>
          <p:cNvSpPr txBox="1"/>
          <p:nvPr/>
        </p:nvSpPr>
        <p:spPr>
          <a:xfrm>
            <a:off x="976579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0.70</a:t>
            </a:r>
          </a:p>
        </p:txBody>
      </p:sp>
      <p:sp>
        <p:nvSpPr>
          <p:cNvPr id="40" name="TextBox 39"/>
          <p:cNvSpPr txBox="1"/>
          <p:nvPr/>
        </p:nvSpPr>
        <p:spPr>
          <a:xfrm>
            <a:off x="1186891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0.70</a:t>
            </a:r>
          </a:p>
        </p:txBody>
      </p:sp>
      <p:sp>
        <p:nvSpPr>
          <p:cNvPr id="41" name="Rectangle 40"/>
          <p:cNvSpPr/>
          <p:nvPr/>
        </p:nvSpPr>
        <p:spPr>
          <a:xfrm>
            <a:off x="731520" y="5111496"/>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193792"/>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흘수 [m]</a:t>
            </a:r>
          </a:p>
        </p:txBody>
      </p:sp>
      <p:sp>
        <p:nvSpPr>
          <p:cNvPr id="43" name="TextBox 42"/>
          <p:cNvSpPr txBox="1"/>
          <p:nvPr/>
        </p:nvSpPr>
        <p:spPr>
          <a:xfrm>
            <a:off x="345643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0.80</a:t>
            </a:r>
          </a:p>
        </p:txBody>
      </p:sp>
      <p:sp>
        <p:nvSpPr>
          <p:cNvPr id="44" name="TextBox 43"/>
          <p:cNvSpPr txBox="1"/>
          <p:nvPr/>
        </p:nvSpPr>
        <p:spPr>
          <a:xfrm>
            <a:off x="555955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0.70</a:t>
            </a:r>
          </a:p>
        </p:txBody>
      </p:sp>
      <p:sp>
        <p:nvSpPr>
          <p:cNvPr id="45" name="TextBox 44"/>
          <p:cNvSpPr txBox="1"/>
          <p:nvPr/>
        </p:nvSpPr>
        <p:spPr>
          <a:xfrm>
            <a:off x="766267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0.55</a:t>
            </a:r>
          </a:p>
        </p:txBody>
      </p:sp>
      <p:sp>
        <p:nvSpPr>
          <p:cNvPr id="46" name="TextBox 45"/>
          <p:cNvSpPr txBox="1"/>
          <p:nvPr/>
        </p:nvSpPr>
        <p:spPr>
          <a:xfrm>
            <a:off x="976579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0.50</a:t>
            </a:r>
          </a:p>
        </p:txBody>
      </p:sp>
      <p:sp>
        <p:nvSpPr>
          <p:cNvPr id="47" name="TextBox 46"/>
          <p:cNvSpPr txBox="1"/>
          <p:nvPr/>
        </p:nvSpPr>
        <p:spPr>
          <a:xfrm>
            <a:off x="1186891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0.45</a:t>
            </a:r>
          </a:p>
        </p:txBody>
      </p:sp>
      <p:sp>
        <p:nvSpPr>
          <p:cNvPr id="48" name="Rectangle 47"/>
          <p:cNvSpPr/>
          <p:nvPr/>
        </p:nvSpPr>
        <p:spPr>
          <a:xfrm>
            <a:off x="731520" y="565099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73328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승선인원 [인]</a:t>
            </a:r>
          </a:p>
        </p:txBody>
      </p:sp>
      <p:sp>
        <p:nvSpPr>
          <p:cNvPr id="50" name="TextBox 49"/>
          <p:cNvSpPr txBox="1"/>
          <p:nvPr/>
        </p:nvSpPr>
        <p:spPr>
          <a:xfrm>
            <a:off x="345643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13</a:t>
            </a:r>
          </a:p>
        </p:txBody>
      </p:sp>
      <p:sp>
        <p:nvSpPr>
          <p:cNvPr id="51" name="TextBox 50"/>
          <p:cNvSpPr txBox="1"/>
          <p:nvPr/>
        </p:nvSpPr>
        <p:spPr>
          <a:xfrm>
            <a:off x="555955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13</a:t>
            </a:r>
          </a:p>
        </p:txBody>
      </p:sp>
      <p:sp>
        <p:nvSpPr>
          <p:cNvPr id="52" name="TextBox 51"/>
          <p:cNvSpPr txBox="1"/>
          <p:nvPr/>
        </p:nvSpPr>
        <p:spPr>
          <a:xfrm>
            <a:off x="766267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9</a:t>
            </a:r>
          </a:p>
        </p:txBody>
      </p:sp>
      <p:sp>
        <p:nvSpPr>
          <p:cNvPr id="53" name="TextBox 52"/>
          <p:cNvSpPr txBox="1"/>
          <p:nvPr/>
        </p:nvSpPr>
        <p:spPr>
          <a:xfrm>
            <a:off x="976579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a:t>
            </a:r>
          </a:p>
        </p:txBody>
      </p:sp>
      <p:sp>
        <p:nvSpPr>
          <p:cNvPr id="54" name="TextBox 53"/>
          <p:cNvSpPr txBox="1"/>
          <p:nvPr/>
        </p:nvSpPr>
        <p:spPr>
          <a:xfrm>
            <a:off x="1186891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6</a:t>
            </a:r>
          </a:p>
        </p:txBody>
      </p:sp>
      <p:sp>
        <p:nvSpPr>
          <p:cNvPr id="55" name="TextBox 54"/>
          <p:cNvSpPr txBox="1"/>
          <p:nvPr/>
        </p:nvSpPr>
        <p:spPr>
          <a:xfrm>
            <a:off x="822960" y="6812280"/>
            <a:ext cx="12801600" cy="457200"/>
          </a:xfrm>
          <a:prstGeom prst="rect">
            <a:avLst/>
          </a:prstGeom>
          <a:noFill/>
        </p:spPr>
        <p:txBody>
          <a:bodyPr wrap="square" lIns="0" rIns="0" tIns="0" bIns="0">
            <a:spAutoFit/>
          </a:bodyPr>
          <a:lstStyle/>
          <a:p>
            <a:pPr>
              <a:spcAft>
                <a:spcPts val="1000"/>
              </a:spcAft>
              <a:defRPr sz="2000" b="0">
                <a:solidFill>
                  <a:srgbClr val="48D4DE"/>
                </a:solidFill>
                <a:latin typeface="Noto Sans CJK KR"/>
              </a:defRPr>
            </a:pPr>
            <a:r>
              <a:t>선체 / 알루미늄 합금</a:t>
            </a:r>
          </a:p>
        </p:txBody>
      </p:sp>
      <p:pic>
        <p:nvPicPr>
          <p:cNvPr id="57"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55" name="Picture 54"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BASELINE</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기존 추진·운항성능</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07</a:t>
            </a:r>
          </a:p>
        </p:txBody>
      </p:sp>
      <p:sp>
        <p:nvSpPr>
          <p:cNvPr id="7" name="TextBox 6"/>
          <p:cNvSpPr txBox="1"/>
          <p:nvPr/>
        </p:nvSpPr>
        <p:spPr>
          <a:xfrm>
            <a:off x="804672" y="2468880"/>
            <a:ext cx="2560320"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구분</a:t>
            </a:r>
          </a:p>
        </p:txBody>
      </p:sp>
      <p:sp>
        <p:nvSpPr>
          <p:cNvPr id="8" name="TextBox 7"/>
          <p:cNvSpPr txBox="1"/>
          <p:nvPr/>
        </p:nvSpPr>
        <p:spPr>
          <a:xfrm>
            <a:off x="345643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A</a:t>
            </a:r>
          </a:p>
        </p:txBody>
      </p:sp>
      <p:sp>
        <p:nvSpPr>
          <p:cNvPr id="9" name="TextBox 8"/>
          <p:cNvSpPr txBox="1"/>
          <p:nvPr/>
        </p:nvSpPr>
        <p:spPr>
          <a:xfrm>
            <a:off x="555955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관리선 B</a:t>
            </a:r>
          </a:p>
        </p:txBody>
      </p:sp>
      <p:sp>
        <p:nvSpPr>
          <p:cNvPr id="10" name="TextBox 9"/>
          <p:cNvSpPr txBox="1"/>
          <p:nvPr/>
        </p:nvSpPr>
        <p:spPr>
          <a:xfrm>
            <a:off x="766267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A</a:t>
            </a:r>
          </a:p>
        </p:txBody>
      </p:sp>
      <p:sp>
        <p:nvSpPr>
          <p:cNvPr id="11" name="TextBox 10"/>
          <p:cNvSpPr txBox="1"/>
          <p:nvPr/>
        </p:nvSpPr>
        <p:spPr>
          <a:xfrm>
            <a:off x="976579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순시선 B</a:t>
            </a:r>
          </a:p>
        </p:txBody>
      </p:sp>
      <p:sp>
        <p:nvSpPr>
          <p:cNvPr id="12" name="TextBox 11"/>
          <p:cNvSpPr txBox="1"/>
          <p:nvPr/>
        </p:nvSpPr>
        <p:spPr>
          <a:xfrm>
            <a:off x="11868912" y="2468880"/>
            <a:ext cx="2011679" cy="365760"/>
          </a:xfrm>
          <a:prstGeom prst="rect">
            <a:avLst/>
          </a:prstGeom>
          <a:noFill/>
        </p:spPr>
        <p:txBody>
          <a:bodyPr wrap="square" lIns="0" rIns="0" tIns="0" bIns="0">
            <a:spAutoFit/>
          </a:bodyPr>
          <a:lstStyle/>
          <a:p>
            <a:pPr>
              <a:spcAft>
                <a:spcPts val="1000"/>
              </a:spcAft>
              <a:defRPr sz="1600" b="1">
                <a:solidFill>
                  <a:srgbClr val="48D4DE"/>
                </a:solidFill>
                <a:latin typeface="Noto Sans CJK KR"/>
              </a:defRPr>
            </a:pPr>
            <a:r>
              <a:t>작업선</a:t>
            </a:r>
          </a:p>
        </p:txBody>
      </p:sp>
      <p:sp>
        <p:nvSpPr>
          <p:cNvPr id="13" name="Rectangle 12"/>
          <p:cNvSpPr/>
          <p:nvPr/>
        </p:nvSpPr>
        <p:spPr>
          <a:xfrm>
            <a:off x="731520" y="295351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03580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주기관 형식</a:t>
            </a:r>
          </a:p>
        </p:txBody>
      </p:sp>
      <p:sp>
        <p:nvSpPr>
          <p:cNvPr id="15" name="TextBox 14"/>
          <p:cNvSpPr txBox="1"/>
          <p:nvPr/>
        </p:nvSpPr>
        <p:spPr>
          <a:xfrm>
            <a:off x="345643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선내기(디젤)</a:t>
            </a:r>
          </a:p>
        </p:txBody>
      </p:sp>
      <p:sp>
        <p:nvSpPr>
          <p:cNvPr id="16" name="TextBox 15"/>
          <p:cNvSpPr txBox="1"/>
          <p:nvPr/>
        </p:nvSpPr>
        <p:spPr>
          <a:xfrm>
            <a:off x="555955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선내기(디젤)</a:t>
            </a:r>
          </a:p>
        </p:txBody>
      </p:sp>
      <p:sp>
        <p:nvSpPr>
          <p:cNvPr id="17" name="TextBox 16"/>
          <p:cNvSpPr txBox="1"/>
          <p:nvPr/>
        </p:nvSpPr>
        <p:spPr>
          <a:xfrm>
            <a:off x="766267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선외기(가솔린)</a:t>
            </a:r>
          </a:p>
        </p:txBody>
      </p:sp>
      <p:sp>
        <p:nvSpPr>
          <p:cNvPr id="18" name="TextBox 17"/>
          <p:cNvSpPr txBox="1"/>
          <p:nvPr/>
        </p:nvSpPr>
        <p:spPr>
          <a:xfrm>
            <a:off x="976579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선외기(가솔린)</a:t>
            </a:r>
          </a:p>
        </p:txBody>
      </p:sp>
      <p:sp>
        <p:nvSpPr>
          <p:cNvPr id="19" name="TextBox 18"/>
          <p:cNvSpPr txBox="1"/>
          <p:nvPr/>
        </p:nvSpPr>
        <p:spPr>
          <a:xfrm>
            <a:off x="11868912" y="303580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선외기(가솔린)</a:t>
            </a:r>
          </a:p>
        </p:txBody>
      </p:sp>
      <p:sp>
        <p:nvSpPr>
          <p:cNvPr id="20" name="Rectangle 19"/>
          <p:cNvSpPr/>
          <p:nvPr/>
        </p:nvSpPr>
        <p:spPr>
          <a:xfrm>
            <a:off x="731520" y="3493008"/>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575304"/>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주기관 출력</a:t>
            </a:r>
          </a:p>
        </p:txBody>
      </p:sp>
      <p:sp>
        <p:nvSpPr>
          <p:cNvPr id="22" name="TextBox 21"/>
          <p:cNvSpPr txBox="1"/>
          <p:nvPr/>
        </p:nvSpPr>
        <p:spPr>
          <a:xfrm>
            <a:off x="345643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700마력 × 2기</a:t>
            </a:r>
          </a:p>
        </p:txBody>
      </p:sp>
      <p:sp>
        <p:nvSpPr>
          <p:cNvPr id="23" name="TextBox 22"/>
          <p:cNvSpPr txBox="1"/>
          <p:nvPr/>
        </p:nvSpPr>
        <p:spPr>
          <a:xfrm>
            <a:off x="555955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440마력 × 2기</a:t>
            </a:r>
          </a:p>
        </p:txBody>
      </p:sp>
      <p:sp>
        <p:nvSpPr>
          <p:cNvPr id="24" name="TextBox 23"/>
          <p:cNvSpPr txBox="1"/>
          <p:nvPr/>
        </p:nvSpPr>
        <p:spPr>
          <a:xfrm>
            <a:off x="766267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200마력 × 2기</a:t>
            </a:r>
          </a:p>
        </p:txBody>
      </p:sp>
      <p:sp>
        <p:nvSpPr>
          <p:cNvPr id="25" name="TextBox 24"/>
          <p:cNvSpPr txBox="1"/>
          <p:nvPr/>
        </p:nvSpPr>
        <p:spPr>
          <a:xfrm>
            <a:off x="976579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200마력 × 1기</a:t>
            </a:r>
          </a:p>
        </p:txBody>
      </p:sp>
      <p:sp>
        <p:nvSpPr>
          <p:cNvPr id="26" name="TextBox 25"/>
          <p:cNvSpPr txBox="1"/>
          <p:nvPr/>
        </p:nvSpPr>
        <p:spPr>
          <a:xfrm>
            <a:off x="11868912" y="3575304"/>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200마력 × 1기</a:t>
            </a:r>
          </a:p>
        </p:txBody>
      </p:sp>
      <p:sp>
        <p:nvSpPr>
          <p:cNvPr id="27" name="Rectangle 26"/>
          <p:cNvSpPr/>
          <p:nvPr/>
        </p:nvSpPr>
        <p:spPr>
          <a:xfrm>
            <a:off x="731520" y="4032504"/>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114800"/>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추진기 형식</a:t>
            </a:r>
          </a:p>
        </p:txBody>
      </p:sp>
      <p:sp>
        <p:nvSpPr>
          <p:cNvPr id="29" name="TextBox 28"/>
          <p:cNvSpPr txBox="1"/>
          <p:nvPr/>
        </p:nvSpPr>
        <p:spPr>
          <a:xfrm>
            <a:off x="345643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워터제트 × 2기</a:t>
            </a:r>
          </a:p>
        </p:txBody>
      </p:sp>
      <p:sp>
        <p:nvSpPr>
          <p:cNvPr id="30" name="TextBox 29"/>
          <p:cNvSpPr txBox="1"/>
          <p:nvPr/>
        </p:nvSpPr>
        <p:spPr>
          <a:xfrm>
            <a:off x="555955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스턴드라이브 × 2기</a:t>
            </a:r>
          </a:p>
        </p:txBody>
      </p:sp>
      <p:sp>
        <p:nvSpPr>
          <p:cNvPr id="31" name="TextBox 30"/>
          <p:cNvSpPr txBox="1"/>
          <p:nvPr/>
        </p:nvSpPr>
        <p:spPr>
          <a:xfrm>
            <a:off x="766267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2" name="TextBox 31"/>
          <p:cNvSpPr txBox="1"/>
          <p:nvPr/>
        </p:nvSpPr>
        <p:spPr>
          <a:xfrm>
            <a:off x="976579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3" name="TextBox 32"/>
          <p:cNvSpPr txBox="1"/>
          <p:nvPr/>
        </p:nvSpPr>
        <p:spPr>
          <a:xfrm>
            <a:off x="11868912" y="4114800"/>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4" name="Rectangle 33"/>
          <p:cNvSpPr/>
          <p:nvPr/>
        </p:nvSpPr>
        <p:spPr>
          <a:xfrm>
            <a:off x="731520" y="4572000"/>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654296"/>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최대선속 [kts]</a:t>
            </a:r>
          </a:p>
        </p:txBody>
      </p:sp>
      <p:sp>
        <p:nvSpPr>
          <p:cNvPr id="36" name="TextBox 35"/>
          <p:cNvSpPr txBox="1"/>
          <p:nvPr/>
        </p:nvSpPr>
        <p:spPr>
          <a:xfrm>
            <a:off x="345643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37" name="TextBox 36"/>
          <p:cNvSpPr txBox="1"/>
          <p:nvPr/>
        </p:nvSpPr>
        <p:spPr>
          <a:xfrm>
            <a:off x="555955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38" name="TextBox 37"/>
          <p:cNvSpPr txBox="1"/>
          <p:nvPr/>
        </p:nvSpPr>
        <p:spPr>
          <a:xfrm>
            <a:off x="766267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30</a:t>
            </a:r>
          </a:p>
        </p:txBody>
      </p:sp>
      <p:sp>
        <p:nvSpPr>
          <p:cNvPr id="39" name="TextBox 38"/>
          <p:cNvSpPr txBox="1"/>
          <p:nvPr/>
        </p:nvSpPr>
        <p:spPr>
          <a:xfrm>
            <a:off x="976579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30</a:t>
            </a:r>
          </a:p>
        </p:txBody>
      </p:sp>
      <p:sp>
        <p:nvSpPr>
          <p:cNvPr id="40" name="TextBox 39"/>
          <p:cNvSpPr txBox="1"/>
          <p:nvPr/>
        </p:nvSpPr>
        <p:spPr>
          <a:xfrm>
            <a:off x="11868912" y="4654296"/>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a:t>
            </a:r>
          </a:p>
        </p:txBody>
      </p:sp>
      <p:sp>
        <p:nvSpPr>
          <p:cNvPr id="41" name="Rectangle 40"/>
          <p:cNvSpPr/>
          <p:nvPr/>
        </p:nvSpPr>
        <p:spPr>
          <a:xfrm>
            <a:off x="731520" y="5111496"/>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193792"/>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운항선속 [kts]</a:t>
            </a:r>
          </a:p>
        </p:txBody>
      </p:sp>
      <p:sp>
        <p:nvSpPr>
          <p:cNvPr id="43" name="TextBox 42"/>
          <p:cNvSpPr txBox="1"/>
          <p:nvPr/>
        </p:nvSpPr>
        <p:spPr>
          <a:xfrm>
            <a:off x="345643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a:t>
            </a:r>
          </a:p>
        </p:txBody>
      </p:sp>
      <p:sp>
        <p:nvSpPr>
          <p:cNvPr id="44" name="TextBox 43"/>
          <p:cNvSpPr txBox="1"/>
          <p:nvPr/>
        </p:nvSpPr>
        <p:spPr>
          <a:xfrm>
            <a:off x="555955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20</a:t>
            </a:r>
          </a:p>
        </p:txBody>
      </p:sp>
      <p:sp>
        <p:nvSpPr>
          <p:cNvPr id="45" name="TextBox 44"/>
          <p:cNvSpPr txBox="1"/>
          <p:nvPr/>
        </p:nvSpPr>
        <p:spPr>
          <a:xfrm>
            <a:off x="766267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46" name="TextBox 45"/>
          <p:cNvSpPr txBox="1"/>
          <p:nvPr/>
        </p:nvSpPr>
        <p:spPr>
          <a:xfrm>
            <a:off x="976579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25</a:t>
            </a:r>
          </a:p>
        </p:txBody>
      </p:sp>
      <p:sp>
        <p:nvSpPr>
          <p:cNvPr id="47" name="TextBox 46"/>
          <p:cNvSpPr txBox="1"/>
          <p:nvPr/>
        </p:nvSpPr>
        <p:spPr>
          <a:xfrm>
            <a:off x="11868912" y="5193792"/>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a:t>
            </a:r>
          </a:p>
        </p:txBody>
      </p:sp>
      <p:sp>
        <p:nvSpPr>
          <p:cNvPr id="48" name="Rectangle 47"/>
          <p:cNvSpPr/>
          <p:nvPr/>
        </p:nvSpPr>
        <p:spPr>
          <a:xfrm>
            <a:off x="731520" y="5650992"/>
            <a:ext cx="13167360" cy="9144"/>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733288"/>
            <a:ext cx="2560320" cy="365760"/>
          </a:xfrm>
          <a:prstGeom prst="rect">
            <a:avLst/>
          </a:prstGeom>
          <a:noFill/>
        </p:spPr>
        <p:txBody>
          <a:bodyPr wrap="square" lIns="0" rIns="0" tIns="0" bIns="0">
            <a:spAutoFit/>
          </a:bodyPr>
          <a:lstStyle/>
          <a:p>
            <a:pPr>
              <a:spcAft>
                <a:spcPts val="1000"/>
              </a:spcAft>
              <a:defRPr sz="1500" b="0">
                <a:solidFill>
                  <a:srgbClr val="8FA5B8"/>
                </a:solidFill>
                <a:latin typeface="Noto Sans CJK KR"/>
              </a:defRPr>
            </a:pPr>
            <a:r>
              <a:t>항속거리</a:t>
            </a:r>
          </a:p>
        </p:txBody>
      </p:sp>
      <p:sp>
        <p:nvSpPr>
          <p:cNvPr id="50" name="TextBox 49"/>
          <p:cNvSpPr txBox="1"/>
          <p:nvPr/>
        </p:nvSpPr>
        <p:spPr>
          <a:xfrm>
            <a:off x="345643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150km (80NM)</a:t>
            </a:r>
          </a:p>
        </p:txBody>
      </p:sp>
      <p:sp>
        <p:nvSpPr>
          <p:cNvPr id="51" name="TextBox 50"/>
          <p:cNvSpPr txBox="1"/>
          <p:nvPr/>
        </p:nvSpPr>
        <p:spPr>
          <a:xfrm>
            <a:off x="555955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150km (80NM)</a:t>
            </a:r>
          </a:p>
        </p:txBody>
      </p:sp>
      <p:sp>
        <p:nvSpPr>
          <p:cNvPr id="52" name="TextBox 51"/>
          <p:cNvSpPr txBox="1"/>
          <p:nvPr/>
        </p:nvSpPr>
        <p:spPr>
          <a:xfrm>
            <a:off x="766267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185km (100NM)</a:t>
            </a:r>
          </a:p>
        </p:txBody>
      </p:sp>
      <p:sp>
        <p:nvSpPr>
          <p:cNvPr id="53" name="TextBox 52"/>
          <p:cNvSpPr txBox="1"/>
          <p:nvPr/>
        </p:nvSpPr>
        <p:spPr>
          <a:xfrm>
            <a:off x="976579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185km (100NM)</a:t>
            </a:r>
          </a:p>
        </p:txBody>
      </p:sp>
      <p:sp>
        <p:nvSpPr>
          <p:cNvPr id="54" name="TextBox 53"/>
          <p:cNvSpPr txBox="1"/>
          <p:nvPr/>
        </p:nvSpPr>
        <p:spPr>
          <a:xfrm>
            <a:off x="11868912" y="5733288"/>
            <a:ext cx="1920240" cy="402336"/>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55km (30NM)</a:t>
            </a:r>
          </a:p>
        </p:txBody>
      </p:sp>
      <p:pic>
        <p:nvPicPr>
          <p:cNvPr id="56"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0" name="Picture 19"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REQUIREMENTS</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운항조건 → 요구성능</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08</a:t>
            </a:r>
          </a:p>
        </p:txBody>
      </p:sp>
      <p:sp>
        <p:nvSpPr>
          <p:cNvPr id="7" name="Rectangle 6"/>
          <p:cNvSpPr/>
          <p:nvPr/>
        </p:nvSpPr>
        <p:spPr>
          <a:xfrm>
            <a:off x="731520" y="256032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88036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거리·시간</a:t>
            </a:r>
          </a:p>
        </p:txBody>
      </p:sp>
      <p:sp>
        <p:nvSpPr>
          <p:cNvPr id="9" name="TextBox 8"/>
          <p:cNvSpPr txBox="1"/>
          <p:nvPr/>
        </p:nvSpPr>
        <p:spPr>
          <a:xfrm>
            <a:off x="4855464" y="2926079"/>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0" name="Rectangle 9"/>
          <p:cNvSpPr/>
          <p:nvPr/>
        </p:nvSpPr>
        <p:spPr>
          <a:xfrm>
            <a:off x="5120640" y="256032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800" y="288036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속력·빈도</a:t>
            </a:r>
          </a:p>
        </p:txBody>
      </p:sp>
      <p:sp>
        <p:nvSpPr>
          <p:cNvPr id="12" name="TextBox 11"/>
          <p:cNvSpPr txBox="1"/>
          <p:nvPr/>
        </p:nvSpPr>
        <p:spPr>
          <a:xfrm>
            <a:off x="9244584" y="2926079"/>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3" name="Rectangle 12"/>
          <p:cNvSpPr/>
          <p:nvPr/>
        </p:nvSpPr>
        <p:spPr>
          <a:xfrm>
            <a:off x="9509760" y="256032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20" y="288036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충전시설</a:t>
            </a:r>
          </a:p>
        </p:txBody>
      </p:sp>
      <p:sp>
        <p:nvSpPr>
          <p:cNvPr id="15" name="TextBox 14"/>
          <p:cNvSpPr txBox="1"/>
          <p:nvPr/>
        </p:nvSpPr>
        <p:spPr>
          <a:xfrm>
            <a:off x="731520" y="4572000"/>
            <a:ext cx="6400800" cy="1280160"/>
          </a:xfrm>
          <a:prstGeom prst="rect">
            <a:avLst/>
          </a:prstGeom>
          <a:noFill/>
        </p:spPr>
        <p:txBody>
          <a:bodyPr wrap="square" lIns="0" rIns="0" tIns="0" bIns="0">
            <a:spAutoFit/>
          </a:bodyPr>
          <a:lstStyle/>
          <a:p>
            <a:pPr>
              <a:spcAft>
                <a:spcPts val="1000"/>
              </a:spcAft>
              <a:defRPr sz="7500" b="1">
                <a:solidFill>
                  <a:srgbClr val="48D4DE"/>
                </a:solidFill>
                <a:latin typeface="Noto Sans CJK KR"/>
              </a:defRPr>
            </a:pPr>
            <a:r>
              <a:t>20–30</a:t>
            </a:r>
          </a:p>
        </p:txBody>
      </p:sp>
      <p:sp>
        <p:nvSpPr>
          <p:cNvPr id="16" name="TextBox 15"/>
          <p:cNvSpPr txBox="1"/>
          <p:nvPr/>
        </p:nvSpPr>
        <p:spPr>
          <a:xfrm>
            <a:off x="822960" y="5943600"/>
            <a:ext cx="6400800" cy="548640"/>
          </a:xfrm>
          <a:prstGeom prst="rect">
            <a:avLst/>
          </a:prstGeom>
          <a:noFill/>
        </p:spPr>
        <p:txBody>
          <a:bodyPr wrap="square" lIns="0" rIns="0" tIns="0" bIns="0">
            <a:spAutoFit/>
          </a:bodyPr>
          <a:lstStyle/>
          <a:p>
            <a:pPr>
              <a:spcAft>
                <a:spcPts val="1000"/>
              </a:spcAft>
              <a:defRPr sz="2200" b="0">
                <a:solidFill>
                  <a:srgbClr val="8FA5B8"/>
                </a:solidFill>
                <a:latin typeface="Noto Sans CJK KR"/>
              </a:defRPr>
            </a:pPr>
            <a:r>
              <a:t>kts / 원문 요구 선속</a:t>
            </a:r>
          </a:p>
        </p:txBody>
      </p:sp>
      <p:sp>
        <p:nvSpPr>
          <p:cNvPr id="17" name="TextBox 16"/>
          <p:cNvSpPr txBox="1"/>
          <p:nvPr/>
        </p:nvSpPr>
        <p:spPr>
          <a:xfrm>
            <a:off x="7315200" y="4572000"/>
            <a:ext cx="6400800" cy="1280160"/>
          </a:xfrm>
          <a:prstGeom prst="rect">
            <a:avLst/>
          </a:prstGeom>
          <a:noFill/>
        </p:spPr>
        <p:txBody>
          <a:bodyPr wrap="square" lIns="0" rIns="0" tIns="0" bIns="0">
            <a:spAutoFit/>
          </a:bodyPr>
          <a:lstStyle/>
          <a:p>
            <a:pPr>
              <a:spcAft>
                <a:spcPts val="1000"/>
              </a:spcAft>
              <a:defRPr sz="7500" b="1">
                <a:solidFill>
                  <a:srgbClr val="48D4DE"/>
                </a:solidFill>
                <a:latin typeface="Noto Sans CJK KR"/>
              </a:defRPr>
            </a:pPr>
            <a:r>
              <a:t>55–185</a:t>
            </a:r>
          </a:p>
        </p:txBody>
      </p:sp>
      <p:sp>
        <p:nvSpPr>
          <p:cNvPr id="18" name="TextBox 17"/>
          <p:cNvSpPr txBox="1"/>
          <p:nvPr/>
        </p:nvSpPr>
        <p:spPr>
          <a:xfrm>
            <a:off x="7315200" y="5943600"/>
            <a:ext cx="6400800" cy="548640"/>
          </a:xfrm>
          <a:prstGeom prst="rect">
            <a:avLst/>
          </a:prstGeom>
          <a:noFill/>
        </p:spPr>
        <p:txBody>
          <a:bodyPr wrap="square" lIns="0" rIns="0" tIns="0" bIns="0">
            <a:spAutoFit/>
          </a:bodyPr>
          <a:lstStyle/>
          <a:p>
            <a:pPr>
              <a:spcAft>
                <a:spcPts val="1000"/>
              </a:spcAft>
              <a:defRPr sz="2200" b="0">
                <a:solidFill>
                  <a:srgbClr val="8FA5B8"/>
                </a:solidFill>
                <a:latin typeface="Noto Sans CJK KR"/>
              </a:defRPr>
            </a:pPr>
            <a:r>
              <a:t>km / 요구 항속거리</a:t>
            </a:r>
          </a:p>
        </p:txBody>
      </p:sp>
      <p:sp>
        <p:nvSpPr>
          <p:cNvPr id="19" name="TextBox 18"/>
          <p:cNvSpPr txBox="1"/>
          <p:nvPr/>
        </p:nvSpPr>
        <p:spPr>
          <a:xfrm>
            <a:off x="822960" y="6995160"/>
            <a:ext cx="12801600" cy="457200"/>
          </a:xfrm>
          <a:prstGeom prst="rect">
            <a:avLst/>
          </a:prstGeom>
          <a:noFill/>
        </p:spPr>
        <p:txBody>
          <a:bodyPr wrap="square" lIns="0" rIns="0" tIns="0" bIns="0">
            <a:spAutoFit/>
          </a:bodyPr>
          <a:lstStyle/>
          <a:p>
            <a:pPr>
              <a:spcAft>
                <a:spcPts val="1000"/>
              </a:spcAft>
              <a:defRPr sz="2000" b="0">
                <a:solidFill>
                  <a:srgbClr val="EFF4F8"/>
                </a:solidFill>
                <a:latin typeface="Noto Sans CJK KR"/>
              </a:defRPr>
            </a:pPr>
            <a:r>
              <a:t>전기추진 적용조건 / 선속 ↓ · 항속거리 ↓</a:t>
            </a:r>
          </a:p>
        </p:txBody>
      </p:sp>
      <p:pic>
        <p:nvPicPr>
          <p:cNvPr id="21"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3" name="Picture 22"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SYSTEM SIZING</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시스템 사양 산정</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09</a:t>
            </a:r>
          </a:p>
        </p:txBody>
      </p:sp>
      <p:sp>
        <p:nvSpPr>
          <p:cNvPr id="7" name="Rectangle 6"/>
          <p:cNvSpPr/>
          <p:nvPr/>
        </p:nvSpPr>
        <p:spPr>
          <a:xfrm>
            <a:off x="731520" y="274320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6324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추진출력</a:t>
            </a:r>
          </a:p>
        </p:txBody>
      </p:sp>
      <p:sp>
        <p:nvSpPr>
          <p:cNvPr id="9" name="TextBox 8"/>
          <p:cNvSpPr txBox="1"/>
          <p:nvPr/>
        </p:nvSpPr>
        <p:spPr>
          <a:xfrm>
            <a:off x="4855464" y="310896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0" name="Rectangle 9"/>
          <p:cNvSpPr/>
          <p:nvPr/>
        </p:nvSpPr>
        <p:spPr>
          <a:xfrm>
            <a:off x="5120640" y="274320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800" y="306324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전동기 용량</a:t>
            </a:r>
          </a:p>
        </p:txBody>
      </p:sp>
      <p:sp>
        <p:nvSpPr>
          <p:cNvPr id="12" name="TextBox 11"/>
          <p:cNvSpPr txBox="1"/>
          <p:nvPr/>
        </p:nvSpPr>
        <p:spPr>
          <a:xfrm>
            <a:off x="9244584" y="310896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3" name="Rectangle 12"/>
          <p:cNvSpPr/>
          <p:nvPr/>
        </p:nvSpPr>
        <p:spPr>
          <a:xfrm>
            <a:off x="9509760" y="274320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20" y="306324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운항 에너지</a:t>
            </a:r>
          </a:p>
        </p:txBody>
      </p:sp>
      <p:sp>
        <p:nvSpPr>
          <p:cNvPr id="15" name="Rectangle 14"/>
          <p:cNvSpPr/>
          <p:nvPr/>
        </p:nvSpPr>
        <p:spPr>
          <a:xfrm>
            <a:off x="731520" y="530352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623559"/>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배터리 용량</a:t>
            </a:r>
          </a:p>
        </p:txBody>
      </p:sp>
      <p:sp>
        <p:nvSpPr>
          <p:cNvPr id="17" name="TextBox 16"/>
          <p:cNvSpPr txBox="1"/>
          <p:nvPr/>
        </p:nvSpPr>
        <p:spPr>
          <a:xfrm>
            <a:off x="4855464" y="566928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8" name="Rectangle 17"/>
          <p:cNvSpPr/>
          <p:nvPr/>
        </p:nvSpPr>
        <p:spPr>
          <a:xfrm>
            <a:off x="5120640" y="530352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5623559"/>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충전시간</a:t>
            </a:r>
          </a:p>
        </p:txBody>
      </p:sp>
      <p:sp>
        <p:nvSpPr>
          <p:cNvPr id="20" name="TextBox 19"/>
          <p:cNvSpPr txBox="1"/>
          <p:nvPr/>
        </p:nvSpPr>
        <p:spPr>
          <a:xfrm>
            <a:off x="9244584" y="566928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21" name="Rectangle 20"/>
          <p:cNvSpPr/>
          <p:nvPr/>
        </p:nvSpPr>
        <p:spPr>
          <a:xfrm>
            <a:off x="9509760" y="530352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5623559"/>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중량·체적</a:t>
            </a:r>
          </a:p>
        </p:txBody>
      </p:sp>
      <p:pic>
        <p:nvPicPr>
          <p:cNvPr id="24"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2" name="Picture 21"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FEASIBILITY</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탑재 적용성</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10</a:t>
            </a:r>
          </a:p>
        </p:txBody>
      </p:sp>
      <p:sp>
        <p:nvSpPr>
          <p:cNvPr id="7" name="TextBox 6"/>
          <p:cNvSpPr txBox="1"/>
          <p:nvPr/>
        </p:nvSpPr>
        <p:spPr>
          <a:xfrm>
            <a:off x="822960" y="2743200"/>
            <a:ext cx="438912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검토 대상</a:t>
            </a:r>
          </a:p>
        </p:txBody>
      </p:sp>
      <p:sp>
        <p:nvSpPr>
          <p:cNvPr id="8" name="TextBox 7"/>
          <p:cNvSpPr txBox="1"/>
          <p:nvPr/>
        </p:nvSpPr>
        <p:spPr>
          <a:xfrm>
            <a:off x="5394959" y="2743200"/>
            <a:ext cx="841248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검토 항목</a:t>
            </a:r>
          </a:p>
        </p:txBody>
      </p:sp>
      <p:sp>
        <p:nvSpPr>
          <p:cNvPr id="9" name="Rectangle 8"/>
          <p:cNvSpPr/>
          <p:nvPr/>
        </p:nvSpPr>
        <p:spPr>
          <a:xfrm>
            <a:off x="731520" y="328269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64992"/>
            <a:ext cx="43891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배터리</a:t>
            </a:r>
          </a:p>
        </p:txBody>
      </p:sp>
      <p:sp>
        <p:nvSpPr>
          <p:cNvPr id="11" name="TextBox 10"/>
          <p:cNvSpPr txBox="1"/>
          <p:nvPr/>
        </p:nvSpPr>
        <p:spPr>
          <a:xfrm>
            <a:off x="5394959" y="3364992"/>
            <a:ext cx="84124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탑재공간</a:t>
            </a:r>
          </a:p>
        </p:txBody>
      </p:sp>
      <p:sp>
        <p:nvSpPr>
          <p:cNvPr id="12" name="Rectangle 11"/>
          <p:cNvSpPr/>
          <p:nvPr/>
        </p:nvSpPr>
        <p:spPr>
          <a:xfrm>
            <a:off x="731520" y="390448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86784"/>
            <a:ext cx="43891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전기추진</a:t>
            </a:r>
          </a:p>
        </p:txBody>
      </p:sp>
      <p:sp>
        <p:nvSpPr>
          <p:cNvPr id="14" name="TextBox 13"/>
          <p:cNvSpPr txBox="1"/>
          <p:nvPr/>
        </p:nvSpPr>
        <p:spPr>
          <a:xfrm>
            <a:off x="5394959" y="3986784"/>
            <a:ext cx="84124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선박기준</a:t>
            </a:r>
          </a:p>
        </p:txBody>
      </p:sp>
      <p:sp>
        <p:nvSpPr>
          <p:cNvPr id="15" name="Rectangle 14"/>
          <p:cNvSpPr/>
          <p:nvPr/>
        </p:nvSpPr>
        <p:spPr>
          <a:xfrm>
            <a:off x="731520" y="4526280"/>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08576"/>
            <a:ext cx="43891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선체</a:t>
            </a:r>
          </a:p>
        </p:txBody>
      </p:sp>
      <p:sp>
        <p:nvSpPr>
          <p:cNvPr id="17" name="TextBox 16"/>
          <p:cNvSpPr txBox="1"/>
          <p:nvPr/>
        </p:nvSpPr>
        <p:spPr>
          <a:xfrm>
            <a:off x="5394959" y="4608576"/>
            <a:ext cx="84124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중량·복원성</a:t>
            </a:r>
          </a:p>
        </p:txBody>
      </p:sp>
      <p:sp>
        <p:nvSpPr>
          <p:cNvPr id="18" name="Rectangle 17"/>
          <p:cNvSpPr/>
          <p:nvPr/>
        </p:nvSpPr>
        <p:spPr>
          <a:xfrm>
            <a:off x="731520" y="5148072"/>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230368"/>
            <a:ext cx="43891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배치</a:t>
            </a:r>
          </a:p>
        </p:txBody>
      </p:sp>
      <p:sp>
        <p:nvSpPr>
          <p:cNvPr id="20" name="TextBox 19"/>
          <p:cNvSpPr txBox="1"/>
          <p:nvPr/>
        </p:nvSpPr>
        <p:spPr>
          <a:xfrm>
            <a:off x="5394959" y="5230368"/>
            <a:ext cx="84124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일반배치</a:t>
            </a:r>
          </a:p>
        </p:txBody>
      </p:sp>
      <p:sp>
        <p:nvSpPr>
          <p:cNvPr id="21" name="Rectangle 20"/>
          <p:cNvSpPr/>
          <p:nvPr/>
        </p:nvSpPr>
        <p:spPr>
          <a:xfrm>
            <a:off x="731520" y="5769864"/>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3" name="Picture 22"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DECISION</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추진방식 선정</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11</a:t>
            </a:r>
          </a:p>
        </p:txBody>
      </p:sp>
      <p:sp>
        <p:nvSpPr>
          <p:cNvPr id="7" name="Rectangle 6"/>
          <p:cNvSpPr/>
          <p:nvPr/>
        </p:nvSpPr>
        <p:spPr>
          <a:xfrm>
            <a:off x="731520" y="2651760"/>
            <a:ext cx="306324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971800"/>
            <a:ext cx="278892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운항여건</a:t>
            </a:r>
          </a:p>
        </p:txBody>
      </p:sp>
      <p:sp>
        <p:nvSpPr>
          <p:cNvPr id="9" name="TextBox 8"/>
          <p:cNvSpPr txBox="1"/>
          <p:nvPr/>
        </p:nvSpPr>
        <p:spPr>
          <a:xfrm>
            <a:off x="3758184" y="301752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0" name="Rectangle 9"/>
          <p:cNvSpPr/>
          <p:nvPr/>
        </p:nvSpPr>
        <p:spPr>
          <a:xfrm>
            <a:off x="4023360" y="2651760"/>
            <a:ext cx="306324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2971800"/>
            <a:ext cx="278892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요구성능</a:t>
            </a:r>
          </a:p>
        </p:txBody>
      </p:sp>
      <p:sp>
        <p:nvSpPr>
          <p:cNvPr id="12" name="TextBox 11"/>
          <p:cNvSpPr txBox="1"/>
          <p:nvPr/>
        </p:nvSpPr>
        <p:spPr>
          <a:xfrm>
            <a:off x="7050024" y="301752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3" name="Rectangle 12"/>
          <p:cNvSpPr/>
          <p:nvPr/>
        </p:nvSpPr>
        <p:spPr>
          <a:xfrm>
            <a:off x="7315200" y="2651760"/>
            <a:ext cx="306324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60" y="2971800"/>
            <a:ext cx="278892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시스템 사양</a:t>
            </a:r>
          </a:p>
        </p:txBody>
      </p:sp>
      <p:sp>
        <p:nvSpPr>
          <p:cNvPr id="15" name="TextBox 14"/>
          <p:cNvSpPr txBox="1"/>
          <p:nvPr/>
        </p:nvSpPr>
        <p:spPr>
          <a:xfrm>
            <a:off x="10341864" y="301752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6" name="Rectangle 15"/>
          <p:cNvSpPr/>
          <p:nvPr/>
        </p:nvSpPr>
        <p:spPr>
          <a:xfrm>
            <a:off x="10607040" y="2651760"/>
            <a:ext cx="306324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44200" y="2971800"/>
            <a:ext cx="278892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제원 내 적용성</a:t>
            </a:r>
          </a:p>
        </p:txBody>
      </p:sp>
      <p:sp>
        <p:nvSpPr>
          <p:cNvPr id="18" name="TextBox 17"/>
          <p:cNvSpPr txBox="1"/>
          <p:nvPr/>
        </p:nvSpPr>
        <p:spPr>
          <a:xfrm>
            <a:off x="731520" y="4754880"/>
            <a:ext cx="5486400" cy="457200"/>
          </a:xfrm>
          <a:prstGeom prst="rect">
            <a:avLst/>
          </a:prstGeom>
          <a:noFill/>
        </p:spPr>
        <p:txBody>
          <a:bodyPr wrap="square" lIns="0" rIns="0" tIns="0" bIns="0">
            <a:spAutoFit/>
          </a:bodyPr>
          <a:lstStyle/>
          <a:p>
            <a:pPr>
              <a:spcAft>
                <a:spcPts val="1000"/>
              </a:spcAft>
              <a:defRPr sz="2200" b="0">
                <a:solidFill>
                  <a:srgbClr val="8FA5B8"/>
                </a:solidFill>
                <a:latin typeface="Noto Sans CJK KR"/>
              </a:defRPr>
            </a:pPr>
            <a:r>
              <a:t>적용 가능</a:t>
            </a:r>
          </a:p>
        </p:txBody>
      </p:sp>
      <p:sp>
        <p:nvSpPr>
          <p:cNvPr id="19" name="TextBox 18"/>
          <p:cNvSpPr txBox="1"/>
          <p:nvPr/>
        </p:nvSpPr>
        <p:spPr>
          <a:xfrm>
            <a:off x="731520" y="5486400"/>
            <a:ext cx="5486400" cy="914400"/>
          </a:xfrm>
          <a:prstGeom prst="rect">
            <a:avLst/>
          </a:prstGeom>
          <a:noFill/>
        </p:spPr>
        <p:txBody>
          <a:bodyPr wrap="square" lIns="0" rIns="0" tIns="0" bIns="0">
            <a:spAutoFit/>
          </a:bodyPr>
          <a:lstStyle/>
          <a:p>
            <a:pPr>
              <a:spcAft>
                <a:spcPts val="1000"/>
              </a:spcAft>
              <a:defRPr sz="4000" b="1">
                <a:solidFill>
                  <a:srgbClr val="48D4DE"/>
                </a:solidFill>
                <a:latin typeface="Noto Sans CJK KR"/>
              </a:defRPr>
            </a:pPr>
            <a:r>
              <a:t>전기추진</a:t>
            </a:r>
          </a:p>
        </p:txBody>
      </p:sp>
      <p:sp>
        <p:nvSpPr>
          <p:cNvPr id="20" name="TextBox 19"/>
          <p:cNvSpPr txBox="1"/>
          <p:nvPr/>
        </p:nvSpPr>
        <p:spPr>
          <a:xfrm>
            <a:off x="7315200" y="4754880"/>
            <a:ext cx="6400800" cy="457200"/>
          </a:xfrm>
          <a:prstGeom prst="rect">
            <a:avLst/>
          </a:prstGeom>
          <a:noFill/>
        </p:spPr>
        <p:txBody>
          <a:bodyPr wrap="square" lIns="0" rIns="0" tIns="0" bIns="0">
            <a:spAutoFit/>
          </a:bodyPr>
          <a:lstStyle/>
          <a:p>
            <a:pPr>
              <a:spcAft>
                <a:spcPts val="1000"/>
              </a:spcAft>
              <a:defRPr sz="2200" b="0">
                <a:solidFill>
                  <a:srgbClr val="8FA5B8"/>
                </a:solidFill>
                <a:latin typeface="Noto Sans CJK KR"/>
              </a:defRPr>
            </a:pPr>
            <a:r>
              <a:t>적용 곤란</a:t>
            </a:r>
          </a:p>
        </p:txBody>
      </p:sp>
      <p:sp>
        <p:nvSpPr>
          <p:cNvPr id="21" name="TextBox 20"/>
          <p:cNvSpPr txBox="1"/>
          <p:nvPr/>
        </p:nvSpPr>
        <p:spPr>
          <a:xfrm>
            <a:off x="7315200" y="5486400"/>
            <a:ext cx="6400800" cy="914400"/>
          </a:xfrm>
          <a:prstGeom prst="rect">
            <a:avLst/>
          </a:prstGeom>
          <a:noFill/>
        </p:spPr>
        <p:txBody>
          <a:bodyPr wrap="square" lIns="0" rIns="0" tIns="0" bIns="0">
            <a:spAutoFit/>
          </a:bodyPr>
          <a:lstStyle/>
          <a:p>
            <a:pPr>
              <a:spcAft>
                <a:spcPts val="1000"/>
              </a:spcAft>
              <a:defRPr sz="2600" b="0">
                <a:solidFill>
                  <a:srgbClr val="EFF4F8"/>
                </a:solidFill>
                <a:latin typeface="Noto Sans CJK KR"/>
              </a:defRPr>
            </a:pPr>
            <a:r>
              <a:t>제원·성능 최적화 ↶ 재검토</a:t>
            </a:r>
          </a:p>
        </p:txBody>
      </p:sp>
      <p:sp>
        <p:nvSpPr>
          <p:cNvPr id="22" name="TextBox 21"/>
          <p:cNvSpPr txBox="1"/>
          <p:nvPr/>
        </p:nvSpPr>
        <p:spPr>
          <a:xfrm>
            <a:off x="7315200" y="6583680"/>
            <a:ext cx="6400800" cy="64008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재검토 후에도 곤란 → 하이브리드</a:t>
            </a:r>
          </a:p>
        </p:txBody>
      </p:sp>
      <p:pic>
        <p:nvPicPr>
          <p:cNvPr id="24"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32" name="Picture 31"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CONCEPT</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선종별 추진방식 검토안</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12</a:t>
            </a:r>
          </a:p>
        </p:txBody>
      </p:sp>
      <p:sp>
        <p:nvSpPr>
          <p:cNvPr id="7" name="TextBox 6"/>
          <p:cNvSpPr txBox="1"/>
          <p:nvPr/>
        </p:nvSpPr>
        <p:spPr>
          <a:xfrm>
            <a:off x="822960" y="2606040"/>
            <a:ext cx="530352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선종</a:t>
            </a:r>
          </a:p>
        </p:txBody>
      </p:sp>
      <p:sp>
        <p:nvSpPr>
          <p:cNvPr id="8" name="TextBox 7"/>
          <p:cNvSpPr txBox="1"/>
          <p:nvPr/>
        </p:nvSpPr>
        <p:spPr>
          <a:xfrm>
            <a:off x="6309359" y="2606040"/>
            <a:ext cx="365760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전기</a:t>
            </a:r>
          </a:p>
        </p:txBody>
      </p:sp>
      <p:sp>
        <p:nvSpPr>
          <p:cNvPr id="9" name="TextBox 8"/>
          <p:cNvSpPr txBox="1"/>
          <p:nvPr/>
        </p:nvSpPr>
        <p:spPr>
          <a:xfrm>
            <a:off x="10149840" y="2606040"/>
            <a:ext cx="365760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하이브리드</a:t>
            </a:r>
          </a:p>
        </p:txBody>
      </p:sp>
      <p:sp>
        <p:nvSpPr>
          <p:cNvPr id="10" name="Rectangle 9"/>
          <p:cNvSpPr/>
          <p:nvPr/>
        </p:nvSpPr>
        <p:spPr>
          <a:xfrm>
            <a:off x="731520" y="314553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27832"/>
            <a:ext cx="53035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관리선 A</a:t>
            </a:r>
          </a:p>
        </p:txBody>
      </p:sp>
      <p:sp>
        <p:nvSpPr>
          <p:cNvPr id="12" name="TextBox 11"/>
          <p:cNvSpPr txBox="1"/>
          <p:nvPr/>
        </p:nvSpPr>
        <p:spPr>
          <a:xfrm>
            <a:off x="6309359" y="3227832"/>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13" name="TextBox 12"/>
          <p:cNvSpPr txBox="1"/>
          <p:nvPr/>
        </p:nvSpPr>
        <p:spPr>
          <a:xfrm>
            <a:off x="10149840" y="3227832"/>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14" name="Rectangle 13"/>
          <p:cNvSpPr/>
          <p:nvPr/>
        </p:nvSpPr>
        <p:spPr>
          <a:xfrm>
            <a:off x="731520" y="376732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849624"/>
            <a:ext cx="53035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관리선 B</a:t>
            </a:r>
          </a:p>
        </p:txBody>
      </p:sp>
      <p:sp>
        <p:nvSpPr>
          <p:cNvPr id="16" name="TextBox 15"/>
          <p:cNvSpPr txBox="1"/>
          <p:nvPr/>
        </p:nvSpPr>
        <p:spPr>
          <a:xfrm>
            <a:off x="6309359" y="3849624"/>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17" name="TextBox 16"/>
          <p:cNvSpPr txBox="1"/>
          <p:nvPr/>
        </p:nvSpPr>
        <p:spPr>
          <a:xfrm>
            <a:off x="10149840" y="3849624"/>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18" name="Rectangle 17"/>
          <p:cNvSpPr/>
          <p:nvPr/>
        </p:nvSpPr>
        <p:spPr>
          <a:xfrm>
            <a:off x="731520" y="4389120"/>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471416"/>
            <a:ext cx="53035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순시선 A</a:t>
            </a:r>
          </a:p>
        </p:txBody>
      </p:sp>
      <p:sp>
        <p:nvSpPr>
          <p:cNvPr id="20" name="TextBox 19"/>
          <p:cNvSpPr txBox="1"/>
          <p:nvPr/>
        </p:nvSpPr>
        <p:spPr>
          <a:xfrm>
            <a:off x="6309359" y="4471416"/>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21" name="TextBox 20"/>
          <p:cNvSpPr txBox="1"/>
          <p:nvPr/>
        </p:nvSpPr>
        <p:spPr>
          <a:xfrm>
            <a:off x="10149840" y="4471416"/>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22" name="Rectangle 21"/>
          <p:cNvSpPr/>
          <p:nvPr/>
        </p:nvSpPr>
        <p:spPr>
          <a:xfrm>
            <a:off x="731520" y="5010912"/>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093208"/>
            <a:ext cx="53035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순시선 B</a:t>
            </a:r>
          </a:p>
        </p:txBody>
      </p:sp>
      <p:sp>
        <p:nvSpPr>
          <p:cNvPr id="24" name="TextBox 23"/>
          <p:cNvSpPr txBox="1"/>
          <p:nvPr/>
        </p:nvSpPr>
        <p:spPr>
          <a:xfrm>
            <a:off x="6309359" y="5093208"/>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25" name="TextBox 24"/>
          <p:cNvSpPr txBox="1"/>
          <p:nvPr/>
        </p:nvSpPr>
        <p:spPr>
          <a:xfrm>
            <a:off x="10149840" y="5093208"/>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26" name="Rectangle 25"/>
          <p:cNvSpPr/>
          <p:nvPr/>
        </p:nvSpPr>
        <p:spPr>
          <a:xfrm>
            <a:off x="731520" y="5632704"/>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715000"/>
            <a:ext cx="53035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작업선</a:t>
            </a:r>
          </a:p>
        </p:txBody>
      </p:sp>
      <p:sp>
        <p:nvSpPr>
          <p:cNvPr id="28" name="TextBox 27"/>
          <p:cNvSpPr txBox="1"/>
          <p:nvPr/>
        </p:nvSpPr>
        <p:spPr>
          <a:xfrm>
            <a:off x="6309359" y="5715000"/>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29" name="TextBox 28"/>
          <p:cNvSpPr txBox="1"/>
          <p:nvPr/>
        </p:nvSpPr>
        <p:spPr>
          <a:xfrm>
            <a:off x="10149840" y="5715000"/>
            <a:ext cx="365760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a:t>
            </a:r>
          </a:p>
        </p:txBody>
      </p:sp>
      <p:sp>
        <p:nvSpPr>
          <p:cNvPr id="30" name="Rectangle 29"/>
          <p:cNvSpPr/>
          <p:nvPr/>
        </p:nvSpPr>
        <p:spPr>
          <a:xfrm>
            <a:off x="731520" y="625449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6903720"/>
            <a:ext cx="12801600" cy="457200"/>
          </a:xfrm>
          <a:prstGeom prst="rect">
            <a:avLst/>
          </a:prstGeom>
          <a:noFill/>
        </p:spPr>
        <p:txBody>
          <a:bodyPr wrap="square" lIns="0" rIns="0" tIns="0" bIns="0">
            <a:spAutoFit/>
          </a:bodyPr>
          <a:lstStyle/>
          <a:p>
            <a:pPr>
              <a:spcAft>
                <a:spcPts val="1000"/>
              </a:spcAft>
              <a:defRPr sz="2000" b="0">
                <a:solidFill>
                  <a:srgbClr val="8FA5B8"/>
                </a:solidFill>
                <a:latin typeface="Noto Sans CJK KR"/>
              </a:defRPr>
            </a:pPr>
            <a:r>
              <a:t>제원 유지 / 출력·추진기·선속·항속거리 최적화</a:t>
            </a:r>
          </a:p>
        </p:txBody>
      </p:sp>
      <p:pic>
        <p:nvPicPr>
          <p:cNvPr id="33"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2" name="Picture 21"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STANDARDIZATION / REVIEW SCOPE</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표준규격 검토 체계</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13</a:t>
            </a:r>
          </a:p>
        </p:txBody>
      </p:sp>
      <p:sp>
        <p:nvSpPr>
          <p:cNvPr id="7" name="TextBox 6"/>
          <p:cNvSpPr txBox="1"/>
          <p:nvPr/>
        </p:nvSpPr>
        <p:spPr>
          <a:xfrm>
            <a:off x="822960" y="2743200"/>
            <a:ext cx="4023359"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입력·대상</a:t>
            </a:r>
          </a:p>
        </p:txBody>
      </p:sp>
      <p:sp>
        <p:nvSpPr>
          <p:cNvPr id="8" name="TextBox 7"/>
          <p:cNvSpPr txBox="1"/>
          <p:nvPr/>
        </p:nvSpPr>
        <p:spPr>
          <a:xfrm>
            <a:off x="5029199" y="2743200"/>
            <a:ext cx="877824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검토</a:t>
            </a:r>
          </a:p>
        </p:txBody>
      </p:sp>
      <p:sp>
        <p:nvSpPr>
          <p:cNvPr id="9" name="Rectangle 8"/>
          <p:cNvSpPr/>
          <p:nvPr/>
        </p:nvSpPr>
        <p:spPr>
          <a:xfrm>
            <a:off x="731520" y="328269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64992"/>
            <a:ext cx="402335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운항 조사자료</a:t>
            </a:r>
          </a:p>
        </p:txBody>
      </p:sp>
      <p:sp>
        <p:nvSpPr>
          <p:cNvPr id="11" name="TextBox 10"/>
          <p:cNvSpPr txBox="1"/>
          <p:nvPr/>
        </p:nvSpPr>
        <p:spPr>
          <a:xfrm>
            <a:off x="5029199" y="3364992"/>
            <a:ext cx="8778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거리·시간·속력 / 선종별 요구성능</a:t>
            </a:r>
          </a:p>
        </p:txBody>
      </p:sp>
      <p:sp>
        <p:nvSpPr>
          <p:cNvPr id="12" name="Rectangle 11"/>
          <p:cNvSpPr/>
          <p:nvPr/>
        </p:nvSpPr>
        <p:spPr>
          <a:xfrm>
            <a:off x="731520" y="390448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986784"/>
            <a:ext cx="402335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제원·성능</a:t>
            </a:r>
          </a:p>
        </p:txBody>
      </p:sp>
      <p:sp>
        <p:nvSpPr>
          <p:cNvPr id="14" name="TextBox 13"/>
          <p:cNvSpPr txBox="1"/>
          <p:nvPr/>
        </p:nvSpPr>
        <p:spPr>
          <a:xfrm>
            <a:off x="5029199" y="3986784"/>
            <a:ext cx="8778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전장·형폭·형심 / 선속·항속거리·승선인원</a:t>
            </a:r>
          </a:p>
        </p:txBody>
      </p:sp>
      <p:sp>
        <p:nvSpPr>
          <p:cNvPr id="15" name="Rectangle 14"/>
          <p:cNvSpPr/>
          <p:nvPr/>
        </p:nvSpPr>
        <p:spPr>
          <a:xfrm>
            <a:off x="731520" y="4526280"/>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08576"/>
            <a:ext cx="402335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전기추진 시스템</a:t>
            </a:r>
          </a:p>
        </p:txBody>
      </p:sp>
      <p:sp>
        <p:nvSpPr>
          <p:cNvPr id="17" name="TextBox 16"/>
          <p:cNvSpPr txBox="1"/>
          <p:nvPr/>
        </p:nvSpPr>
        <p:spPr>
          <a:xfrm>
            <a:off x="5029199" y="4608576"/>
            <a:ext cx="8778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전동기·배터리·추진기</a:t>
            </a:r>
          </a:p>
        </p:txBody>
      </p:sp>
      <p:sp>
        <p:nvSpPr>
          <p:cNvPr id="18" name="Rectangle 17"/>
          <p:cNvSpPr/>
          <p:nvPr/>
        </p:nvSpPr>
        <p:spPr>
          <a:xfrm>
            <a:off x="731520" y="5148072"/>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230368"/>
            <a:ext cx="402335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탑재·중량</a:t>
            </a:r>
          </a:p>
        </p:txBody>
      </p:sp>
      <p:sp>
        <p:nvSpPr>
          <p:cNvPr id="20" name="TextBox 19"/>
          <p:cNvSpPr txBox="1"/>
          <p:nvPr/>
        </p:nvSpPr>
        <p:spPr>
          <a:xfrm>
            <a:off x="5029199" y="5230368"/>
            <a:ext cx="877824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제원 최적화 / 적용성 / 하이브리드 검토</a:t>
            </a:r>
          </a:p>
        </p:txBody>
      </p:sp>
      <p:sp>
        <p:nvSpPr>
          <p:cNvPr id="21" name="Rectangle 20"/>
          <p:cNvSpPr/>
          <p:nvPr/>
        </p:nvSpPr>
        <p:spPr>
          <a:xfrm>
            <a:off x="731520" y="5769864"/>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25" name="Picture 24"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 ARCHITECTURE</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친환경 추진 아키텍처</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14</a:t>
            </a:r>
          </a:p>
        </p:txBody>
      </p:sp>
      <p:sp>
        <p:nvSpPr>
          <p:cNvPr id="7" name="TextBox 6"/>
          <p:cNvSpPr txBox="1"/>
          <p:nvPr/>
        </p:nvSpPr>
        <p:spPr>
          <a:xfrm>
            <a:off x="822960" y="2651760"/>
            <a:ext cx="347472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방식</a:t>
            </a:r>
          </a:p>
        </p:txBody>
      </p:sp>
      <p:sp>
        <p:nvSpPr>
          <p:cNvPr id="8" name="TextBox 7"/>
          <p:cNvSpPr txBox="1"/>
          <p:nvPr/>
        </p:nvSpPr>
        <p:spPr>
          <a:xfrm>
            <a:off x="4480559" y="2651760"/>
            <a:ext cx="932688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에너지 경로</a:t>
            </a:r>
          </a:p>
        </p:txBody>
      </p:sp>
      <p:sp>
        <p:nvSpPr>
          <p:cNvPr id="9" name="Rectangle 8"/>
          <p:cNvSpPr/>
          <p:nvPr/>
        </p:nvSpPr>
        <p:spPr>
          <a:xfrm>
            <a:off x="731520" y="319125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73552"/>
            <a:ext cx="34747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병렬</a:t>
            </a:r>
          </a:p>
        </p:txBody>
      </p:sp>
      <p:sp>
        <p:nvSpPr>
          <p:cNvPr id="11" name="TextBox 10"/>
          <p:cNvSpPr txBox="1"/>
          <p:nvPr/>
        </p:nvSpPr>
        <p:spPr>
          <a:xfrm>
            <a:off x="4480559" y="3273552"/>
            <a:ext cx="93268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엔진 + 모터 → 추진축</a:t>
            </a:r>
          </a:p>
        </p:txBody>
      </p:sp>
      <p:sp>
        <p:nvSpPr>
          <p:cNvPr id="12" name="Rectangle 11"/>
          <p:cNvSpPr/>
          <p:nvPr/>
        </p:nvSpPr>
        <p:spPr>
          <a:xfrm>
            <a:off x="731520" y="381304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95344"/>
            <a:ext cx="34747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직렬</a:t>
            </a:r>
          </a:p>
        </p:txBody>
      </p:sp>
      <p:sp>
        <p:nvSpPr>
          <p:cNvPr id="14" name="TextBox 13"/>
          <p:cNvSpPr txBox="1"/>
          <p:nvPr/>
        </p:nvSpPr>
        <p:spPr>
          <a:xfrm>
            <a:off x="4480559" y="3895344"/>
            <a:ext cx="93268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발전기 → 모터 → 추진기</a:t>
            </a:r>
          </a:p>
        </p:txBody>
      </p:sp>
      <p:sp>
        <p:nvSpPr>
          <p:cNvPr id="15" name="Rectangle 14"/>
          <p:cNvSpPr/>
          <p:nvPr/>
        </p:nvSpPr>
        <p:spPr>
          <a:xfrm>
            <a:off x="731520" y="4434840"/>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517136"/>
            <a:ext cx="34747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순수 전기</a:t>
            </a:r>
          </a:p>
        </p:txBody>
      </p:sp>
      <p:sp>
        <p:nvSpPr>
          <p:cNvPr id="17" name="TextBox 16"/>
          <p:cNvSpPr txBox="1"/>
          <p:nvPr/>
        </p:nvSpPr>
        <p:spPr>
          <a:xfrm>
            <a:off x="4480559" y="4517136"/>
            <a:ext cx="93268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배터리 → 모터 → 추진기</a:t>
            </a:r>
          </a:p>
        </p:txBody>
      </p:sp>
      <p:sp>
        <p:nvSpPr>
          <p:cNvPr id="18" name="Rectangle 17"/>
          <p:cNvSpPr/>
          <p:nvPr/>
        </p:nvSpPr>
        <p:spPr>
          <a:xfrm>
            <a:off x="731520" y="5056631"/>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38928"/>
            <a:ext cx="34747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연료전지</a:t>
            </a:r>
          </a:p>
        </p:txBody>
      </p:sp>
      <p:sp>
        <p:nvSpPr>
          <p:cNvPr id="20" name="TextBox 19"/>
          <p:cNvSpPr txBox="1"/>
          <p:nvPr/>
        </p:nvSpPr>
        <p:spPr>
          <a:xfrm>
            <a:off x="4480559" y="5138928"/>
            <a:ext cx="93268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연료 → 연료전지 → 모터</a:t>
            </a:r>
          </a:p>
        </p:txBody>
      </p:sp>
      <p:sp>
        <p:nvSpPr>
          <p:cNvPr id="21" name="Rectangle 20"/>
          <p:cNvSpPr/>
          <p:nvPr/>
        </p:nvSpPr>
        <p:spPr>
          <a:xfrm>
            <a:off x="731520" y="5678424"/>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760720"/>
            <a:ext cx="34747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LNG</a:t>
            </a:r>
          </a:p>
        </p:txBody>
      </p:sp>
      <p:sp>
        <p:nvSpPr>
          <p:cNvPr id="23" name="TextBox 22"/>
          <p:cNvSpPr txBox="1"/>
          <p:nvPr/>
        </p:nvSpPr>
        <p:spPr>
          <a:xfrm>
            <a:off x="4480559" y="5760720"/>
            <a:ext cx="932688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LNG → 가스엔진 → 추진기</a:t>
            </a:r>
          </a:p>
        </p:txBody>
      </p:sp>
      <p:sp>
        <p:nvSpPr>
          <p:cNvPr id="24" name="Rectangle 23"/>
          <p:cNvSpPr/>
          <p:nvPr/>
        </p:nvSpPr>
        <p:spPr>
          <a:xfrm>
            <a:off x="731520" y="630021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2" name="Picture 11" descr="exec-f3ed2d79-5757-4445-a055-ec161376c4e6.png"/>
          <p:cNvPicPr>
            <a:picLocks noChangeAspect="1"/>
          </p:cNvPicPr>
          <p:nvPr/>
        </p:nvPicPr>
        <p:blipFill>
          <a:blip r:embed="rId4"/>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 OPERATING MODES</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4가지 운항모드</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15</a:t>
            </a:r>
          </a:p>
        </p:txBody>
      </p:sp>
      <p:pic>
        <p:nvPicPr>
          <p:cNvPr id="7" name="Picture 6" descr="exec-8d14b63a-a037-454e-a1f3-69aa87021e98.png"/>
          <p:cNvPicPr>
            <a:picLocks noChangeAspect="1"/>
          </p:cNvPicPr>
          <p:nvPr/>
        </p:nvPicPr>
        <p:blipFill>
          <a:blip r:embed="rId3"/>
          <a:stretch>
            <a:fillRect/>
          </a:stretch>
        </p:blipFill>
        <p:spPr>
          <a:xfrm>
            <a:off x="731520" y="2011680"/>
            <a:ext cx="13167360" cy="5212080"/>
          </a:xfrm>
          <a:prstGeom prst="rect">
            <a:avLst/>
          </a:prstGeom>
        </p:spPr>
      </p:pic>
      <p:sp>
        <p:nvSpPr>
          <p:cNvPr id="8" name="TextBox 7"/>
          <p:cNvSpPr txBox="1"/>
          <p:nvPr/>
        </p:nvSpPr>
        <p:spPr>
          <a:xfrm>
            <a:off x="914400" y="4069080"/>
            <a:ext cx="585216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ENGINE / 엔진</a:t>
            </a:r>
          </a:p>
        </p:txBody>
      </p:sp>
      <p:sp>
        <p:nvSpPr>
          <p:cNvPr id="9" name="TextBox 8"/>
          <p:cNvSpPr txBox="1"/>
          <p:nvPr/>
        </p:nvSpPr>
        <p:spPr>
          <a:xfrm>
            <a:off x="7680960" y="4069080"/>
            <a:ext cx="585216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ELECTRIC / 전기</a:t>
            </a:r>
          </a:p>
        </p:txBody>
      </p:sp>
      <p:sp>
        <p:nvSpPr>
          <p:cNvPr id="10" name="TextBox 9"/>
          <p:cNvSpPr txBox="1"/>
          <p:nvPr/>
        </p:nvSpPr>
        <p:spPr>
          <a:xfrm>
            <a:off x="914400" y="6629400"/>
            <a:ext cx="585216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GENERATION / 충전</a:t>
            </a:r>
          </a:p>
        </p:txBody>
      </p:sp>
      <p:sp>
        <p:nvSpPr>
          <p:cNvPr id="11" name="TextBox 10"/>
          <p:cNvSpPr txBox="1"/>
          <p:nvPr/>
        </p:nvSpPr>
        <p:spPr>
          <a:xfrm>
            <a:off x="7680960" y="6629400"/>
            <a:ext cx="585216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BOOSTER / 엔진 + 전기</a:t>
            </a:r>
          </a:p>
        </p:txBody>
      </p:sp>
      <p:pic>
        <p:nvPicPr>
          <p:cNvPr id="13" name="Mastervolt Korea logo" descr="exec-301e7b30-f476-4a9e-81ce-5aa4a653cb7f.png"/>
          <p:cNvPicPr>
            <a:picLocks noChangeAspect="1"/>
          </p:cNvPicPr>
          <p:nvPr/>
        </p:nvPicPr>
        <p:blipFill>
          <a:blip r:embed="rId5"/>
          <a:stretch>
            <a:fillRect/>
          </a:stretch>
        </p:blipFill>
        <p:spPr>
          <a:xfrm>
            <a:off x="9784080" y="45720"/>
            <a:ext cx="4114800" cy="1371600"/>
          </a:xfrm>
          <a:prstGeom prst="rect">
            <a:avLst/>
          </a:prstGeom>
        </p:spPr>
      </p:pic>
      <p:sp>
        <p:nvSpPr>
          <p:cNvPr id="14" name="TextBox 13"/>
          <p:cNvSpPr txBox="1"/>
          <p:nvPr/>
        </p:nvSpPr>
        <p:spPr>
          <a:xfrm>
            <a:off x="731520" y="7379208"/>
            <a:ext cx="5486400" cy="201168"/>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 CONCEPT VISUAL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0" name="Picture 9" descr="exec-f3ed2d79-5757-4445-a055-ec161376c4e6.png"/>
          <p:cNvPicPr>
            <a:picLocks noChangeAspect="1"/>
          </p:cNvPicPr>
          <p:nvPr/>
        </p:nvPicPr>
        <p:blipFill>
          <a:blip r:embed="rId4"/>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 MECHANICAL INTEGRATION</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HM 모듈</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16</a:t>
            </a:r>
          </a:p>
        </p:txBody>
      </p:sp>
      <p:pic>
        <p:nvPicPr>
          <p:cNvPr id="7" name="Picture 6" descr="exec-28c6e441-3bb6-4b89-9ea9-f9da63a209ce.png"/>
          <p:cNvPicPr>
            <a:picLocks noChangeAspect="1"/>
          </p:cNvPicPr>
          <p:nvPr/>
        </p:nvPicPr>
        <p:blipFill>
          <a:blip r:embed="rId3"/>
          <a:stretch>
            <a:fillRect/>
          </a:stretch>
        </p:blipFill>
        <p:spPr>
          <a:xfrm>
            <a:off x="731520" y="2286000"/>
            <a:ext cx="13167360" cy="4937760"/>
          </a:xfrm>
          <a:prstGeom prst="rect">
            <a:avLst/>
          </a:prstGeom>
        </p:spPr>
      </p:pic>
      <p:sp>
        <p:nvSpPr>
          <p:cNvPr id="8" name="TextBox 7"/>
          <p:cNvSpPr txBox="1"/>
          <p:nvPr/>
        </p:nvSpPr>
        <p:spPr>
          <a:xfrm>
            <a:off x="822960" y="6949440"/>
            <a:ext cx="6400800" cy="45720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MOTOR ↔ GENERATOR</a:t>
            </a:r>
          </a:p>
        </p:txBody>
      </p:sp>
      <p:sp>
        <p:nvSpPr>
          <p:cNvPr id="9" name="TextBox 8"/>
          <p:cNvSpPr txBox="1"/>
          <p:nvPr/>
        </p:nvSpPr>
        <p:spPr>
          <a:xfrm>
            <a:off x="7315200" y="6949440"/>
            <a:ext cx="6400800" cy="457200"/>
          </a:xfrm>
          <a:prstGeom prst="rect">
            <a:avLst/>
          </a:prstGeom>
          <a:noFill/>
        </p:spPr>
        <p:txBody>
          <a:bodyPr wrap="square" lIns="0" rIns="0" tIns="0" bIns="0">
            <a:spAutoFit/>
          </a:bodyPr>
          <a:lstStyle/>
          <a:p>
            <a:pPr>
              <a:spcAft>
                <a:spcPts val="1000"/>
              </a:spcAft>
              <a:defRPr sz="1800" b="0">
                <a:solidFill>
                  <a:srgbClr val="8FA5B8"/>
                </a:solidFill>
                <a:latin typeface="Noto Sans CJK KR"/>
              </a:defRPr>
            </a:pPr>
            <a:r>
              <a:t>SAE 인터페이스 / 모델별 적합성 검토</a:t>
            </a:r>
          </a:p>
        </p:txBody>
      </p:sp>
      <p:pic>
        <p:nvPicPr>
          <p:cNvPr id="11" name="Mastervolt Korea logo" descr="exec-301e7b30-f476-4a9e-81ce-5aa4a653cb7f.png"/>
          <p:cNvPicPr>
            <a:picLocks noChangeAspect="1"/>
          </p:cNvPicPr>
          <p:nvPr/>
        </p:nvPicPr>
        <p:blipFill>
          <a:blip r:embed="rId5"/>
          <a:stretch>
            <a:fillRect/>
          </a:stretch>
        </p:blipFill>
        <p:spPr>
          <a:xfrm>
            <a:off x="9784080" y="45720"/>
            <a:ext cx="4114800" cy="1371600"/>
          </a:xfrm>
          <a:prstGeom prst="rect">
            <a:avLst/>
          </a:prstGeom>
        </p:spPr>
      </p:pic>
      <p:sp>
        <p:nvSpPr>
          <p:cNvPr id="12" name="TextBox 11"/>
          <p:cNvSpPr txBox="1"/>
          <p:nvPr/>
        </p:nvSpPr>
        <p:spPr>
          <a:xfrm>
            <a:off x="731520" y="7379208"/>
            <a:ext cx="5486400" cy="201168"/>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 CONCEPT VISUAL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1" name="Picture 10" descr="exec-f3ed2d79-5757-4445-a055-ec161376c4e6.png"/>
          <p:cNvPicPr>
            <a:picLocks noChangeAspect="1"/>
          </p:cNvPicPr>
          <p:nvPr/>
        </p:nvPicPr>
        <p:blipFill>
          <a:blip r:embed="rId4"/>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 SYSTEM INTEGRATION</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에너지 · 추진 · 제어</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17</a:t>
            </a:r>
          </a:p>
        </p:txBody>
      </p:sp>
      <p:pic>
        <p:nvPicPr>
          <p:cNvPr id="7" name="Picture 6" descr="exec-28c6e441-3bb6-4b89-9ea9-f9da63a209ce.png"/>
          <p:cNvPicPr>
            <a:picLocks noChangeAspect="1"/>
          </p:cNvPicPr>
          <p:nvPr/>
        </p:nvPicPr>
        <p:blipFill>
          <a:blip r:embed="rId3"/>
          <a:stretch>
            <a:fillRect/>
          </a:stretch>
        </p:blipFill>
        <p:spPr>
          <a:xfrm>
            <a:off x="731520" y="2286000"/>
            <a:ext cx="13167360" cy="4937760"/>
          </a:xfrm>
          <a:prstGeom prst="rect">
            <a:avLst/>
          </a:prstGeom>
        </p:spPr>
      </p:pic>
      <p:sp>
        <p:nvSpPr>
          <p:cNvPr id="8" name="TextBox 7"/>
          <p:cNvSpPr txBox="1"/>
          <p:nvPr/>
        </p:nvSpPr>
        <p:spPr>
          <a:xfrm>
            <a:off x="9144000" y="2468880"/>
            <a:ext cx="457200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배터리 · BMS · 충전기</a:t>
            </a:r>
          </a:p>
        </p:txBody>
      </p:sp>
      <p:sp>
        <p:nvSpPr>
          <p:cNvPr id="9" name="TextBox 8"/>
          <p:cNvSpPr txBox="1"/>
          <p:nvPr/>
        </p:nvSpPr>
        <p:spPr>
          <a:xfrm>
            <a:off x="822960" y="6949440"/>
            <a:ext cx="640080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엔진 · 모터 · 감속기</a:t>
            </a:r>
          </a:p>
        </p:txBody>
      </p:sp>
      <p:sp>
        <p:nvSpPr>
          <p:cNvPr id="10" name="TextBox 9"/>
          <p:cNvSpPr txBox="1"/>
          <p:nvPr/>
        </p:nvSpPr>
        <p:spPr>
          <a:xfrm>
            <a:off x="9144000" y="6949440"/>
            <a:ext cx="4572000" cy="548640"/>
          </a:xfrm>
          <a:prstGeom prst="rect">
            <a:avLst/>
          </a:prstGeom>
          <a:noFill/>
        </p:spPr>
        <p:txBody>
          <a:bodyPr wrap="square" lIns="0" rIns="0" tIns="0" bIns="0">
            <a:spAutoFit/>
          </a:bodyPr>
          <a:lstStyle/>
          <a:p>
            <a:pPr>
              <a:spcAft>
                <a:spcPts val="1000"/>
              </a:spcAft>
              <a:defRPr sz="2300" b="1">
                <a:solidFill>
                  <a:srgbClr val="48D4DE"/>
                </a:solidFill>
                <a:latin typeface="Noto Sans CJK KR"/>
              </a:defRPr>
            </a:pPr>
            <a:r>
              <a:t>전력변환 · 통합제어</a:t>
            </a:r>
          </a:p>
        </p:txBody>
      </p:sp>
      <p:pic>
        <p:nvPicPr>
          <p:cNvPr id="12" name="Mastervolt Korea logo" descr="exec-301e7b30-f476-4a9e-81ce-5aa4a653cb7f.png"/>
          <p:cNvPicPr>
            <a:picLocks noChangeAspect="1"/>
          </p:cNvPicPr>
          <p:nvPr/>
        </p:nvPicPr>
        <p:blipFill>
          <a:blip r:embed="rId5"/>
          <a:stretch>
            <a:fillRect/>
          </a:stretch>
        </p:blipFill>
        <p:spPr>
          <a:xfrm>
            <a:off x="9784080" y="45720"/>
            <a:ext cx="4114800" cy="1371600"/>
          </a:xfrm>
          <a:prstGeom prst="rect">
            <a:avLst/>
          </a:prstGeom>
        </p:spPr>
      </p:pic>
      <p:sp>
        <p:nvSpPr>
          <p:cNvPr id="13" name="TextBox 12"/>
          <p:cNvSpPr txBox="1"/>
          <p:nvPr/>
        </p:nvSpPr>
        <p:spPr>
          <a:xfrm>
            <a:off x="731520" y="7379208"/>
            <a:ext cx="5486400" cy="201168"/>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AI CONCEPT VISUAL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43" name="Picture 42"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HYBRID / DELIVERY REFERENCES</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국내 준공 사례</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18</a:t>
            </a:r>
          </a:p>
        </p:txBody>
      </p:sp>
      <p:sp>
        <p:nvSpPr>
          <p:cNvPr id="7" name="TextBox 6"/>
          <p:cNvSpPr txBox="1"/>
          <p:nvPr/>
        </p:nvSpPr>
        <p:spPr>
          <a:xfrm>
            <a:off x="822960" y="2468880"/>
            <a:ext cx="2560320"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항목</a:t>
            </a:r>
          </a:p>
        </p:txBody>
      </p:sp>
      <p:sp>
        <p:nvSpPr>
          <p:cNvPr id="8" name="TextBox 7"/>
          <p:cNvSpPr txBox="1"/>
          <p:nvPr/>
        </p:nvSpPr>
        <p:spPr>
          <a:xfrm>
            <a:off x="3566160" y="2468880"/>
            <a:ext cx="3291839"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해양3호</a:t>
            </a:r>
          </a:p>
        </p:txBody>
      </p:sp>
      <p:sp>
        <p:nvSpPr>
          <p:cNvPr id="9" name="TextBox 8"/>
          <p:cNvSpPr txBox="1"/>
          <p:nvPr/>
        </p:nvSpPr>
        <p:spPr>
          <a:xfrm>
            <a:off x="7040879" y="2468880"/>
            <a:ext cx="3291839"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해양1호</a:t>
            </a:r>
          </a:p>
        </p:txBody>
      </p:sp>
      <p:sp>
        <p:nvSpPr>
          <p:cNvPr id="10" name="TextBox 9"/>
          <p:cNvSpPr txBox="1"/>
          <p:nvPr/>
        </p:nvSpPr>
        <p:spPr>
          <a:xfrm>
            <a:off x="10515599" y="2468880"/>
            <a:ext cx="3291839" cy="530352"/>
          </a:xfrm>
          <a:prstGeom prst="rect">
            <a:avLst/>
          </a:prstGeom>
          <a:noFill/>
        </p:spPr>
        <p:txBody>
          <a:bodyPr wrap="square" lIns="0" rIns="0" tIns="0" bIns="0">
            <a:spAutoFit/>
          </a:bodyPr>
          <a:lstStyle/>
          <a:p>
            <a:pPr>
              <a:spcAft>
                <a:spcPts val="1000"/>
              </a:spcAft>
              <a:defRPr sz="1800" b="1">
                <a:solidFill>
                  <a:srgbClr val="48D4DE"/>
                </a:solidFill>
                <a:latin typeface="Noto Sans CJK KR"/>
              </a:defRPr>
            </a:pPr>
            <a:r>
              <a:t>나르샤 14</a:t>
            </a:r>
          </a:p>
        </p:txBody>
      </p:sp>
      <p:sp>
        <p:nvSpPr>
          <p:cNvPr id="11" name="Rectangle 10"/>
          <p:cNvSpPr/>
          <p:nvPr/>
        </p:nvSpPr>
        <p:spPr>
          <a:xfrm>
            <a:off x="731520" y="300837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090672"/>
            <a:ext cx="25603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전장 / 톤수</a:t>
            </a:r>
          </a:p>
        </p:txBody>
      </p:sp>
      <p:sp>
        <p:nvSpPr>
          <p:cNvPr id="13" name="TextBox 12"/>
          <p:cNvSpPr txBox="1"/>
          <p:nvPr/>
        </p:nvSpPr>
        <p:spPr>
          <a:xfrm>
            <a:off x="3566160" y="3090672"/>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26.13 m / 48톤</a:t>
            </a:r>
          </a:p>
        </p:txBody>
      </p:sp>
      <p:sp>
        <p:nvSpPr>
          <p:cNvPr id="14" name="TextBox 13"/>
          <p:cNvSpPr txBox="1"/>
          <p:nvPr/>
        </p:nvSpPr>
        <p:spPr>
          <a:xfrm>
            <a:off x="7040879" y="3090672"/>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26.13 m / 48톤</a:t>
            </a:r>
          </a:p>
        </p:txBody>
      </p:sp>
      <p:sp>
        <p:nvSpPr>
          <p:cNvPr id="15" name="TextBox 14"/>
          <p:cNvSpPr txBox="1"/>
          <p:nvPr/>
        </p:nvSpPr>
        <p:spPr>
          <a:xfrm>
            <a:off x="10515599" y="3090672"/>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17.2 m / 24톤</a:t>
            </a:r>
          </a:p>
        </p:txBody>
      </p:sp>
      <p:sp>
        <p:nvSpPr>
          <p:cNvPr id="16" name="Rectangle 15"/>
          <p:cNvSpPr/>
          <p:nvPr/>
        </p:nvSpPr>
        <p:spPr>
          <a:xfrm>
            <a:off x="731520" y="363016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12464"/>
            <a:ext cx="25603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HM 시스템</a:t>
            </a:r>
          </a:p>
        </p:txBody>
      </p:sp>
      <p:sp>
        <p:nvSpPr>
          <p:cNvPr id="18" name="TextBox 17"/>
          <p:cNvSpPr txBox="1"/>
          <p:nvPr/>
        </p:nvSpPr>
        <p:spPr>
          <a:xfrm>
            <a:off x="3566160" y="3712464"/>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6300-150 × 2</a:t>
            </a:r>
          </a:p>
        </p:txBody>
      </p:sp>
      <p:sp>
        <p:nvSpPr>
          <p:cNvPr id="19" name="TextBox 18"/>
          <p:cNvSpPr txBox="1"/>
          <p:nvPr/>
        </p:nvSpPr>
        <p:spPr>
          <a:xfrm>
            <a:off x="7040879" y="3712464"/>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6300-150 × 2</a:t>
            </a:r>
          </a:p>
        </p:txBody>
      </p:sp>
      <p:sp>
        <p:nvSpPr>
          <p:cNvPr id="20" name="TextBox 19"/>
          <p:cNvSpPr txBox="1"/>
          <p:nvPr/>
        </p:nvSpPr>
        <p:spPr>
          <a:xfrm>
            <a:off x="10515599" y="3712464"/>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3350-150W × 1</a:t>
            </a:r>
          </a:p>
        </p:txBody>
      </p:sp>
      <p:sp>
        <p:nvSpPr>
          <p:cNvPr id="21" name="Rectangle 20"/>
          <p:cNvSpPr/>
          <p:nvPr/>
        </p:nvSpPr>
        <p:spPr>
          <a:xfrm>
            <a:off x="731520" y="4251960"/>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334256"/>
            <a:ext cx="25603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PMSM 모터</a:t>
            </a:r>
          </a:p>
        </p:txBody>
      </p:sp>
      <p:sp>
        <p:nvSpPr>
          <p:cNvPr id="23" name="TextBox 22"/>
          <p:cNvSpPr txBox="1"/>
          <p:nvPr/>
        </p:nvSpPr>
        <p:spPr>
          <a:xfrm>
            <a:off x="3566160" y="4334256"/>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75 kW × 4</a:t>
            </a:r>
          </a:p>
        </p:txBody>
      </p:sp>
      <p:sp>
        <p:nvSpPr>
          <p:cNvPr id="24" name="TextBox 23"/>
          <p:cNvSpPr txBox="1"/>
          <p:nvPr/>
        </p:nvSpPr>
        <p:spPr>
          <a:xfrm>
            <a:off x="7040879" y="4334256"/>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75 kW × 4</a:t>
            </a:r>
          </a:p>
        </p:txBody>
      </p:sp>
      <p:sp>
        <p:nvSpPr>
          <p:cNvPr id="25" name="TextBox 24"/>
          <p:cNvSpPr txBox="1"/>
          <p:nvPr/>
        </p:nvSpPr>
        <p:spPr>
          <a:xfrm>
            <a:off x="10515599" y="4334256"/>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75 kW × 2</a:t>
            </a:r>
          </a:p>
        </p:txBody>
      </p:sp>
      <p:sp>
        <p:nvSpPr>
          <p:cNvPr id="26" name="Rectangle 25"/>
          <p:cNvSpPr/>
          <p:nvPr/>
        </p:nvSpPr>
        <p:spPr>
          <a:xfrm>
            <a:off x="731520" y="4873752"/>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956048"/>
            <a:ext cx="25603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배터리</a:t>
            </a:r>
          </a:p>
        </p:txBody>
      </p:sp>
      <p:sp>
        <p:nvSpPr>
          <p:cNvPr id="28" name="TextBox 27"/>
          <p:cNvSpPr txBox="1"/>
          <p:nvPr/>
        </p:nvSpPr>
        <p:spPr>
          <a:xfrm>
            <a:off x="3566160" y="4956048"/>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288 Vdc · 800 Ah</a:t>
            </a:r>
          </a:p>
        </p:txBody>
      </p:sp>
      <p:sp>
        <p:nvSpPr>
          <p:cNvPr id="29" name="TextBox 28"/>
          <p:cNvSpPr txBox="1"/>
          <p:nvPr/>
        </p:nvSpPr>
        <p:spPr>
          <a:xfrm>
            <a:off x="7040879" y="4956048"/>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288 Vdc · 800 Ah</a:t>
            </a:r>
          </a:p>
        </p:txBody>
      </p:sp>
      <p:sp>
        <p:nvSpPr>
          <p:cNvPr id="30" name="TextBox 29"/>
          <p:cNvSpPr txBox="1"/>
          <p:nvPr/>
        </p:nvSpPr>
        <p:spPr>
          <a:xfrm>
            <a:off x="10515599" y="4956048"/>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288 Vdc · 400 Ah</a:t>
            </a:r>
          </a:p>
        </p:txBody>
      </p:sp>
      <p:sp>
        <p:nvSpPr>
          <p:cNvPr id="31" name="Rectangle 30"/>
          <p:cNvSpPr/>
          <p:nvPr/>
        </p:nvSpPr>
        <p:spPr>
          <a:xfrm>
            <a:off x="731520" y="5495544"/>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577840"/>
            <a:ext cx="25603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전기선속</a:t>
            </a:r>
          </a:p>
        </p:txBody>
      </p:sp>
      <p:sp>
        <p:nvSpPr>
          <p:cNvPr id="33" name="TextBox 32"/>
          <p:cNvSpPr txBox="1"/>
          <p:nvPr/>
        </p:nvSpPr>
        <p:spPr>
          <a:xfrm>
            <a:off x="3566160" y="5577840"/>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8 knot</a:t>
            </a:r>
          </a:p>
        </p:txBody>
      </p:sp>
      <p:sp>
        <p:nvSpPr>
          <p:cNvPr id="34" name="TextBox 33"/>
          <p:cNvSpPr txBox="1"/>
          <p:nvPr/>
        </p:nvSpPr>
        <p:spPr>
          <a:xfrm>
            <a:off x="7040879" y="5577840"/>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7 knot</a:t>
            </a:r>
          </a:p>
        </p:txBody>
      </p:sp>
      <p:sp>
        <p:nvSpPr>
          <p:cNvPr id="35" name="TextBox 34"/>
          <p:cNvSpPr txBox="1"/>
          <p:nvPr/>
        </p:nvSpPr>
        <p:spPr>
          <a:xfrm>
            <a:off x="10515599" y="5577840"/>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8 knot</a:t>
            </a:r>
          </a:p>
        </p:txBody>
      </p:sp>
      <p:sp>
        <p:nvSpPr>
          <p:cNvPr id="36" name="Rectangle 35"/>
          <p:cNvSpPr/>
          <p:nvPr/>
        </p:nvSpPr>
        <p:spPr>
          <a:xfrm>
            <a:off x="731520" y="6117336"/>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6199632"/>
            <a:ext cx="2560320"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추진기</a:t>
            </a:r>
          </a:p>
        </p:txBody>
      </p:sp>
      <p:sp>
        <p:nvSpPr>
          <p:cNvPr id="38" name="TextBox 37"/>
          <p:cNvSpPr txBox="1"/>
          <p:nvPr/>
        </p:nvSpPr>
        <p:spPr>
          <a:xfrm>
            <a:off x="3566160" y="6199632"/>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워터제트</a:t>
            </a:r>
          </a:p>
        </p:txBody>
      </p:sp>
      <p:sp>
        <p:nvSpPr>
          <p:cNvPr id="39" name="TextBox 38"/>
          <p:cNvSpPr txBox="1"/>
          <p:nvPr/>
        </p:nvSpPr>
        <p:spPr>
          <a:xfrm>
            <a:off x="7040879" y="6199632"/>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워터제트</a:t>
            </a:r>
          </a:p>
        </p:txBody>
      </p:sp>
      <p:sp>
        <p:nvSpPr>
          <p:cNvPr id="40" name="TextBox 39"/>
          <p:cNvSpPr txBox="1"/>
          <p:nvPr/>
        </p:nvSpPr>
        <p:spPr>
          <a:xfrm>
            <a:off x="10515599" y="6199632"/>
            <a:ext cx="3291839" cy="530352"/>
          </a:xfrm>
          <a:prstGeom prst="rect">
            <a:avLst/>
          </a:prstGeom>
          <a:noFill/>
        </p:spPr>
        <p:txBody>
          <a:bodyPr wrap="square" lIns="0" rIns="0" tIns="0" bIns="0">
            <a:spAutoFit/>
          </a:bodyPr>
          <a:lstStyle/>
          <a:p>
            <a:pPr>
              <a:spcAft>
                <a:spcPts val="1000"/>
              </a:spcAft>
              <a:defRPr sz="1700" b="0">
                <a:solidFill>
                  <a:srgbClr val="EFF4F8"/>
                </a:solidFill>
                <a:latin typeface="Noto Sans CJK KR"/>
              </a:defRPr>
            </a:pPr>
            <a:r>
              <a:t>FPP</a:t>
            </a:r>
          </a:p>
        </p:txBody>
      </p:sp>
      <p:sp>
        <p:nvSpPr>
          <p:cNvPr id="41" name="Rectangle 40"/>
          <p:cNvSpPr/>
          <p:nvPr/>
        </p:nvSpPr>
        <p:spPr>
          <a:xfrm>
            <a:off x="731520" y="6739128"/>
            <a:ext cx="13167360" cy="8229"/>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6995160"/>
            <a:ext cx="12801600" cy="365760"/>
          </a:xfrm>
          <a:prstGeom prst="rect">
            <a:avLst/>
          </a:prstGeom>
          <a:noFill/>
        </p:spPr>
        <p:txBody>
          <a:bodyPr wrap="square" lIns="0" rIns="0" tIns="0" bIns="0">
            <a:spAutoFit/>
          </a:bodyPr>
          <a:lstStyle/>
          <a:p>
            <a:pPr>
              <a:spcAft>
                <a:spcPts val="1000"/>
              </a:spcAft>
              <a:defRPr sz="1600" b="0">
                <a:solidFill>
                  <a:srgbClr val="8FA5B8"/>
                </a:solidFill>
                <a:latin typeface="Noto Sans CJK KR"/>
              </a:defRPr>
            </a:pPr>
            <a:r>
              <a:t>KOMSA / 회사 자료의 사례별 사양</a:t>
            </a:r>
          </a:p>
        </p:txBody>
      </p:sp>
      <p:pic>
        <p:nvPicPr>
          <p:cNvPr id="44"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420"/>
        </a:solidFill>
        <a:effectLst/>
      </p:bgPr>
    </p:bg>
    <p:spTree>
      <p:nvGrpSpPr>
        <p:cNvPr id="1" name=""/>
        <p:cNvGrpSpPr/>
        <p:nvPr/>
      </p:nvGrpSpPr>
      <p:grpSpPr/>
      <p:pic>
        <p:nvPicPr>
          <p:cNvPr id="18" name="Picture 17" descr="exec-f3ed2d79-5757-4445-a055-ec161376c4e6.png"/>
          <p:cNvPicPr>
            <a:picLocks noChangeAspect="1"/>
          </p:cNvPicPr>
          <p:nvPr/>
        </p:nvPicPr>
        <p:blipFill>
          <a:blip r:embed="rId3"/>
          <a:stretch>
            <a:fillRect/>
          </a:stretch>
        </p:blipFill>
        <p:spPr>
          <a:xfrm>
            <a:off x="0" y="0"/>
            <a:ext cx="14630400" cy="8229600"/>
          </a:xfrm>
          <a:prstGeom prst="rect">
            <a:avLst/>
          </a:prstGeom>
        </p:spPr>
      </p:pic>
      <p:sp>
        <p:nvSpPr>
          <p:cNvPr id="2" name="TextBox 1"/>
          <p:cNvSpPr txBox="1"/>
          <p:nvPr/>
        </p:nvSpPr>
        <p:spPr>
          <a:xfrm>
            <a:off x="731520" y="411480"/>
            <a:ext cx="8229600" cy="274320"/>
          </a:xfrm>
          <a:prstGeom prst="rect">
            <a:avLst/>
          </a:prstGeom>
          <a:noFill/>
        </p:spPr>
        <p:txBody>
          <a:bodyPr wrap="square" lIns="0" rIns="0" tIns="0" bIns="0">
            <a:spAutoFit/>
          </a:bodyPr>
          <a:lstStyle/>
          <a:p>
            <a:pPr>
              <a:spcAft>
                <a:spcPts val="1000"/>
              </a:spcAft>
              <a:defRPr sz="1100" b="0">
                <a:solidFill>
                  <a:srgbClr val="48D4DE"/>
                </a:solidFill>
                <a:latin typeface="Noto Sans CJK KR"/>
              </a:defRPr>
            </a:pPr>
            <a:r>
              <a:t>LIFECYCLE / SINGLE POINT OF RESPONSIBILITY</a:t>
            </a:r>
          </a:p>
        </p:txBody>
      </p:sp>
      <p:sp>
        <p:nvSpPr>
          <p:cNvPr id="3" name="TextBox 2"/>
          <p:cNvSpPr txBox="1"/>
          <p:nvPr/>
        </p:nvSpPr>
        <p:spPr>
          <a:xfrm>
            <a:off x="731520" y="1371600"/>
            <a:ext cx="13167360" cy="822960"/>
          </a:xfrm>
          <a:prstGeom prst="rect">
            <a:avLst/>
          </a:prstGeom>
          <a:noFill/>
        </p:spPr>
        <p:txBody>
          <a:bodyPr wrap="square" lIns="0" rIns="0" tIns="0" bIns="0">
            <a:spAutoFit/>
          </a:bodyPr>
          <a:lstStyle/>
          <a:p>
            <a:pPr>
              <a:spcAft>
                <a:spcPts val="1000"/>
              </a:spcAft>
              <a:defRPr sz="3200" b="1">
                <a:solidFill>
                  <a:srgbClr val="EFF4F8"/>
                </a:solidFill>
                <a:latin typeface="Noto Sans CJK KR"/>
              </a:defRPr>
            </a:pPr>
            <a:r>
              <a:t>공장검증부터 사후관리까지</a:t>
            </a:r>
          </a:p>
        </p:txBody>
      </p:sp>
      <p:sp>
        <p:nvSpPr>
          <p:cNvPr id="4" name="Rectangle 3"/>
          <p:cNvSpPr/>
          <p:nvPr/>
        </p:nvSpPr>
        <p:spPr>
          <a:xfrm>
            <a:off x="731520" y="7635240"/>
            <a:ext cx="13167360" cy="10972"/>
          </a:xfrm>
          <a:prstGeom prst="rect">
            <a:avLst/>
          </a:prstGeom>
          <a:solidFill>
            <a:srgbClr val="29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7790688"/>
            <a:ext cx="6400800" cy="182880"/>
          </a:xfrm>
          <a:prstGeom prst="rect">
            <a:avLst/>
          </a:prstGeom>
          <a:noFill/>
        </p:spPr>
        <p:txBody>
          <a:bodyPr wrap="square" lIns="0" rIns="0" tIns="0" bIns="0">
            <a:spAutoFit/>
          </a:bodyPr>
          <a:lstStyle/>
          <a:p>
            <a:pPr>
              <a:spcAft>
                <a:spcPts val="1000"/>
              </a:spcAft>
              <a:defRPr sz="900" b="0">
                <a:solidFill>
                  <a:srgbClr val="8FA5B8"/>
                </a:solidFill>
                <a:latin typeface="Noto Sans CJK KR"/>
              </a:defRPr>
            </a:pPr>
            <a:r>
              <a:t>MASTERVOLT KOREA  /  INTEGRATED VESSEL SOLUTIONS</a:t>
            </a:r>
          </a:p>
        </p:txBody>
      </p:sp>
      <p:sp>
        <p:nvSpPr>
          <p:cNvPr id="6" name="TextBox 5"/>
          <p:cNvSpPr txBox="1"/>
          <p:nvPr/>
        </p:nvSpPr>
        <p:spPr>
          <a:xfrm>
            <a:off x="13167360" y="7754112"/>
            <a:ext cx="731520" cy="274320"/>
          </a:xfrm>
          <a:prstGeom prst="rect">
            <a:avLst/>
          </a:prstGeom>
          <a:noFill/>
        </p:spPr>
        <p:txBody>
          <a:bodyPr wrap="square" lIns="0" rIns="0" tIns="0" bIns="0">
            <a:spAutoFit/>
          </a:bodyPr>
          <a:lstStyle/>
          <a:p>
            <a:pPr>
              <a:spcAft>
                <a:spcPts val="1000"/>
              </a:spcAft>
              <a:defRPr sz="1100" b="0">
                <a:solidFill>
                  <a:srgbClr val="8FA5B8"/>
                </a:solidFill>
                <a:latin typeface="Noto Sans CJK KR"/>
              </a:defRPr>
            </a:pPr>
            <a:r>
              <a:t>19</a:t>
            </a:r>
          </a:p>
        </p:txBody>
      </p:sp>
      <p:sp>
        <p:nvSpPr>
          <p:cNvPr id="7" name="TextBox 6"/>
          <p:cNvSpPr txBox="1"/>
          <p:nvPr/>
        </p:nvSpPr>
        <p:spPr>
          <a:xfrm>
            <a:off x="731520" y="2560320"/>
            <a:ext cx="6400800" cy="1463040"/>
          </a:xfrm>
          <a:prstGeom prst="rect">
            <a:avLst/>
          </a:prstGeom>
          <a:noFill/>
        </p:spPr>
        <p:txBody>
          <a:bodyPr wrap="square" lIns="0" rIns="0" tIns="0" bIns="0">
            <a:spAutoFit/>
          </a:bodyPr>
          <a:lstStyle/>
          <a:p>
            <a:pPr>
              <a:spcAft>
                <a:spcPts val="1000"/>
              </a:spcAft>
              <a:defRPr sz="10000" b="1">
                <a:solidFill>
                  <a:srgbClr val="48D4DE"/>
                </a:solidFill>
                <a:latin typeface="Noto Sans CJK KR"/>
              </a:defRPr>
            </a:pPr>
            <a:r>
              <a:t>FAT</a:t>
            </a:r>
          </a:p>
        </p:txBody>
      </p:sp>
      <p:sp>
        <p:nvSpPr>
          <p:cNvPr id="8" name="TextBox 7"/>
          <p:cNvSpPr txBox="1"/>
          <p:nvPr/>
        </p:nvSpPr>
        <p:spPr>
          <a:xfrm>
            <a:off x="822960" y="4251960"/>
            <a:ext cx="6400800" cy="640080"/>
          </a:xfrm>
          <a:prstGeom prst="rect">
            <a:avLst/>
          </a:prstGeom>
          <a:noFill/>
        </p:spPr>
        <p:txBody>
          <a:bodyPr wrap="square" lIns="0" rIns="0" tIns="0" bIns="0">
            <a:spAutoFit/>
          </a:bodyPr>
          <a:lstStyle/>
          <a:p>
            <a:pPr>
              <a:spcAft>
                <a:spcPts val="1000"/>
              </a:spcAft>
              <a:defRPr sz="2400" b="0">
                <a:solidFill>
                  <a:srgbClr val="EFF4F8"/>
                </a:solidFill>
                <a:latin typeface="Noto Sans CJK KR"/>
              </a:defRPr>
            </a:pPr>
            <a:r>
              <a:t>공장검사 단계의 시스템 검증</a:t>
            </a:r>
          </a:p>
        </p:txBody>
      </p:sp>
      <p:sp>
        <p:nvSpPr>
          <p:cNvPr id="9" name="Rectangle 8"/>
          <p:cNvSpPr/>
          <p:nvPr/>
        </p:nvSpPr>
        <p:spPr>
          <a:xfrm>
            <a:off x="731520" y="585216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617220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설치·시운전</a:t>
            </a:r>
          </a:p>
        </p:txBody>
      </p:sp>
      <p:sp>
        <p:nvSpPr>
          <p:cNvPr id="11" name="TextBox 10"/>
          <p:cNvSpPr txBox="1"/>
          <p:nvPr/>
        </p:nvSpPr>
        <p:spPr>
          <a:xfrm>
            <a:off x="4855464" y="621792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2" name="Rectangle 11"/>
          <p:cNvSpPr/>
          <p:nvPr/>
        </p:nvSpPr>
        <p:spPr>
          <a:xfrm>
            <a:off x="5120640" y="585216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617220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안정화·교육</a:t>
            </a:r>
          </a:p>
        </p:txBody>
      </p:sp>
      <p:sp>
        <p:nvSpPr>
          <p:cNvPr id="14" name="TextBox 13"/>
          <p:cNvSpPr txBox="1"/>
          <p:nvPr/>
        </p:nvSpPr>
        <p:spPr>
          <a:xfrm>
            <a:off x="9244584" y="6217920"/>
            <a:ext cx="365760" cy="457200"/>
          </a:xfrm>
          <a:prstGeom prst="rect">
            <a:avLst/>
          </a:prstGeom>
          <a:noFill/>
        </p:spPr>
        <p:txBody>
          <a:bodyPr wrap="square" lIns="0" rIns="0" tIns="0" bIns="0">
            <a:spAutoFit/>
          </a:bodyPr>
          <a:lstStyle/>
          <a:p>
            <a:pPr>
              <a:spcAft>
                <a:spcPts val="1000"/>
              </a:spcAft>
              <a:defRPr sz="2200" b="0">
                <a:solidFill>
                  <a:srgbClr val="48D4DE"/>
                </a:solidFill>
                <a:latin typeface="Noto Sans CJK KR"/>
              </a:defRPr>
            </a:pPr>
            <a:r>
              <a:t>→</a:t>
            </a:r>
          </a:p>
        </p:txBody>
      </p:sp>
      <p:sp>
        <p:nvSpPr>
          <p:cNvPr id="15" name="Rectangle 14"/>
          <p:cNvSpPr/>
          <p:nvPr/>
        </p:nvSpPr>
        <p:spPr>
          <a:xfrm>
            <a:off x="9509760" y="5852160"/>
            <a:ext cx="4160520" cy="1280160"/>
          </a:xfrm>
          <a:prstGeom prst="rect">
            <a:avLst/>
          </a:prstGeom>
          <a:solidFill>
            <a:srgbClr val="1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46920" y="6172200"/>
            <a:ext cx="3886200" cy="822960"/>
          </a:xfrm>
          <a:prstGeom prst="rect">
            <a:avLst/>
          </a:prstGeom>
          <a:noFill/>
        </p:spPr>
        <p:txBody>
          <a:bodyPr wrap="square" lIns="0" rIns="0" tIns="0" bIns="0">
            <a:spAutoFit/>
          </a:bodyPr>
          <a:lstStyle/>
          <a:p>
            <a:pPr>
              <a:spcAft>
                <a:spcPts val="1000"/>
              </a:spcAft>
              <a:defRPr sz="2300" b="1">
                <a:solidFill>
                  <a:srgbClr val="EFF4F8"/>
                </a:solidFill>
                <a:latin typeface="Noto Sans CJK KR"/>
              </a:defRPr>
            </a:pPr>
            <a:r>
              <a:t>사후관리</a:t>
            </a:r>
          </a:p>
        </p:txBody>
      </p:sp>
      <p:sp>
        <p:nvSpPr>
          <p:cNvPr id="17" name="TextBox 16"/>
          <p:cNvSpPr txBox="1"/>
          <p:nvPr/>
        </p:nvSpPr>
        <p:spPr>
          <a:xfrm>
            <a:off x="7315200" y="3108960"/>
            <a:ext cx="6400800" cy="1188720"/>
          </a:xfrm>
          <a:prstGeom prst="rect">
            <a:avLst/>
          </a:prstGeom>
          <a:noFill/>
        </p:spPr>
        <p:txBody>
          <a:bodyPr wrap="square" lIns="0" rIns="0" tIns="0" bIns="0">
            <a:spAutoFit/>
          </a:bodyPr>
          <a:lstStyle/>
          <a:p>
            <a:pPr>
              <a:spcAft>
                <a:spcPts val="1000"/>
              </a:spcAft>
              <a:defRPr sz="3800" b="1">
                <a:solidFill>
                  <a:srgbClr val="EFF4F8"/>
                </a:solidFill>
                <a:latin typeface="Noto Sans CJK KR"/>
              </a:defRPr>
            </a:pPr>
            <a:r>
              <a:t>통합 책임 창구</a:t>
            </a:r>
          </a:p>
        </p:txBody>
      </p:sp>
      <p:pic>
        <p:nvPicPr>
          <p:cNvPr id="19" name="Mastervolt Korea logo" descr="exec-301e7b30-f476-4a9e-81ce-5aa4a653cb7f.png"/>
          <p:cNvPicPr>
            <a:picLocks noChangeAspect="1"/>
          </p:cNvPicPr>
          <p:nvPr/>
        </p:nvPicPr>
        <p:blipFill>
          <a:blip r:embed="rId4"/>
          <a:stretch>
            <a:fillRect/>
          </a:stretch>
        </p:blipFill>
        <p:spPr>
          <a:xfrm>
            <a:off x="9784080" y="45720"/>
            <a:ext cx="4114800" cy="1371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Mastervolt Korea | Visual Presentation V2</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